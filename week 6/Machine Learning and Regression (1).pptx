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1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2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6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314" r:id="rId26"/>
    <p:sldId id="315" r:id="rId27"/>
    <p:sldId id="316" r:id="rId28"/>
    <p:sldId id="326" r:id="rId29"/>
    <p:sldId id="319" r:id="rId30"/>
    <p:sldId id="318" r:id="rId31"/>
    <p:sldId id="320" r:id="rId32"/>
    <p:sldId id="321" r:id="rId33"/>
    <p:sldId id="322" r:id="rId34"/>
    <p:sldId id="323" r:id="rId35"/>
    <p:sldId id="324" r:id="rId36"/>
    <p:sldId id="327" r:id="rId37"/>
    <p:sldId id="325" r:id="rId38"/>
    <p:sldId id="291" r:id="rId39"/>
    <p:sldId id="331" r:id="rId40"/>
    <p:sldId id="332" r:id="rId41"/>
    <p:sldId id="333" r:id="rId42"/>
    <p:sldId id="33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6" r:id="rId54"/>
    <p:sldId id="307" r:id="rId55"/>
    <p:sldId id="308" r:id="rId56"/>
    <p:sldId id="309" r:id="rId57"/>
    <p:sldId id="310" r:id="rId58"/>
    <p:sldId id="311" r:id="rId59"/>
    <p:sldId id="312" r:id="rId60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62"/>
    </p:embeddedFont>
    <p:embeddedFont>
      <p:font typeface="Gill Sans" panose="020B0604020202020204" charset="0"/>
      <p:regular r:id="rId63"/>
      <p:bold r:id="rId64"/>
    </p:embeddedFont>
    <p:embeddedFont>
      <p:font typeface="Gill Sans MT" panose="020B0502020104020203" pitchFamily="34" charset="0"/>
      <p:regular r:id="rId65"/>
      <p:bold r:id="rId66"/>
      <p:italic r:id="rId67"/>
      <p:boldItalic r:id="rId68"/>
    </p:embeddedFont>
    <p:embeddedFont>
      <p:font typeface="Montserrat" panose="02000505000000020004" pitchFamily="2" charset="0"/>
      <p:regular r:id="rId69"/>
      <p:bold r:id="rId70"/>
      <p:italic r:id="rId71"/>
      <p:boldItalic r:id="rId72"/>
    </p:embeddedFont>
    <p:embeddedFont>
      <p:font typeface="Noto Sans" panose="020B0502040504020204" pitchFamily="34" charset="0"/>
      <p:regular r:id="rId73"/>
      <p:bold r:id="rId74"/>
      <p:italic r:id="rId75"/>
      <p:boldItalic r:id="rId76"/>
    </p:embeddedFont>
    <p:embeddedFont>
      <p:font typeface="Trebuchet MS" panose="020B0603020202020204" pitchFamily="34" charset="0"/>
      <p:regular r:id="rId77"/>
      <p:bold r:id="rId78"/>
      <p:italic r:id="rId79"/>
      <p:boldItalic r:id="rId8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9" roundtripDataSignature="AMtx7mhETO75vP78pP+Yw0+nf0Ys4krM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F916E4-D75B-46A1-92C1-0E86CC84C86C}">
  <a:tblStyle styleId="{C6F916E4-D75B-46A1-92C1-0E86CC84C86C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FEB"/>
          </a:solidFill>
        </a:fill>
      </a:tcStyle>
    </a:wholeTbl>
    <a:band1H>
      <a:tcTxStyle b="off" i="off"/>
      <a:tcStyle>
        <a:tcBdr/>
        <a:fill>
          <a:solidFill>
            <a:srgbClr val="CBDDD5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BDDD5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1D9A78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1D9A78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1D9A78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1D9A78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0610D88-5040-46F2-8ACC-16F8A50467E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89" Type="http://customschemas.google.com/relationships/presentationmetadata" Target="meta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13.fntdata"/><Relationship Id="rId79" Type="http://schemas.openxmlformats.org/officeDocument/2006/relationships/font" Target="fonts/font18.fntdata"/><Relationship Id="rId5" Type="http://schemas.openxmlformats.org/officeDocument/2006/relationships/slide" Target="slides/slide3.xml"/><Relationship Id="rId90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77" Type="http://schemas.openxmlformats.org/officeDocument/2006/relationships/font" Target="fonts/font16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11.fntdata"/><Relationship Id="rId80" Type="http://schemas.openxmlformats.org/officeDocument/2006/relationships/font" Target="fonts/font19.fntdata"/><Relationship Id="rId93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6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1.fntdata"/><Relationship Id="rId70" Type="http://schemas.openxmlformats.org/officeDocument/2006/relationships/font" Target="fonts/font9.fntdata"/><Relationship Id="rId75" Type="http://schemas.openxmlformats.org/officeDocument/2006/relationships/font" Target="fonts/font14.fntdata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font" Target="fonts/font4.fntdata"/><Relationship Id="rId73" Type="http://schemas.openxmlformats.org/officeDocument/2006/relationships/font" Target="fonts/font12.fntdata"/><Relationship Id="rId78" Type="http://schemas.openxmlformats.org/officeDocument/2006/relationships/font" Target="fonts/font1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15.fntdata"/><Relationship Id="rId7" Type="http://schemas.openxmlformats.org/officeDocument/2006/relationships/slide" Target="slides/slide5.xml"/><Relationship Id="rId71" Type="http://schemas.openxmlformats.org/officeDocument/2006/relationships/font" Target="fonts/font10.fntdata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font" Target="fonts/font5.fntdata"/><Relationship Id="rId6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900" dirty="0"/>
              <a:t>Batting Average of Player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'New data'!$Y$20</c:f>
              <c:strCache>
                <c:ptCount val="1"/>
                <c:pt idx="0">
                  <c:v>Batting Average of Player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'New data'!$X$21:$X$40</c:f>
              <c:numCache>
                <c:formatCode>General</c:formatCode>
                <c:ptCount val="20"/>
                <c:pt idx="0">
                  <c:v>93</c:v>
                </c:pt>
                <c:pt idx="1">
                  <c:v>99</c:v>
                </c:pt>
                <c:pt idx="2">
                  <c:v>110</c:v>
                </c:pt>
                <c:pt idx="3">
                  <c:v>110</c:v>
                </c:pt>
                <c:pt idx="4">
                  <c:v>111</c:v>
                </c:pt>
                <c:pt idx="5">
                  <c:v>115</c:v>
                </c:pt>
                <c:pt idx="6">
                  <c:v>116</c:v>
                </c:pt>
                <c:pt idx="7">
                  <c:v>117</c:v>
                </c:pt>
                <c:pt idx="8">
                  <c:v>122</c:v>
                </c:pt>
                <c:pt idx="9">
                  <c:v>122</c:v>
                </c:pt>
                <c:pt idx="10">
                  <c:v>123</c:v>
                </c:pt>
                <c:pt idx="11">
                  <c:v>128</c:v>
                </c:pt>
                <c:pt idx="12">
                  <c:v>128</c:v>
                </c:pt>
                <c:pt idx="13">
                  <c:v>129</c:v>
                </c:pt>
                <c:pt idx="14">
                  <c:v>134</c:v>
                </c:pt>
                <c:pt idx="15">
                  <c:v>135</c:v>
                </c:pt>
                <c:pt idx="16">
                  <c:v>135</c:v>
                </c:pt>
                <c:pt idx="17">
                  <c:v>142</c:v>
                </c:pt>
                <c:pt idx="18">
                  <c:v>148</c:v>
                </c:pt>
                <c:pt idx="19">
                  <c:v>155</c:v>
                </c:pt>
              </c:numCache>
            </c:numRef>
          </c:xVal>
          <c:yVal>
            <c:numRef>
              <c:f>'New data'!$Y$21:$Y$40</c:f>
              <c:numCache>
                <c:formatCode>General</c:formatCode>
                <c:ptCount val="20"/>
                <c:pt idx="0">
                  <c:v>57</c:v>
                </c:pt>
                <c:pt idx="1">
                  <c:v>60</c:v>
                </c:pt>
                <c:pt idx="2">
                  <c:v>58</c:v>
                </c:pt>
                <c:pt idx="3">
                  <c:v>62</c:v>
                </c:pt>
                <c:pt idx="4">
                  <c:v>59</c:v>
                </c:pt>
                <c:pt idx="5">
                  <c:v>61</c:v>
                </c:pt>
                <c:pt idx="6">
                  <c:v>61</c:v>
                </c:pt>
                <c:pt idx="7">
                  <c:v>64</c:v>
                </c:pt>
                <c:pt idx="8">
                  <c:v>60</c:v>
                </c:pt>
                <c:pt idx="9">
                  <c:v>62</c:v>
                </c:pt>
                <c:pt idx="10">
                  <c:v>63</c:v>
                </c:pt>
                <c:pt idx="11">
                  <c:v>63</c:v>
                </c:pt>
                <c:pt idx="12">
                  <c:v>66</c:v>
                </c:pt>
                <c:pt idx="13">
                  <c:v>65</c:v>
                </c:pt>
                <c:pt idx="14">
                  <c:v>62</c:v>
                </c:pt>
                <c:pt idx="15">
                  <c:v>64</c:v>
                </c:pt>
                <c:pt idx="16">
                  <c:v>67</c:v>
                </c:pt>
                <c:pt idx="17">
                  <c:v>68</c:v>
                </c:pt>
                <c:pt idx="18">
                  <c:v>66</c:v>
                </c:pt>
                <c:pt idx="19">
                  <c:v>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A01-4AFF-BA4F-AF182EF810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0241568"/>
        <c:axId val="363677984"/>
      </c:scatterChart>
      <c:valAx>
        <c:axId val="180241568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677984"/>
        <c:crosses val="autoZero"/>
        <c:crossBetween val="midCat"/>
      </c:valAx>
      <c:valAx>
        <c:axId val="363677984"/>
        <c:scaling>
          <c:orientation val="minMax"/>
          <c:min val="4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415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900" dirty="0"/>
              <a:t>Batting Average of Player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'New data'!$Y$20</c:f>
              <c:strCache>
                <c:ptCount val="1"/>
                <c:pt idx="0">
                  <c:v>Batting Average of Player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'New data'!$X$21:$X$40</c:f>
              <c:numCache>
                <c:formatCode>General</c:formatCode>
                <c:ptCount val="20"/>
                <c:pt idx="0">
                  <c:v>93</c:v>
                </c:pt>
                <c:pt idx="1">
                  <c:v>99</c:v>
                </c:pt>
                <c:pt idx="2">
                  <c:v>110</c:v>
                </c:pt>
                <c:pt idx="3">
                  <c:v>110</c:v>
                </c:pt>
                <c:pt idx="4">
                  <c:v>111</c:v>
                </c:pt>
                <c:pt idx="5">
                  <c:v>115</c:v>
                </c:pt>
                <c:pt idx="6">
                  <c:v>116</c:v>
                </c:pt>
                <c:pt idx="7">
                  <c:v>117</c:v>
                </c:pt>
                <c:pt idx="8">
                  <c:v>122</c:v>
                </c:pt>
                <c:pt idx="9">
                  <c:v>122</c:v>
                </c:pt>
                <c:pt idx="10">
                  <c:v>123</c:v>
                </c:pt>
                <c:pt idx="11">
                  <c:v>128</c:v>
                </c:pt>
                <c:pt idx="12">
                  <c:v>128</c:v>
                </c:pt>
                <c:pt idx="13">
                  <c:v>129</c:v>
                </c:pt>
                <c:pt idx="14">
                  <c:v>134</c:v>
                </c:pt>
                <c:pt idx="15">
                  <c:v>135</c:v>
                </c:pt>
                <c:pt idx="16">
                  <c:v>135</c:v>
                </c:pt>
                <c:pt idx="17">
                  <c:v>142</c:v>
                </c:pt>
                <c:pt idx="18">
                  <c:v>148</c:v>
                </c:pt>
                <c:pt idx="19">
                  <c:v>155</c:v>
                </c:pt>
              </c:numCache>
            </c:numRef>
          </c:xVal>
          <c:yVal>
            <c:numRef>
              <c:f>'New data'!$Y$21:$Y$40</c:f>
              <c:numCache>
                <c:formatCode>General</c:formatCode>
                <c:ptCount val="20"/>
                <c:pt idx="0">
                  <c:v>57</c:v>
                </c:pt>
                <c:pt idx="1">
                  <c:v>60</c:v>
                </c:pt>
                <c:pt idx="2">
                  <c:v>58</c:v>
                </c:pt>
                <c:pt idx="3">
                  <c:v>62</c:v>
                </c:pt>
                <c:pt idx="4">
                  <c:v>59</c:v>
                </c:pt>
                <c:pt idx="5">
                  <c:v>61</c:v>
                </c:pt>
                <c:pt idx="6">
                  <c:v>61</c:v>
                </c:pt>
                <c:pt idx="7">
                  <c:v>64</c:v>
                </c:pt>
                <c:pt idx="8">
                  <c:v>60</c:v>
                </c:pt>
                <c:pt idx="9">
                  <c:v>62</c:v>
                </c:pt>
                <c:pt idx="10">
                  <c:v>63</c:v>
                </c:pt>
                <c:pt idx="11">
                  <c:v>63</c:v>
                </c:pt>
                <c:pt idx="12">
                  <c:v>66</c:v>
                </c:pt>
                <c:pt idx="13">
                  <c:v>65</c:v>
                </c:pt>
                <c:pt idx="14">
                  <c:v>62</c:v>
                </c:pt>
                <c:pt idx="15">
                  <c:v>64</c:v>
                </c:pt>
                <c:pt idx="16">
                  <c:v>67</c:v>
                </c:pt>
                <c:pt idx="17">
                  <c:v>68</c:v>
                </c:pt>
                <c:pt idx="18">
                  <c:v>66</c:v>
                </c:pt>
                <c:pt idx="19">
                  <c:v>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784-40D7-A313-7382E63A65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0241568"/>
        <c:axId val="363677984"/>
      </c:scatterChart>
      <c:valAx>
        <c:axId val="180241568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677984"/>
        <c:crosses val="autoZero"/>
        <c:crossBetween val="midCat"/>
      </c:valAx>
      <c:valAx>
        <c:axId val="363677984"/>
        <c:scaling>
          <c:orientation val="minMax"/>
          <c:min val="4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415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900" dirty="0"/>
              <a:t>Batting Average of Player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'New data'!$Y$20</c:f>
              <c:strCache>
                <c:ptCount val="1"/>
                <c:pt idx="0">
                  <c:v>Batting Average of Player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'New data'!$X$21:$X$40</c:f>
              <c:numCache>
                <c:formatCode>General</c:formatCode>
                <c:ptCount val="20"/>
                <c:pt idx="0">
                  <c:v>93</c:v>
                </c:pt>
                <c:pt idx="1">
                  <c:v>99</c:v>
                </c:pt>
                <c:pt idx="2">
                  <c:v>110</c:v>
                </c:pt>
                <c:pt idx="3">
                  <c:v>110</c:v>
                </c:pt>
                <c:pt idx="4">
                  <c:v>111</c:v>
                </c:pt>
                <c:pt idx="5">
                  <c:v>115</c:v>
                </c:pt>
                <c:pt idx="6">
                  <c:v>116</c:v>
                </c:pt>
                <c:pt idx="7">
                  <c:v>117</c:v>
                </c:pt>
                <c:pt idx="8">
                  <c:v>122</c:v>
                </c:pt>
                <c:pt idx="9">
                  <c:v>122</c:v>
                </c:pt>
                <c:pt idx="10">
                  <c:v>123</c:v>
                </c:pt>
                <c:pt idx="11">
                  <c:v>128</c:v>
                </c:pt>
                <c:pt idx="12">
                  <c:v>128</c:v>
                </c:pt>
                <c:pt idx="13">
                  <c:v>129</c:v>
                </c:pt>
                <c:pt idx="14">
                  <c:v>134</c:v>
                </c:pt>
                <c:pt idx="15">
                  <c:v>135</c:v>
                </c:pt>
                <c:pt idx="16">
                  <c:v>135</c:v>
                </c:pt>
                <c:pt idx="17">
                  <c:v>142</c:v>
                </c:pt>
                <c:pt idx="18">
                  <c:v>148</c:v>
                </c:pt>
                <c:pt idx="19">
                  <c:v>155</c:v>
                </c:pt>
              </c:numCache>
            </c:numRef>
          </c:xVal>
          <c:yVal>
            <c:numRef>
              <c:f>'New data'!$Y$21:$Y$40</c:f>
              <c:numCache>
                <c:formatCode>General</c:formatCode>
                <c:ptCount val="20"/>
                <c:pt idx="0">
                  <c:v>57</c:v>
                </c:pt>
                <c:pt idx="1">
                  <c:v>60</c:v>
                </c:pt>
                <c:pt idx="2">
                  <c:v>58</c:v>
                </c:pt>
                <c:pt idx="3">
                  <c:v>62</c:v>
                </c:pt>
                <c:pt idx="4">
                  <c:v>59</c:v>
                </c:pt>
                <c:pt idx="5">
                  <c:v>61</c:v>
                </c:pt>
                <c:pt idx="6">
                  <c:v>61</c:v>
                </c:pt>
                <c:pt idx="7">
                  <c:v>64</c:v>
                </c:pt>
                <c:pt idx="8">
                  <c:v>60</c:v>
                </c:pt>
                <c:pt idx="9">
                  <c:v>62</c:v>
                </c:pt>
                <c:pt idx="10">
                  <c:v>63</c:v>
                </c:pt>
                <c:pt idx="11">
                  <c:v>63</c:v>
                </c:pt>
                <c:pt idx="12">
                  <c:v>66</c:v>
                </c:pt>
                <c:pt idx="13">
                  <c:v>65</c:v>
                </c:pt>
                <c:pt idx="14">
                  <c:v>62</c:v>
                </c:pt>
                <c:pt idx="15">
                  <c:v>64</c:v>
                </c:pt>
                <c:pt idx="16">
                  <c:v>67</c:v>
                </c:pt>
                <c:pt idx="17">
                  <c:v>68</c:v>
                </c:pt>
                <c:pt idx="18">
                  <c:v>66</c:v>
                </c:pt>
                <c:pt idx="19">
                  <c:v>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756-47EB-BA5A-99615F7A0F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0241568"/>
        <c:axId val="363677984"/>
      </c:scatterChart>
      <c:valAx>
        <c:axId val="180241568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677984"/>
        <c:crosses val="autoZero"/>
        <c:crossBetween val="midCat"/>
      </c:valAx>
      <c:valAx>
        <c:axId val="363677984"/>
        <c:scaling>
          <c:orientation val="minMax"/>
          <c:min val="4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415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900" dirty="0"/>
              <a:t>Batting Average of Player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'New data'!$Y$20</c:f>
              <c:strCache>
                <c:ptCount val="1"/>
                <c:pt idx="0">
                  <c:v>Batting Average of Player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'New data'!$X$21:$X$40</c:f>
              <c:numCache>
                <c:formatCode>General</c:formatCode>
                <c:ptCount val="20"/>
                <c:pt idx="0">
                  <c:v>93</c:v>
                </c:pt>
                <c:pt idx="1">
                  <c:v>99</c:v>
                </c:pt>
                <c:pt idx="2">
                  <c:v>110</c:v>
                </c:pt>
                <c:pt idx="3">
                  <c:v>110</c:v>
                </c:pt>
                <c:pt idx="4">
                  <c:v>111</c:v>
                </c:pt>
                <c:pt idx="5">
                  <c:v>115</c:v>
                </c:pt>
                <c:pt idx="6">
                  <c:v>116</c:v>
                </c:pt>
                <c:pt idx="7">
                  <c:v>117</c:v>
                </c:pt>
                <c:pt idx="8">
                  <c:v>122</c:v>
                </c:pt>
                <c:pt idx="9">
                  <c:v>122</c:v>
                </c:pt>
                <c:pt idx="10">
                  <c:v>123</c:v>
                </c:pt>
                <c:pt idx="11">
                  <c:v>128</c:v>
                </c:pt>
                <c:pt idx="12">
                  <c:v>128</c:v>
                </c:pt>
                <c:pt idx="13">
                  <c:v>129</c:v>
                </c:pt>
                <c:pt idx="14">
                  <c:v>134</c:v>
                </c:pt>
                <c:pt idx="15">
                  <c:v>135</c:v>
                </c:pt>
                <c:pt idx="16">
                  <c:v>135</c:v>
                </c:pt>
                <c:pt idx="17">
                  <c:v>142</c:v>
                </c:pt>
                <c:pt idx="18">
                  <c:v>148</c:v>
                </c:pt>
                <c:pt idx="19">
                  <c:v>155</c:v>
                </c:pt>
              </c:numCache>
            </c:numRef>
          </c:xVal>
          <c:yVal>
            <c:numRef>
              <c:f>'New data'!$Y$21:$Y$40</c:f>
              <c:numCache>
                <c:formatCode>General</c:formatCode>
                <c:ptCount val="20"/>
                <c:pt idx="0">
                  <c:v>57</c:v>
                </c:pt>
                <c:pt idx="1">
                  <c:v>60</c:v>
                </c:pt>
                <c:pt idx="2">
                  <c:v>58</c:v>
                </c:pt>
                <c:pt idx="3">
                  <c:v>62</c:v>
                </c:pt>
                <c:pt idx="4">
                  <c:v>59</c:v>
                </c:pt>
                <c:pt idx="5">
                  <c:v>61</c:v>
                </c:pt>
                <c:pt idx="6">
                  <c:v>61</c:v>
                </c:pt>
                <c:pt idx="7">
                  <c:v>64</c:v>
                </c:pt>
                <c:pt idx="8">
                  <c:v>60</c:v>
                </c:pt>
                <c:pt idx="9">
                  <c:v>62</c:v>
                </c:pt>
                <c:pt idx="10">
                  <c:v>63</c:v>
                </c:pt>
                <c:pt idx="11">
                  <c:v>63</c:v>
                </c:pt>
                <c:pt idx="12">
                  <c:v>66</c:v>
                </c:pt>
                <c:pt idx="13">
                  <c:v>65</c:v>
                </c:pt>
                <c:pt idx="14">
                  <c:v>62</c:v>
                </c:pt>
                <c:pt idx="15">
                  <c:v>64</c:v>
                </c:pt>
                <c:pt idx="16">
                  <c:v>67</c:v>
                </c:pt>
                <c:pt idx="17">
                  <c:v>68</c:v>
                </c:pt>
                <c:pt idx="18">
                  <c:v>66</c:v>
                </c:pt>
                <c:pt idx="19">
                  <c:v>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74C-4898-B567-294DA73908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0241568"/>
        <c:axId val="363677984"/>
      </c:scatterChart>
      <c:valAx>
        <c:axId val="180241568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677984"/>
        <c:crosses val="autoZero"/>
        <c:crossBetween val="midCat"/>
      </c:valAx>
      <c:valAx>
        <c:axId val="363677984"/>
        <c:scaling>
          <c:orientation val="minMax"/>
          <c:min val="4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415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900" dirty="0"/>
              <a:t>Batting Average of Player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'New data'!$Y$20</c:f>
              <c:strCache>
                <c:ptCount val="1"/>
                <c:pt idx="0">
                  <c:v>Batting Average of Player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'New data'!$X$21:$X$40</c:f>
              <c:numCache>
                <c:formatCode>General</c:formatCode>
                <c:ptCount val="20"/>
                <c:pt idx="0">
                  <c:v>93</c:v>
                </c:pt>
                <c:pt idx="1">
                  <c:v>99</c:v>
                </c:pt>
                <c:pt idx="2">
                  <c:v>110</c:v>
                </c:pt>
                <c:pt idx="3">
                  <c:v>110</c:v>
                </c:pt>
                <c:pt idx="4">
                  <c:v>111</c:v>
                </c:pt>
                <c:pt idx="5">
                  <c:v>115</c:v>
                </c:pt>
                <c:pt idx="6">
                  <c:v>116</c:v>
                </c:pt>
                <c:pt idx="7">
                  <c:v>117</c:v>
                </c:pt>
                <c:pt idx="8">
                  <c:v>122</c:v>
                </c:pt>
                <c:pt idx="9">
                  <c:v>122</c:v>
                </c:pt>
                <c:pt idx="10">
                  <c:v>123</c:v>
                </c:pt>
                <c:pt idx="11">
                  <c:v>128</c:v>
                </c:pt>
                <c:pt idx="12">
                  <c:v>128</c:v>
                </c:pt>
                <c:pt idx="13">
                  <c:v>129</c:v>
                </c:pt>
                <c:pt idx="14">
                  <c:v>134</c:v>
                </c:pt>
                <c:pt idx="15">
                  <c:v>135</c:v>
                </c:pt>
                <c:pt idx="16">
                  <c:v>135</c:v>
                </c:pt>
                <c:pt idx="17">
                  <c:v>142</c:v>
                </c:pt>
                <c:pt idx="18">
                  <c:v>148</c:v>
                </c:pt>
                <c:pt idx="19">
                  <c:v>155</c:v>
                </c:pt>
              </c:numCache>
            </c:numRef>
          </c:xVal>
          <c:yVal>
            <c:numRef>
              <c:f>'New data'!$Y$21:$Y$40</c:f>
              <c:numCache>
                <c:formatCode>General</c:formatCode>
                <c:ptCount val="20"/>
                <c:pt idx="0">
                  <c:v>57</c:v>
                </c:pt>
                <c:pt idx="1">
                  <c:v>60</c:v>
                </c:pt>
                <c:pt idx="2">
                  <c:v>58</c:v>
                </c:pt>
                <c:pt idx="3">
                  <c:v>62</c:v>
                </c:pt>
                <c:pt idx="4">
                  <c:v>59</c:v>
                </c:pt>
                <c:pt idx="5">
                  <c:v>61</c:v>
                </c:pt>
                <c:pt idx="6">
                  <c:v>61</c:v>
                </c:pt>
                <c:pt idx="7">
                  <c:v>64</c:v>
                </c:pt>
                <c:pt idx="8">
                  <c:v>60</c:v>
                </c:pt>
                <c:pt idx="9">
                  <c:v>62</c:v>
                </c:pt>
                <c:pt idx="10">
                  <c:v>63</c:v>
                </c:pt>
                <c:pt idx="11">
                  <c:v>63</c:v>
                </c:pt>
                <c:pt idx="12">
                  <c:v>66</c:v>
                </c:pt>
                <c:pt idx="13">
                  <c:v>65</c:v>
                </c:pt>
                <c:pt idx="14">
                  <c:v>62</c:v>
                </c:pt>
                <c:pt idx="15">
                  <c:v>64</c:v>
                </c:pt>
                <c:pt idx="16">
                  <c:v>67</c:v>
                </c:pt>
                <c:pt idx="17">
                  <c:v>68</c:v>
                </c:pt>
                <c:pt idx="18">
                  <c:v>66</c:v>
                </c:pt>
                <c:pt idx="19">
                  <c:v>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2B4-451A-8625-15AB8C4E20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0241568"/>
        <c:axId val="363677984"/>
      </c:scatterChart>
      <c:valAx>
        <c:axId val="180241568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677984"/>
        <c:crosses val="autoZero"/>
        <c:crossBetween val="midCat"/>
      </c:valAx>
      <c:valAx>
        <c:axId val="363677984"/>
        <c:scaling>
          <c:orientation val="minMax"/>
          <c:min val="4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415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900" dirty="0"/>
              <a:t>Batting Average of Player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'New data'!$Y$20</c:f>
              <c:strCache>
                <c:ptCount val="1"/>
                <c:pt idx="0">
                  <c:v>Batting Average of Player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'New data'!$X$21:$X$40</c:f>
              <c:numCache>
                <c:formatCode>General</c:formatCode>
                <c:ptCount val="20"/>
                <c:pt idx="0">
                  <c:v>93</c:v>
                </c:pt>
                <c:pt idx="1">
                  <c:v>99</c:v>
                </c:pt>
                <c:pt idx="2">
                  <c:v>110</c:v>
                </c:pt>
                <c:pt idx="3">
                  <c:v>110</c:v>
                </c:pt>
                <c:pt idx="4">
                  <c:v>111</c:v>
                </c:pt>
                <c:pt idx="5">
                  <c:v>115</c:v>
                </c:pt>
                <c:pt idx="6">
                  <c:v>116</c:v>
                </c:pt>
                <c:pt idx="7">
                  <c:v>117</c:v>
                </c:pt>
                <c:pt idx="8">
                  <c:v>122</c:v>
                </c:pt>
                <c:pt idx="9">
                  <c:v>122</c:v>
                </c:pt>
                <c:pt idx="10">
                  <c:v>123</c:v>
                </c:pt>
                <c:pt idx="11">
                  <c:v>128</c:v>
                </c:pt>
                <c:pt idx="12">
                  <c:v>128</c:v>
                </c:pt>
                <c:pt idx="13">
                  <c:v>129</c:v>
                </c:pt>
                <c:pt idx="14">
                  <c:v>134</c:v>
                </c:pt>
                <c:pt idx="15">
                  <c:v>135</c:v>
                </c:pt>
                <c:pt idx="16">
                  <c:v>135</c:v>
                </c:pt>
                <c:pt idx="17">
                  <c:v>142</c:v>
                </c:pt>
                <c:pt idx="18">
                  <c:v>148</c:v>
                </c:pt>
                <c:pt idx="19">
                  <c:v>155</c:v>
                </c:pt>
              </c:numCache>
            </c:numRef>
          </c:xVal>
          <c:yVal>
            <c:numRef>
              <c:f>'New data'!$Y$21:$Y$40</c:f>
              <c:numCache>
                <c:formatCode>General</c:formatCode>
                <c:ptCount val="20"/>
                <c:pt idx="0">
                  <c:v>57</c:v>
                </c:pt>
                <c:pt idx="1">
                  <c:v>60</c:v>
                </c:pt>
                <c:pt idx="2">
                  <c:v>58</c:v>
                </c:pt>
                <c:pt idx="3">
                  <c:v>62</c:v>
                </c:pt>
                <c:pt idx="4">
                  <c:v>59</c:v>
                </c:pt>
                <c:pt idx="5">
                  <c:v>61</c:v>
                </c:pt>
                <c:pt idx="6">
                  <c:v>61</c:v>
                </c:pt>
                <c:pt idx="7">
                  <c:v>64</c:v>
                </c:pt>
                <c:pt idx="8">
                  <c:v>60</c:v>
                </c:pt>
                <c:pt idx="9">
                  <c:v>62</c:v>
                </c:pt>
                <c:pt idx="10">
                  <c:v>63</c:v>
                </c:pt>
                <c:pt idx="11">
                  <c:v>63</c:v>
                </c:pt>
                <c:pt idx="12">
                  <c:v>66</c:v>
                </c:pt>
                <c:pt idx="13">
                  <c:v>65</c:v>
                </c:pt>
                <c:pt idx="14">
                  <c:v>62</c:v>
                </c:pt>
                <c:pt idx="15">
                  <c:v>64</c:v>
                </c:pt>
                <c:pt idx="16">
                  <c:v>67</c:v>
                </c:pt>
                <c:pt idx="17">
                  <c:v>68</c:v>
                </c:pt>
                <c:pt idx="18">
                  <c:v>66</c:v>
                </c:pt>
                <c:pt idx="19">
                  <c:v>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806-41EF-9DBC-F3B83686BE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0241568"/>
        <c:axId val="363677984"/>
      </c:scatterChart>
      <c:valAx>
        <c:axId val="180241568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677984"/>
        <c:crosses val="autoZero"/>
        <c:crossBetween val="midCat"/>
      </c:valAx>
      <c:valAx>
        <c:axId val="363677984"/>
        <c:scaling>
          <c:orientation val="minMax"/>
          <c:min val="4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415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900" dirty="0"/>
              <a:t>Batting Average of Player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'New data'!$Y$20</c:f>
              <c:strCache>
                <c:ptCount val="1"/>
                <c:pt idx="0">
                  <c:v>Batting Average of Player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'New data'!$X$21:$X$40</c:f>
              <c:numCache>
                <c:formatCode>General</c:formatCode>
                <c:ptCount val="20"/>
                <c:pt idx="0">
                  <c:v>93</c:v>
                </c:pt>
                <c:pt idx="1">
                  <c:v>99</c:v>
                </c:pt>
                <c:pt idx="2">
                  <c:v>110</c:v>
                </c:pt>
                <c:pt idx="3">
                  <c:v>110</c:v>
                </c:pt>
                <c:pt idx="4">
                  <c:v>111</c:v>
                </c:pt>
                <c:pt idx="5">
                  <c:v>115</c:v>
                </c:pt>
                <c:pt idx="6">
                  <c:v>116</c:v>
                </c:pt>
                <c:pt idx="7">
                  <c:v>117</c:v>
                </c:pt>
                <c:pt idx="8">
                  <c:v>122</c:v>
                </c:pt>
                <c:pt idx="9">
                  <c:v>122</c:v>
                </c:pt>
                <c:pt idx="10">
                  <c:v>123</c:v>
                </c:pt>
                <c:pt idx="11">
                  <c:v>128</c:v>
                </c:pt>
                <c:pt idx="12">
                  <c:v>128</c:v>
                </c:pt>
                <c:pt idx="13">
                  <c:v>129</c:v>
                </c:pt>
                <c:pt idx="14">
                  <c:v>134</c:v>
                </c:pt>
                <c:pt idx="15">
                  <c:v>135</c:v>
                </c:pt>
                <c:pt idx="16">
                  <c:v>135</c:v>
                </c:pt>
                <c:pt idx="17">
                  <c:v>142</c:v>
                </c:pt>
                <c:pt idx="18">
                  <c:v>148</c:v>
                </c:pt>
                <c:pt idx="19">
                  <c:v>155</c:v>
                </c:pt>
              </c:numCache>
            </c:numRef>
          </c:xVal>
          <c:yVal>
            <c:numRef>
              <c:f>'New data'!$Y$21:$Y$40</c:f>
              <c:numCache>
                <c:formatCode>General</c:formatCode>
                <c:ptCount val="20"/>
                <c:pt idx="0">
                  <c:v>57</c:v>
                </c:pt>
                <c:pt idx="1">
                  <c:v>60</c:v>
                </c:pt>
                <c:pt idx="2">
                  <c:v>58</c:v>
                </c:pt>
                <c:pt idx="3">
                  <c:v>62</c:v>
                </c:pt>
                <c:pt idx="4">
                  <c:v>59</c:v>
                </c:pt>
                <c:pt idx="5">
                  <c:v>61</c:v>
                </c:pt>
                <c:pt idx="6">
                  <c:v>61</c:v>
                </c:pt>
                <c:pt idx="7">
                  <c:v>64</c:v>
                </c:pt>
                <c:pt idx="8">
                  <c:v>60</c:v>
                </c:pt>
                <c:pt idx="9">
                  <c:v>62</c:v>
                </c:pt>
                <c:pt idx="10">
                  <c:v>63</c:v>
                </c:pt>
                <c:pt idx="11">
                  <c:v>63</c:v>
                </c:pt>
                <c:pt idx="12">
                  <c:v>66</c:v>
                </c:pt>
                <c:pt idx="13">
                  <c:v>65</c:v>
                </c:pt>
                <c:pt idx="14">
                  <c:v>62</c:v>
                </c:pt>
                <c:pt idx="15">
                  <c:v>64</c:v>
                </c:pt>
                <c:pt idx="16">
                  <c:v>67</c:v>
                </c:pt>
                <c:pt idx="17">
                  <c:v>68</c:v>
                </c:pt>
                <c:pt idx="18">
                  <c:v>66</c:v>
                </c:pt>
                <c:pt idx="19">
                  <c:v>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8F8-432E-8FB9-1381C9182A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0241568"/>
        <c:axId val="363677984"/>
      </c:scatterChart>
      <c:valAx>
        <c:axId val="180241568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677984"/>
        <c:crosses val="autoZero"/>
        <c:crossBetween val="midCat"/>
      </c:valAx>
      <c:valAx>
        <c:axId val="363677984"/>
        <c:scaling>
          <c:orientation val="minMax"/>
          <c:min val="4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415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:notes"/>
          <p:cNvSpPr txBox="1">
            <a:spLocks noGrp="1"/>
          </p:cNvSpPr>
          <p:nvPr>
            <p:ph type="body" idx="1"/>
          </p:nvPr>
        </p:nvSpPr>
        <p:spPr>
          <a:xfrm>
            <a:off x="710407" y="4925408"/>
            <a:ext cx="56832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:notes"/>
          <p:cNvSpPr txBox="1">
            <a:spLocks noGrp="1"/>
          </p:cNvSpPr>
          <p:nvPr>
            <p:ph type="sldNum" idx="12"/>
          </p:nvPr>
        </p:nvSpPr>
        <p:spPr>
          <a:xfrm>
            <a:off x="4023992" y="9721106"/>
            <a:ext cx="30783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0" name="Google Shape;29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6" name="Google Shape;2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2" name="Google Shape;3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4" name="Google Shape;31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0" name="Google Shape;32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6" name="Google Shape;32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1" name="Google Shape;36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7" name="Google Shape;36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9" name="Google Shape;37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5" name="Google Shape;38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58040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1" name="Google Shape;39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34009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9" name="Google Shape;39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571514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9" name="Google Shape;39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76087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7" name="Google Shape;42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619874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6" name="Google Shape;41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17242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3" name="Google Shape;43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208684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3" name="Google Shape;45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084443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1" name="Google Shape;46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78429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32109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4" name="Google Shape;48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75480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1" name="Google Shape;49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0524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7" name="Google Shape;49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3" name="Google Shape;50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7" name="Google Shape;51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7" name="Google Shape;51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11416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7" name="Google Shape;51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928042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5" name="Google Shape;52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1" name="Google Shape;53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7" name="Google Shape;53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4" name="Google Shape;54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5" name="Google Shape;55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1" name="Google Shape;56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7" name="Google Shape;56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9" name="Google Shape;58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5" name="Google Shape;595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1" name="Google Shape;60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13" name="Google Shape;613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19" name="Google Shape;61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5" name="Google Shape;62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3" name="Google Shape;663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6" name="Google Shape;686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3" name="Google Shape;693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8:notes"/>
          <p:cNvSpPr txBox="1">
            <a:spLocks noGrp="1"/>
          </p:cNvSpPr>
          <p:nvPr>
            <p:ph type="body" idx="1"/>
          </p:nvPr>
        </p:nvSpPr>
        <p:spPr>
          <a:xfrm>
            <a:off x="710407" y="4925408"/>
            <a:ext cx="56832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710" name="Google Shape;710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9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6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6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7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7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7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7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2"/>
          <p:cNvSpPr txBox="1">
            <a:spLocks noGrp="1"/>
          </p:cNvSpPr>
          <p:nvPr>
            <p:ph type="title"/>
          </p:nvPr>
        </p:nvSpPr>
        <p:spPr>
          <a:xfrm>
            <a:off x="195945" y="6824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2"/>
          <p:cNvSpPr txBox="1">
            <a:spLocks noGrp="1"/>
          </p:cNvSpPr>
          <p:nvPr>
            <p:ph type="body" idx="1"/>
          </p:nvPr>
        </p:nvSpPr>
        <p:spPr>
          <a:xfrm>
            <a:off x="628650" y="1189775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857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2">
  <p:cSld name="OBJECT_3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6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6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3">
  <p:cSld name="OBJECT_4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6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6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6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x">
  <p:cSld name="TITLE_AND_BOD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 type="obj">
  <p:cSld name="OBJEC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6"/>
          <p:cNvSpPr txBox="1">
            <a:spLocks noGrp="1"/>
          </p:cNvSpPr>
          <p:nvPr>
            <p:ph type="title"/>
          </p:nvPr>
        </p:nvSpPr>
        <p:spPr>
          <a:xfrm>
            <a:off x="59054" y="34861"/>
            <a:ext cx="90258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200" b="0" i="0">
                <a:solidFill>
                  <a:srgbClr val="0A529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76"/>
          <p:cNvSpPr txBox="1">
            <a:spLocks noGrp="1"/>
          </p:cNvSpPr>
          <p:nvPr>
            <p:ph type="ftr" idx="11"/>
          </p:nvPr>
        </p:nvSpPr>
        <p:spPr>
          <a:xfrm>
            <a:off x="1097566" y="4866824"/>
            <a:ext cx="733500" cy="1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1" i="0" u="none" strike="noStrike" cap="none">
                <a:solidFill>
                  <a:srgbClr val="222C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7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76"/>
          <p:cNvSpPr txBox="1">
            <a:spLocks noGrp="1"/>
          </p:cNvSpPr>
          <p:nvPr>
            <p:ph type="sldNum" idx="12"/>
          </p:nvPr>
        </p:nvSpPr>
        <p:spPr>
          <a:xfrm>
            <a:off x="8500491" y="4839858"/>
            <a:ext cx="180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C4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254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C46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25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C46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254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C46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54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C46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54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C46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25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C46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25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C46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254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C46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7"/>
          <p:cNvSpPr txBox="1">
            <a:spLocks noGrp="1"/>
          </p:cNvSpPr>
          <p:nvPr>
            <p:ph type="ftr" idx="11"/>
          </p:nvPr>
        </p:nvSpPr>
        <p:spPr>
          <a:xfrm>
            <a:off x="1097566" y="4866824"/>
            <a:ext cx="733500" cy="1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1" i="0" u="none" strike="noStrike" cap="none">
                <a:solidFill>
                  <a:srgbClr val="222C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77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77"/>
          <p:cNvSpPr txBox="1">
            <a:spLocks noGrp="1"/>
          </p:cNvSpPr>
          <p:nvPr>
            <p:ph type="sldNum" idx="12"/>
          </p:nvPr>
        </p:nvSpPr>
        <p:spPr>
          <a:xfrm>
            <a:off x="8500491" y="4839858"/>
            <a:ext cx="180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C4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254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C46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25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C46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254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C46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54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C46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54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C46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25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C46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25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C46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254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C46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OBJECT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7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7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7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7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1">
  <p:cSld name="OBJECT_2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7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7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7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7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16428" y="1735490"/>
            <a:ext cx="6643356" cy="125995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80"/>
          <p:cNvSpPr txBox="1">
            <a:spLocks noGrp="1"/>
          </p:cNvSpPr>
          <p:nvPr>
            <p:ph type="ctrTitle"/>
          </p:nvPr>
        </p:nvSpPr>
        <p:spPr>
          <a:xfrm>
            <a:off x="1728749" y="2028944"/>
            <a:ext cx="60186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Gill Sans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1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500"/>
              <a:buFont typeface="Gill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81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3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2"/>
          <p:cNvSpPr txBox="1">
            <a:spLocks noGrp="1"/>
          </p:cNvSpPr>
          <p:nvPr>
            <p:ph type="title"/>
          </p:nvPr>
        </p:nvSpPr>
        <p:spPr>
          <a:xfrm>
            <a:off x="195945" y="6824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857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82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857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3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3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8" name="Google Shape;108;p83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857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83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3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0" name="Google Shape;110;p83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857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83"/>
          <p:cNvSpPr txBox="1">
            <a:spLocks noGrp="1"/>
          </p:cNvSpPr>
          <p:nvPr>
            <p:ph type="title"/>
          </p:nvPr>
        </p:nvSpPr>
        <p:spPr>
          <a:xfrm>
            <a:off x="195945" y="6824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4"/>
          <p:cNvSpPr txBox="1">
            <a:spLocks noGrp="1"/>
          </p:cNvSpPr>
          <p:nvPr>
            <p:ph type="title"/>
          </p:nvPr>
        </p:nvSpPr>
        <p:spPr>
          <a:xfrm>
            <a:off x="195945" y="6824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400"/>
              <a:buFont typeface="Gill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86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⚫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◦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8" name="Google Shape;118;p86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400"/>
              <a:buFont typeface="Gill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87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87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8"/>
          <p:cNvSpPr txBox="1">
            <a:spLocks noGrp="1"/>
          </p:cNvSpPr>
          <p:nvPr>
            <p:ph type="title"/>
          </p:nvPr>
        </p:nvSpPr>
        <p:spPr>
          <a:xfrm>
            <a:off x="195945" y="6824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88"/>
          <p:cNvSpPr txBox="1">
            <a:spLocks noGrp="1"/>
          </p:cNvSpPr>
          <p:nvPr>
            <p:ph type="body" idx="1"/>
          </p:nvPr>
        </p:nvSpPr>
        <p:spPr>
          <a:xfrm rot="5400000">
            <a:off x="2507595" y="-1239440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857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9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89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857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0"/>
          <p:cNvSpPr txBox="1">
            <a:spLocks noGrp="1"/>
          </p:cNvSpPr>
          <p:nvPr>
            <p:ph type="title"/>
          </p:nvPr>
        </p:nvSpPr>
        <p:spPr>
          <a:xfrm>
            <a:off x="226208" y="10239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100"/>
              <a:buFont typeface="Gill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9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1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1"/>
          <p:cNvSpPr txBox="1">
            <a:spLocks noGrp="1"/>
          </p:cNvSpPr>
          <p:nvPr>
            <p:ph type="title"/>
          </p:nvPr>
        </p:nvSpPr>
        <p:spPr>
          <a:xfrm>
            <a:off x="195945" y="6824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  <a:defRPr sz="3300" b="0" i="0" u="none" strike="noStrike" cap="none">
                <a:solidFill>
                  <a:srgbClr val="0B53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61"/>
          <p:cNvSpPr txBox="1">
            <a:spLocks noGrp="1"/>
          </p:cNvSpPr>
          <p:nvPr>
            <p:ph type="body" idx="1"/>
          </p:nvPr>
        </p:nvSpPr>
        <p:spPr>
          <a:xfrm>
            <a:off x="195945" y="107221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365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891A7"/>
              </a:buClr>
              <a:buSzPts val="1700"/>
              <a:buFont typeface="Noto Sans"/>
              <a:buChar char="⚫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891A7"/>
              </a:buClr>
              <a:buSzPts val="2100"/>
              <a:buFont typeface="Verdana"/>
              <a:buChar char="◦"/>
              <a:defRPr sz="2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030A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030A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3" name="Google Shape;53;p61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840850" y="-1"/>
            <a:ext cx="1237231" cy="77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1"/>
          <p:cNvSpPr txBox="1"/>
          <p:nvPr/>
        </p:nvSpPr>
        <p:spPr>
          <a:xfrm>
            <a:off x="1038497" y="4833357"/>
            <a:ext cx="1499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47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232D47"/>
                </a:solidFill>
                <a:latin typeface="Arial"/>
                <a:ea typeface="Arial"/>
                <a:cs typeface="Arial"/>
                <a:sym typeface="Arial"/>
              </a:rPr>
              <a:t>Data Science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1"/>
          <p:cNvSpPr txBox="1"/>
          <p:nvPr/>
        </p:nvSpPr>
        <p:spPr>
          <a:xfrm>
            <a:off x="8459464" y="4810274"/>
            <a:ext cx="460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232D47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900" b="0" i="0" u="none" strike="noStrike" cap="none">
              <a:solidFill>
                <a:srgbClr val="232D4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chart" Target="../charts/char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10" Type="http://schemas.openxmlformats.org/officeDocument/2006/relationships/image" Target="../media/image31.jpg"/><Relationship Id="rId4" Type="http://schemas.openxmlformats.org/officeDocument/2006/relationships/image" Target="../media/image25.jpg"/><Relationship Id="rId9" Type="http://schemas.openxmlformats.org/officeDocument/2006/relationships/image" Target="../media/image30.jp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"/>
          <p:cNvSpPr txBox="1">
            <a:spLocks noGrp="1"/>
          </p:cNvSpPr>
          <p:nvPr>
            <p:ph type="ctrTitle" idx="4294967295"/>
          </p:nvPr>
        </p:nvSpPr>
        <p:spPr>
          <a:xfrm>
            <a:off x="-262800" y="1488025"/>
            <a:ext cx="9774600" cy="2643600"/>
          </a:xfrm>
          <a:prstGeom prst="rect">
            <a:avLst/>
          </a:prstGeom>
          <a:noFill/>
          <a:ln>
            <a:noFill/>
          </a:ln>
          <a:effectLst>
            <a:outerShdw dist="2540000" dir="21540000" sx="1000" sy="1000" algn="ctr" rotWithShape="0">
              <a:srgbClr val="000000"/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40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 sz="4000" b="1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40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br>
              <a:rPr lang="en" sz="40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40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Regression</a:t>
            </a:r>
            <a:br>
              <a:rPr lang="en" sz="40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400" b="1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"/>
          <p:cNvSpPr txBox="1">
            <a:spLocks noGrp="1"/>
          </p:cNvSpPr>
          <p:nvPr>
            <p:ph type="title"/>
          </p:nvPr>
        </p:nvSpPr>
        <p:spPr>
          <a:xfrm>
            <a:off x="195945" y="6824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364294" y="1008000"/>
            <a:ext cx="7109700" cy="34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What is Machine learning?</a:t>
            </a:r>
            <a:endParaRPr sz="20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Regression - Intuition</a:t>
            </a:r>
            <a:endParaRPr sz="20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Multiple Regression</a:t>
            </a:r>
            <a:endParaRPr sz="20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Regression Assumptions</a:t>
            </a:r>
            <a:br>
              <a:rPr lang="en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endParaRPr sz="20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429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/>
          <p:cNvSpPr txBox="1">
            <a:spLocks noGrp="1"/>
          </p:cNvSpPr>
          <p:nvPr>
            <p:ph type="title"/>
          </p:nvPr>
        </p:nvSpPr>
        <p:spPr>
          <a:xfrm>
            <a:off x="195945" y="6824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Machine Learning - Definition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327500" y="1148375"/>
            <a:ext cx="8135100" cy="31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computer program is said to learn from Experience (E), with respect to some class of tasks (T) and performance measure (P), if it’s performance P at tasks T, improves with Experience E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lang="en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(Tom M Mitchell)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 txBox="1">
            <a:spLocks noGrp="1"/>
          </p:cNvSpPr>
          <p:nvPr>
            <p:ph type="title"/>
          </p:nvPr>
        </p:nvSpPr>
        <p:spPr>
          <a:xfrm>
            <a:off x="195945" y="6824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Machine Learning(Supervised) - Schema</a:t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4568776" y="1228955"/>
            <a:ext cx="1868100" cy="956700"/>
          </a:xfrm>
          <a:prstGeom prst="ellipse">
            <a:avLst/>
          </a:prstGeom>
          <a:solidFill>
            <a:srgbClr val="1D9A78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698088" y="3090783"/>
            <a:ext cx="1868100" cy="956700"/>
          </a:xfrm>
          <a:prstGeom prst="ellipse">
            <a:avLst/>
          </a:prstGeom>
          <a:solidFill>
            <a:srgbClr val="1D9A78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1698809" y="1264735"/>
            <a:ext cx="1205400" cy="853200"/>
          </a:xfrm>
          <a:prstGeom prst="roundRect">
            <a:avLst>
              <a:gd name="adj" fmla="val 16667"/>
            </a:avLst>
          </a:prstGeom>
          <a:solidFill>
            <a:srgbClr val="1D9A78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4"/>
          <p:cNvCxnSpPr>
            <a:endCxn id="155" idx="2"/>
          </p:cNvCxnSpPr>
          <p:nvPr/>
        </p:nvCxnSpPr>
        <p:spPr>
          <a:xfrm>
            <a:off x="2904076" y="1707305"/>
            <a:ext cx="1664700" cy="0"/>
          </a:xfrm>
          <a:prstGeom prst="straightConnector1">
            <a:avLst/>
          </a:prstGeom>
          <a:noFill/>
          <a:ln w="9525" cap="flat" cmpd="sng">
            <a:solidFill>
              <a:srgbClr val="1D9A78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9" name="Google Shape;159;p4"/>
          <p:cNvCxnSpPr/>
          <p:nvPr/>
        </p:nvCxnSpPr>
        <p:spPr>
          <a:xfrm>
            <a:off x="6436891" y="1690791"/>
            <a:ext cx="1664700" cy="0"/>
          </a:xfrm>
          <a:prstGeom prst="straightConnector1">
            <a:avLst/>
          </a:prstGeom>
          <a:noFill/>
          <a:ln w="9525" cap="flat" cmpd="sng">
            <a:solidFill>
              <a:srgbClr val="1D9A78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160;p4"/>
          <p:cNvCxnSpPr/>
          <p:nvPr/>
        </p:nvCxnSpPr>
        <p:spPr>
          <a:xfrm>
            <a:off x="2396526" y="3638158"/>
            <a:ext cx="2301600" cy="0"/>
          </a:xfrm>
          <a:prstGeom prst="straightConnector1">
            <a:avLst/>
          </a:prstGeom>
          <a:noFill/>
          <a:ln w="9525" cap="flat" cmpd="sng">
            <a:solidFill>
              <a:srgbClr val="1D9A78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1" name="Google Shape;161;p4"/>
          <p:cNvCxnSpPr/>
          <p:nvPr/>
        </p:nvCxnSpPr>
        <p:spPr>
          <a:xfrm>
            <a:off x="2396526" y="2118106"/>
            <a:ext cx="0" cy="1520100"/>
          </a:xfrm>
          <a:prstGeom prst="straightConnector1">
            <a:avLst/>
          </a:prstGeom>
          <a:noFill/>
          <a:ln w="9525" cap="flat" cmpd="sng">
            <a:solidFill>
              <a:srgbClr val="1D9A78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2" name="Google Shape;162;p4"/>
          <p:cNvCxnSpPr/>
          <p:nvPr/>
        </p:nvCxnSpPr>
        <p:spPr>
          <a:xfrm rot="10800000">
            <a:off x="5569056" y="2186283"/>
            <a:ext cx="0" cy="904500"/>
          </a:xfrm>
          <a:prstGeom prst="straightConnector1">
            <a:avLst/>
          </a:prstGeom>
          <a:noFill/>
          <a:ln w="9525" cap="flat" cmpd="sng">
            <a:solidFill>
              <a:srgbClr val="1D9A78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/>
          <p:nvPr/>
        </p:nvCxnSpPr>
        <p:spPr>
          <a:xfrm>
            <a:off x="568902" y="1707280"/>
            <a:ext cx="1130100" cy="0"/>
          </a:xfrm>
          <a:prstGeom prst="straightConnector1">
            <a:avLst/>
          </a:prstGeom>
          <a:noFill/>
          <a:ln w="9525" cap="flat" cmpd="sng">
            <a:solidFill>
              <a:srgbClr val="1D9A78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64" name="Google Shape;164;p4"/>
          <p:cNvSpPr txBox="1"/>
          <p:nvPr/>
        </p:nvSpPr>
        <p:spPr>
          <a:xfrm>
            <a:off x="2984250" y="3346725"/>
            <a:ext cx="1479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3353813" y="1378043"/>
            <a:ext cx="84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5129249" y="1417225"/>
            <a:ext cx="843600" cy="548400"/>
          </a:xfrm>
          <a:prstGeom prst="roundRect">
            <a:avLst>
              <a:gd name="adj" fmla="val 16667"/>
            </a:avLst>
          </a:prstGeom>
          <a:solidFill>
            <a:srgbClr val="1D9A78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5060219" y="3284479"/>
            <a:ext cx="1143900" cy="548400"/>
          </a:xfrm>
          <a:prstGeom prst="roundRect">
            <a:avLst>
              <a:gd name="adj" fmla="val 16667"/>
            </a:avLst>
          </a:prstGeom>
          <a:solidFill>
            <a:srgbClr val="1D9A78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6847425" y="1346475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5233653" y="844550"/>
            <a:ext cx="74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5120025" y="4062175"/>
            <a:ext cx="131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xperience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2984250" y="2988825"/>
            <a:ext cx="3791100" cy="14046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7160342" y="1962705"/>
            <a:ext cx="1720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erformance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well is the </a:t>
            </a:r>
            <a:r>
              <a:rPr lang="en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ask is done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Google Shape;230;p8">
            <a:extLst>
              <a:ext uri="{FF2B5EF4-FFF2-40B4-BE49-F238E27FC236}">
                <a16:creationId xmlns:a16="http://schemas.microsoft.com/office/drawing/2014/main" id="{64CCCCB6-1D0A-AE6A-9203-4B33D2BA2E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671526"/>
              </p:ext>
            </p:extLst>
          </p:nvPr>
        </p:nvGraphicFramePr>
        <p:xfrm>
          <a:off x="117985" y="2197329"/>
          <a:ext cx="2191800" cy="2477782"/>
        </p:xfrm>
        <a:graphic>
          <a:graphicData uri="http://schemas.openxmlformats.org/drawingml/2006/table">
            <a:tbl>
              <a:tblPr>
                <a:noFill/>
                <a:tableStyleId>{C6F916E4-D75B-46A1-92C1-0E86CC84C86C}</a:tableStyleId>
              </a:tblPr>
              <a:tblGrid>
                <a:gridCol w="449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9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6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b="1" u="none" strike="noStrike" cap="none" dirty="0"/>
                        <a:t>Match</a:t>
                      </a:r>
                      <a:endParaRPr sz="800" u="none" strike="noStrike" cap="none" dirty="0"/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b="1" u="none" strike="noStrike" cap="none" dirty="0"/>
                        <a:t>Toss Winning</a:t>
                      </a:r>
                      <a:endParaRPr sz="8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b="1" u="none" strike="noStrike" cap="none" dirty="0"/>
                        <a:t>Batting First</a:t>
                      </a:r>
                      <a:endParaRPr sz="8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b="1" u="none" strike="noStrike" cap="none" dirty="0"/>
                        <a:t>Result</a:t>
                      </a:r>
                      <a:endParaRPr sz="800" b="1" i="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1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W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2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L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3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W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4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L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5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W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6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W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7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W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8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L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9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L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10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W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 txBox="1"/>
          <p:nvPr/>
        </p:nvSpPr>
        <p:spPr>
          <a:xfrm>
            <a:off x="228600" y="1219200"/>
            <a:ext cx="75417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learning achieved here is with the help of available labelled target variables (at least for a reasonable number of cases). Such learning is termed “</a:t>
            </a:r>
            <a:r>
              <a:rPr lang="en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Supervised</a:t>
            </a:r>
            <a:r>
              <a:rPr lang="en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learning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 txBox="1">
            <a:spLocks noGrp="1"/>
          </p:cNvSpPr>
          <p:nvPr>
            <p:ph type="title"/>
          </p:nvPr>
        </p:nvSpPr>
        <p:spPr>
          <a:xfrm>
            <a:off x="195945" y="6824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Machine Learning(Supervised) - Schema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/>
          <p:nvPr/>
        </p:nvSpPr>
        <p:spPr>
          <a:xfrm>
            <a:off x="4085445" y="1275359"/>
            <a:ext cx="1464600" cy="890700"/>
          </a:xfrm>
          <a:prstGeom prst="ellipse">
            <a:avLst/>
          </a:prstGeom>
          <a:solidFill>
            <a:srgbClr val="1D9A78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1835650" y="1308675"/>
            <a:ext cx="944700" cy="794400"/>
          </a:xfrm>
          <a:prstGeom prst="roundRect">
            <a:avLst>
              <a:gd name="adj" fmla="val 16667"/>
            </a:avLst>
          </a:prstGeom>
          <a:solidFill>
            <a:srgbClr val="1D9A78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eatures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6"/>
          <p:cNvCxnSpPr>
            <a:endCxn id="184" idx="2"/>
          </p:cNvCxnSpPr>
          <p:nvPr/>
        </p:nvCxnSpPr>
        <p:spPr>
          <a:xfrm>
            <a:off x="2780445" y="1720709"/>
            <a:ext cx="1305000" cy="0"/>
          </a:xfrm>
          <a:prstGeom prst="straightConnector1">
            <a:avLst/>
          </a:prstGeom>
          <a:noFill/>
          <a:ln w="9525" cap="flat" cmpd="sng">
            <a:solidFill>
              <a:srgbClr val="1D9A78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7" name="Google Shape;187;p6"/>
          <p:cNvCxnSpPr/>
          <p:nvPr/>
        </p:nvCxnSpPr>
        <p:spPr>
          <a:xfrm>
            <a:off x="5549879" y="1705396"/>
            <a:ext cx="1305000" cy="0"/>
          </a:xfrm>
          <a:prstGeom prst="straightConnector1">
            <a:avLst/>
          </a:prstGeom>
          <a:noFill/>
          <a:ln w="9525" cap="flat" cmpd="sng">
            <a:solidFill>
              <a:srgbClr val="1D9A78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8" name="Google Shape;188;p6"/>
          <p:cNvCxnSpPr/>
          <p:nvPr/>
        </p:nvCxnSpPr>
        <p:spPr>
          <a:xfrm>
            <a:off x="949904" y="1720750"/>
            <a:ext cx="885900" cy="0"/>
          </a:xfrm>
          <a:prstGeom prst="straightConnector1">
            <a:avLst/>
          </a:prstGeom>
          <a:noFill/>
          <a:ln w="9525" cap="flat" cmpd="sng">
            <a:solidFill>
              <a:srgbClr val="1D9A78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9" name="Google Shape;189;p6"/>
          <p:cNvSpPr txBox="1"/>
          <p:nvPr/>
        </p:nvSpPr>
        <p:spPr>
          <a:xfrm>
            <a:off x="560930" y="1427750"/>
            <a:ext cx="1156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Objects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3133023" y="1414181"/>
            <a:ext cx="66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524812" y="1450656"/>
            <a:ext cx="585600" cy="510600"/>
          </a:xfrm>
          <a:prstGeom prst="roundRect">
            <a:avLst>
              <a:gd name="adj" fmla="val 16667"/>
            </a:avLst>
          </a:prstGeom>
          <a:solidFill>
            <a:srgbClr val="1D9A78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5871700" y="1384775"/>
            <a:ext cx="885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3133025" y="886875"/>
            <a:ext cx="2783100" cy="16887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marR="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4606650" y="917425"/>
            <a:ext cx="66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4356999" y="2224850"/>
            <a:ext cx="130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Experience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6956106" y="1308675"/>
            <a:ext cx="18282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=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well is the </a:t>
            </a:r>
            <a:r>
              <a:rPr lang="en" sz="1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task</a:t>
            </a: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done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 txBox="1">
            <a:spLocks noGrp="1"/>
          </p:cNvSpPr>
          <p:nvPr>
            <p:ph type="title"/>
          </p:nvPr>
        </p:nvSpPr>
        <p:spPr>
          <a:xfrm>
            <a:off x="195950" y="68247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Machine Learning(UnSupervised) - Schema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2911906" y="3292603"/>
            <a:ext cx="622625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cases where, there is no labelled target variables are available the learning is termed “</a:t>
            </a:r>
            <a:r>
              <a:rPr lang="en" sz="2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Unsupervised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learning. 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Google Shape;230;p8">
            <a:extLst>
              <a:ext uri="{FF2B5EF4-FFF2-40B4-BE49-F238E27FC236}">
                <a16:creationId xmlns:a16="http://schemas.microsoft.com/office/drawing/2014/main" id="{C41B109E-B370-BACB-A545-C7DEBF0500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6523930"/>
              </p:ext>
            </p:extLst>
          </p:nvPr>
        </p:nvGraphicFramePr>
        <p:xfrm>
          <a:off x="321432" y="2208426"/>
          <a:ext cx="1872839" cy="2428648"/>
        </p:xfrm>
        <a:graphic>
          <a:graphicData uri="http://schemas.openxmlformats.org/drawingml/2006/table">
            <a:tbl>
              <a:tblPr>
                <a:noFill/>
                <a:tableStyleId>{C6F916E4-D75B-46A1-92C1-0E86CC84C86C}</a:tableStyleId>
              </a:tblPr>
              <a:tblGrid>
                <a:gridCol w="458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321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b="1" u="none" strike="noStrike" cap="none" dirty="0"/>
                        <a:t>Match</a:t>
                      </a:r>
                      <a:endParaRPr sz="800" u="none" strike="noStrike" cap="none" dirty="0"/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b="1" u="none" strike="noStrike" cap="none" dirty="0"/>
                        <a:t>Toss Winning</a:t>
                      </a:r>
                      <a:endParaRPr sz="8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b="1" u="none" strike="noStrike" cap="none" dirty="0"/>
                        <a:t>Batting First</a:t>
                      </a:r>
                      <a:endParaRPr sz="8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54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1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54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2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Y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54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3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54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4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54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5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54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6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54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7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54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8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54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9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54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10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N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 txBox="1">
            <a:spLocks noGrp="1"/>
          </p:cNvSpPr>
          <p:nvPr>
            <p:ph type="title"/>
          </p:nvPr>
        </p:nvSpPr>
        <p:spPr>
          <a:xfrm>
            <a:off x="195950" y="68247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Machine Learning - Tasks</a:t>
            </a:r>
            <a:endParaRPr/>
          </a:p>
        </p:txBody>
      </p:sp>
      <p:grpSp>
        <p:nvGrpSpPr>
          <p:cNvPr id="205" name="Google Shape;205;p7"/>
          <p:cNvGrpSpPr/>
          <p:nvPr/>
        </p:nvGrpSpPr>
        <p:grpSpPr>
          <a:xfrm>
            <a:off x="869950" y="1634048"/>
            <a:ext cx="7112114" cy="2350218"/>
            <a:chOff x="604" y="807499"/>
            <a:chExt cx="9008377" cy="3187168"/>
          </a:xfrm>
        </p:grpSpPr>
        <p:sp>
          <p:nvSpPr>
            <p:cNvPr id="206" name="Google Shape;206;p7"/>
            <p:cNvSpPr/>
            <p:nvPr/>
          </p:nvSpPr>
          <p:spPr>
            <a:xfrm>
              <a:off x="4504813" y="2124519"/>
              <a:ext cx="3187200" cy="553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w="12700" cap="flat" cmpd="sng">
              <a:solidFill>
                <a:srgbClr val="167A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4459093" y="2124519"/>
              <a:ext cx="91500" cy="553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 w="12700" cap="flat" cmpd="sng">
              <a:solidFill>
                <a:srgbClr val="167A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1317624" y="2124519"/>
              <a:ext cx="3187200" cy="553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w="12700" cap="flat" cmpd="sng">
              <a:solidFill>
                <a:srgbClr val="167A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3846303" y="807499"/>
              <a:ext cx="1317000" cy="1317000"/>
            </a:xfrm>
            <a:prstGeom prst="arc">
              <a:avLst>
                <a:gd name="adj1" fmla="val 13200000"/>
                <a:gd name="adj2" fmla="val 19200000"/>
              </a:avLst>
            </a:prstGeom>
            <a:noFill/>
            <a:ln w="12700" cap="flat" cmpd="sng">
              <a:solidFill>
                <a:srgbClr val="167A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3846303" y="807499"/>
              <a:ext cx="1317000" cy="1317000"/>
            </a:xfrm>
            <a:prstGeom prst="arc">
              <a:avLst>
                <a:gd name="adj1" fmla="val 2400000"/>
                <a:gd name="adj2" fmla="val 8400000"/>
              </a:avLst>
            </a:prstGeom>
            <a:noFill/>
            <a:ln w="12700" cap="flat" cmpd="sng">
              <a:solidFill>
                <a:srgbClr val="167A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3187793" y="1044562"/>
              <a:ext cx="2634000" cy="8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7"/>
            <p:cNvSpPr txBox="1"/>
            <p:nvPr/>
          </p:nvSpPr>
          <p:spPr>
            <a:xfrm>
              <a:off x="3187778" y="1044551"/>
              <a:ext cx="2885400" cy="8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25" tIns="15225" rIns="1522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"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Machine Learning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659114" y="2677667"/>
              <a:ext cx="1317000" cy="1317000"/>
            </a:xfrm>
            <a:prstGeom prst="arc">
              <a:avLst>
                <a:gd name="adj1" fmla="val 13200000"/>
                <a:gd name="adj2" fmla="val 19200000"/>
              </a:avLst>
            </a:prstGeom>
            <a:noFill/>
            <a:ln w="12700" cap="flat" cmpd="sng">
              <a:solidFill>
                <a:srgbClr val="167A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659114" y="2677667"/>
              <a:ext cx="1317000" cy="1317000"/>
            </a:xfrm>
            <a:prstGeom prst="arc">
              <a:avLst>
                <a:gd name="adj1" fmla="val 2400000"/>
                <a:gd name="adj2" fmla="val 8400000"/>
              </a:avLst>
            </a:prstGeom>
            <a:noFill/>
            <a:ln w="12700" cap="flat" cmpd="sng">
              <a:solidFill>
                <a:srgbClr val="167A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604" y="2914731"/>
              <a:ext cx="2634000" cy="8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7"/>
            <p:cNvSpPr txBox="1"/>
            <p:nvPr/>
          </p:nvSpPr>
          <p:spPr>
            <a:xfrm>
              <a:off x="604" y="2914731"/>
              <a:ext cx="2634000" cy="8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950" tIns="13950" rIns="13950" bIns="13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What is Learnt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77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n" sz="1400" b="0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ask)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3846303" y="2677667"/>
              <a:ext cx="1317000" cy="1317000"/>
            </a:xfrm>
            <a:prstGeom prst="arc">
              <a:avLst>
                <a:gd name="adj1" fmla="val 13200000"/>
                <a:gd name="adj2" fmla="val 19200000"/>
              </a:avLst>
            </a:prstGeom>
            <a:noFill/>
            <a:ln w="12700" cap="flat" cmpd="sng">
              <a:solidFill>
                <a:srgbClr val="167A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3846303" y="2677667"/>
              <a:ext cx="1317000" cy="1317000"/>
            </a:xfrm>
            <a:prstGeom prst="arc">
              <a:avLst>
                <a:gd name="adj1" fmla="val 2400000"/>
                <a:gd name="adj2" fmla="val 8400000"/>
              </a:avLst>
            </a:prstGeom>
            <a:noFill/>
            <a:ln w="12700" cap="flat" cmpd="sng">
              <a:solidFill>
                <a:srgbClr val="167A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3187793" y="2914731"/>
              <a:ext cx="2634000" cy="8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7"/>
            <p:cNvSpPr txBox="1"/>
            <p:nvPr/>
          </p:nvSpPr>
          <p:spPr>
            <a:xfrm>
              <a:off x="3187793" y="2914731"/>
              <a:ext cx="2634000" cy="8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25" tIns="15225" rIns="1522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How is it Learnt?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n" sz="1400" b="0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xperience)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7033491" y="2677667"/>
              <a:ext cx="1317000" cy="1317000"/>
            </a:xfrm>
            <a:prstGeom prst="arc">
              <a:avLst>
                <a:gd name="adj1" fmla="val 13200000"/>
                <a:gd name="adj2" fmla="val 19200000"/>
              </a:avLst>
            </a:prstGeom>
            <a:noFill/>
            <a:ln w="12700" cap="flat" cmpd="sng">
              <a:solidFill>
                <a:srgbClr val="167A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7033491" y="2677667"/>
              <a:ext cx="1317000" cy="1317000"/>
            </a:xfrm>
            <a:prstGeom prst="arc">
              <a:avLst>
                <a:gd name="adj1" fmla="val 2400000"/>
                <a:gd name="adj2" fmla="val 8400000"/>
              </a:avLst>
            </a:prstGeom>
            <a:noFill/>
            <a:ln w="12700" cap="flat" cmpd="sng">
              <a:solidFill>
                <a:srgbClr val="167A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6374981" y="2914731"/>
              <a:ext cx="2634000" cy="8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7"/>
            <p:cNvSpPr txBox="1"/>
            <p:nvPr/>
          </p:nvSpPr>
          <p:spPr>
            <a:xfrm>
              <a:off x="6374981" y="2914731"/>
              <a:ext cx="2634000" cy="8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25" tIns="15225" rIns="1522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How well is it learnt?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n" sz="1400" b="0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erformance)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 txBox="1">
            <a:spLocks noGrp="1"/>
          </p:cNvSpPr>
          <p:nvPr>
            <p:ph type="title"/>
          </p:nvPr>
        </p:nvSpPr>
        <p:spPr>
          <a:xfrm>
            <a:off x="195950" y="68247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Tasks -  Classification - Binary</a:t>
            </a:r>
            <a:endParaRPr/>
          </a:p>
        </p:txBody>
      </p:sp>
      <p:graphicFrame>
        <p:nvGraphicFramePr>
          <p:cNvPr id="230" name="Google Shape;230;p8"/>
          <p:cNvGraphicFramePr/>
          <p:nvPr>
            <p:extLst>
              <p:ext uri="{D42A27DB-BD31-4B8C-83A1-F6EECF244321}">
                <p14:modId xmlns:p14="http://schemas.microsoft.com/office/powerpoint/2010/main" val="3268497060"/>
              </p:ext>
            </p:extLst>
          </p:nvPr>
        </p:nvGraphicFramePr>
        <p:xfrm>
          <a:off x="228624" y="928321"/>
          <a:ext cx="2191800" cy="2477782"/>
        </p:xfrm>
        <a:graphic>
          <a:graphicData uri="http://schemas.openxmlformats.org/drawingml/2006/table">
            <a:tbl>
              <a:tblPr>
                <a:noFill/>
                <a:tableStyleId>{C6F916E4-D75B-46A1-92C1-0E86CC84C86C}</a:tableStyleId>
              </a:tblPr>
              <a:tblGrid>
                <a:gridCol w="449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9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6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b="1" u="none" strike="noStrike" cap="none" dirty="0"/>
                        <a:t>Match</a:t>
                      </a:r>
                      <a:endParaRPr sz="800" u="none" strike="noStrike" cap="none" dirty="0"/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b="1" u="none" strike="noStrike" cap="none" dirty="0"/>
                        <a:t>Toss Winning</a:t>
                      </a:r>
                      <a:endParaRPr sz="8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b="1" u="none" strike="noStrike" cap="none" dirty="0"/>
                        <a:t>Batting First</a:t>
                      </a:r>
                      <a:endParaRPr sz="8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b="1" u="none" strike="noStrike" cap="none" dirty="0"/>
                        <a:t>Result</a:t>
                      </a:r>
                      <a:endParaRPr sz="800" b="1" i="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1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W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2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L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3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W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4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L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5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W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6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W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7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W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8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L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9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L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10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Y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/>
                        <a:t>N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/>
                        <a:t>W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31" name="Google Shape;231;p8"/>
          <p:cNvSpPr txBox="1"/>
          <p:nvPr/>
        </p:nvSpPr>
        <p:spPr>
          <a:xfrm>
            <a:off x="152400" y="3733800"/>
            <a:ext cx="8062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Output Variable 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Categorical, Can take only two values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Input Variables 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Can be any in number, Can be continuous or categorical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3832373" y="814926"/>
            <a:ext cx="2191800" cy="1410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3875700" y="2571750"/>
            <a:ext cx="46776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 txBox="1">
            <a:spLocks noGrp="1"/>
          </p:cNvSpPr>
          <p:nvPr>
            <p:ph type="title"/>
          </p:nvPr>
        </p:nvSpPr>
        <p:spPr>
          <a:xfrm>
            <a:off x="195950" y="68247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Tasks -  Classification - MultiClass</a:t>
            </a:r>
            <a:endParaRPr/>
          </a:p>
        </p:txBody>
      </p:sp>
      <p:sp>
        <p:nvSpPr>
          <p:cNvPr id="239" name="Google Shape;239;p9"/>
          <p:cNvSpPr txBox="1"/>
          <p:nvPr/>
        </p:nvSpPr>
        <p:spPr>
          <a:xfrm>
            <a:off x="346223" y="3556250"/>
            <a:ext cx="7736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Output Variable 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Categorical, Can take any number of values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Input Variables 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Can be any in number, Can be continuous or categorical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50" y="1318962"/>
            <a:ext cx="2642775" cy="1486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0613" y="1318963"/>
            <a:ext cx="2642776" cy="148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7000" y="1318973"/>
            <a:ext cx="2642775" cy="148655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 txBox="1"/>
          <p:nvPr/>
        </p:nvSpPr>
        <p:spPr>
          <a:xfrm>
            <a:off x="505950" y="2843425"/>
            <a:ext cx="17424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Drive</a:t>
            </a:r>
            <a:endParaRPr sz="1800"/>
          </a:p>
        </p:txBody>
      </p:sp>
      <p:sp>
        <p:nvSpPr>
          <p:cNvPr id="244" name="Google Shape;244;p9"/>
          <p:cNvSpPr txBox="1"/>
          <p:nvPr/>
        </p:nvSpPr>
        <p:spPr>
          <a:xfrm>
            <a:off x="3623550" y="2843425"/>
            <a:ext cx="17424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Pull</a:t>
            </a:r>
            <a:endParaRPr sz="1800"/>
          </a:p>
        </p:txBody>
      </p:sp>
      <p:sp>
        <p:nvSpPr>
          <p:cNvPr id="245" name="Google Shape;245;p9"/>
          <p:cNvSpPr txBox="1"/>
          <p:nvPr/>
        </p:nvSpPr>
        <p:spPr>
          <a:xfrm>
            <a:off x="6772625" y="2874900"/>
            <a:ext cx="17424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Sweep</a:t>
            </a:r>
            <a:endParaRPr sz="1800"/>
          </a:p>
        </p:txBody>
      </p:sp>
      <p:sp>
        <p:nvSpPr>
          <p:cNvPr id="246" name="Google Shape;246;p9"/>
          <p:cNvSpPr txBox="1"/>
          <p:nvPr/>
        </p:nvSpPr>
        <p:spPr>
          <a:xfrm>
            <a:off x="117575" y="822750"/>
            <a:ext cx="38523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Different Types of Shots:</a:t>
            </a:r>
            <a:endParaRPr sz="18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 txBox="1">
            <a:spLocks noGrp="1"/>
          </p:cNvSpPr>
          <p:nvPr>
            <p:ph type="title"/>
          </p:nvPr>
        </p:nvSpPr>
        <p:spPr>
          <a:xfrm>
            <a:off x="195950" y="-841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Task -  Function Approximation</a:t>
            </a:r>
            <a:endParaRPr/>
          </a:p>
        </p:txBody>
      </p:sp>
      <p:graphicFrame>
        <p:nvGraphicFramePr>
          <p:cNvPr id="252" name="Google Shape;252;p10"/>
          <p:cNvGraphicFramePr/>
          <p:nvPr>
            <p:extLst>
              <p:ext uri="{D42A27DB-BD31-4B8C-83A1-F6EECF244321}">
                <p14:modId xmlns:p14="http://schemas.microsoft.com/office/powerpoint/2010/main" val="344060966"/>
              </p:ext>
            </p:extLst>
          </p:nvPr>
        </p:nvGraphicFramePr>
        <p:xfrm>
          <a:off x="449165" y="466860"/>
          <a:ext cx="1346025" cy="4342675"/>
        </p:xfrm>
        <a:graphic>
          <a:graphicData uri="http://schemas.openxmlformats.org/drawingml/2006/table">
            <a:tbl>
              <a:tblPr>
                <a:noFill/>
                <a:tableStyleId>{C6F916E4-D75B-46A1-92C1-0E86CC84C86C}</a:tableStyleId>
              </a:tblPr>
              <a:tblGrid>
                <a:gridCol w="70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Average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Intensity</a:t>
                      </a:r>
                      <a:endParaRPr sz="8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57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93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58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59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111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99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122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61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115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61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116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62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62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122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62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134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63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128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63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123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117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135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65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129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66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128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66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148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67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135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68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142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69</a:t>
                      </a:r>
                      <a:endParaRPr sz="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8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155</a:t>
                      </a:r>
                      <a:endParaRPr sz="8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cxnSp>
        <p:nvCxnSpPr>
          <p:cNvPr id="254" name="Google Shape;254;p10"/>
          <p:cNvCxnSpPr>
            <a:cxnSpLocks/>
          </p:cNvCxnSpPr>
          <p:nvPr/>
        </p:nvCxnSpPr>
        <p:spPr>
          <a:xfrm flipV="1">
            <a:off x="3241064" y="1327191"/>
            <a:ext cx="967111" cy="460738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5" name="Google Shape;255;p10"/>
          <p:cNvSpPr txBox="1"/>
          <p:nvPr/>
        </p:nvSpPr>
        <p:spPr>
          <a:xfrm>
            <a:off x="1920650" y="2410187"/>
            <a:ext cx="3668877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Batting Average (y) = 40.16+ 0.18 * Training Intensity(x)</a:t>
            </a:r>
            <a:endParaRPr lang="en-US" sz="1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 txBox="1"/>
          <p:nvPr/>
        </p:nvSpPr>
        <p:spPr>
          <a:xfrm>
            <a:off x="2249650" y="3363775"/>
            <a:ext cx="66741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Output Variable 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Continuous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Input Variables 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Can be any in number, Continuous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(Categorical Input variables can be handled through special methods)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5654050" y="1055124"/>
            <a:ext cx="1843200" cy="1460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20D9C5C-C53D-8D31-B346-690DD598D8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0164784"/>
              </p:ext>
            </p:extLst>
          </p:nvPr>
        </p:nvGraphicFramePr>
        <p:xfrm>
          <a:off x="2131137" y="841985"/>
          <a:ext cx="2533425" cy="1595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 txBox="1">
            <a:spLocks noGrp="1"/>
          </p:cNvSpPr>
          <p:nvPr>
            <p:ph type="title"/>
          </p:nvPr>
        </p:nvSpPr>
        <p:spPr>
          <a:xfrm>
            <a:off x="195950" y="-841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Task -  Identifying Patterns - Grouping</a:t>
            </a:r>
            <a:endParaRPr/>
          </a:p>
        </p:txBody>
      </p:sp>
      <p:pic>
        <p:nvPicPr>
          <p:cNvPr id="263" name="Google Shape;263;p12" descr="See the source 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950" y="670350"/>
            <a:ext cx="3537350" cy="24859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12"/>
          <p:cNvGrpSpPr/>
          <p:nvPr/>
        </p:nvGrpSpPr>
        <p:grpSpPr>
          <a:xfrm>
            <a:off x="4302526" y="861377"/>
            <a:ext cx="3468253" cy="2294749"/>
            <a:chOff x="5721430" y="2168370"/>
            <a:chExt cx="4718711" cy="3316112"/>
          </a:xfrm>
        </p:grpSpPr>
        <p:pic>
          <p:nvPicPr>
            <p:cNvPr id="265" name="Google Shape;265;p12" descr="See the source imag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21430" y="2168370"/>
              <a:ext cx="4718711" cy="33161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12"/>
            <p:cNvSpPr/>
            <p:nvPr/>
          </p:nvSpPr>
          <p:spPr>
            <a:xfrm>
              <a:off x="7747247" y="2653834"/>
              <a:ext cx="1903200" cy="10890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2"/>
            <p:cNvSpPr/>
            <p:nvPr/>
          </p:nvSpPr>
          <p:spPr>
            <a:xfrm>
              <a:off x="6444108" y="3396599"/>
              <a:ext cx="1767600" cy="15003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2"/>
            <p:cNvSpPr/>
            <p:nvPr/>
          </p:nvSpPr>
          <p:spPr>
            <a:xfrm>
              <a:off x="8123069" y="3638515"/>
              <a:ext cx="1686900" cy="13383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p12"/>
          <p:cNvSpPr/>
          <p:nvPr/>
        </p:nvSpPr>
        <p:spPr>
          <a:xfrm>
            <a:off x="3462875" y="1676400"/>
            <a:ext cx="719700" cy="190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 txBox="1"/>
          <p:nvPr/>
        </p:nvSpPr>
        <p:spPr>
          <a:xfrm>
            <a:off x="660000" y="3330150"/>
            <a:ext cx="770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Input Variables 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Can be any in number, Continuous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(Categorical Input variables can be handled through special methods)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Group membership for each Instance, Group Centroids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5" name="Google Shape;275;p13"/>
          <p:cNvGraphicFramePr/>
          <p:nvPr/>
        </p:nvGraphicFramePr>
        <p:xfrm>
          <a:off x="213552" y="1363782"/>
          <a:ext cx="3827000" cy="2688250"/>
        </p:xfrm>
        <a:graphic>
          <a:graphicData uri="http://schemas.openxmlformats.org/drawingml/2006/table">
            <a:tbl>
              <a:tblPr firstRow="1" bandRow="1">
                <a:noFill/>
                <a:tableStyleId>{C6F916E4-D75B-46A1-92C1-0E86CC84C86C}</a:tableStyleId>
              </a:tblPr>
              <a:tblGrid>
                <a:gridCol w="96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1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5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Instances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" sz="120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" sz="1200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" sz="1200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20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" sz="1200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20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" sz="1200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n-1</a:t>
                      </a:r>
                      <a:endParaRPr sz="120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" sz="1200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20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---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998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999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76" name="Google Shape;276;p13"/>
          <p:cNvGraphicFramePr/>
          <p:nvPr/>
        </p:nvGraphicFramePr>
        <p:xfrm>
          <a:off x="5269225" y="1882349"/>
          <a:ext cx="3723775" cy="1893900"/>
        </p:xfrm>
        <a:graphic>
          <a:graphicData uri="http://schemas.openxmlformats.org/drawingml/2006/table">
            <a:tbl>
              <a:tblPr firstRow="1" bandRow="1">
                <a:noFill/>
                <a:tableStyleId>{C6F916E4-D75B-46A1-92C1-0E86CC84C86C}</a:tableStyleId>
              </a:tblPr>
              <a:tblGrid>
                <a:gridCol w="88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4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Instances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" sz="120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" sz="1200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" sz="1200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20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" sz="1200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20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" sz="1200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n-1</a:t>
                      </a:r>
                      <a:endParaRPr sz="120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" sz="1200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20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Group 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Group 2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Group 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8" name="Google Shape;278;p13"/>
          <p:cNvSpPr txBox="1">
            <a:spLocks noGrp="1"/>
          </p:cNvSpPr>
          <p:nvPr>
            <p:ph type="title"/>
          </p:nvPr>
        </p:nvSpPr>
        <p:spPr>
          <a:xfrm>
            <a:off x="195950" y="-841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Task -  Identifying Patterns - Grouping</a:t>
            </a:r>
            <a:endParaRPr/>
          </a:p>
        </p:txBody>
      </p:sp>
      <p:sp>
        <p:nvSpPr>
          <p:cNvPr id="2" name="Google Shape;277;p13">
            <a:extLst>
              <a:ext uri="{FF2B5EF4-FFF2-40B4-BE49-F238E27FC236}">
                <a16:creationId xmlns:a16="http://schemas.microsoft.com/office/drawing/2014/main" id="{9573B175-4BDD-CBEA-A490-F0FAC5986645}"/>
              </a:ext>
            </a:extLst>
          </p:cNvPr>
          <p:cNvSpPr/>
          <p:nvPr/>
        </p:nvSpPr>
        <p:spPr>
          <a:xfrm>
            <a:off x="4377275" y="2728375"/>
            <a:ext cx="8691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77;p13">
            <a:extLst>
              <a:ext uri="{FF2B5EF4-FFF2-40B4-BE49-F238E27FC236}">
                <a16:creationId xmlns:a16="http://schemas.microsoft.com/office/drawing/2014/main" id="{8AB1CA1D-F221-C0DA-3A61-FAB7CE1E16A6}"/>
              </a:ext>
            </a:extLst>
          </p:cNvPr>
          <p:cNvSpPr/>
          <p:nvPr/>
        </p:nvSpPr>
        <p:spPr>
          <a:xfrm rot="5400000" flipV="1">
            <a:off x="1978981" y="973015"/>
            <a:ext cx="399835" cy="20683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77;p13">
            <a:extLst>
              <a:ext uri="{FF2B5EF4-FFF2-40B4-BE49-F238E27FC236}">
                <a16:creationId xmlns:a16="http://schemas.microsoft.com/office/drawing/2014/main" id="{119B167A-5E99-200E-ABA9-64F059F8FE1A}"/>
              </a:ext>
            </a:extLst>
          </p:cNvPr>
          <p:cNvSpPr/>
          <p:nvPr/>
        </p:nvSpPr>
        <p:spPr>
          <a:xfrm rot="16200000" flipV="1">
            <a:off x="1978981" y="4235968"/>
            <a:ext cx="399835" cy="20683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title"/>
          </p:nvPr>
        </p:nvSpPr>
        <p:spPr>
          <a:xfrm>
            <a:off x="111300" y="116922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970"/>
              <a:buFont typeface="Gill Sans"/>
              <a:buNone/>
            </a:pPr>
            <a:r>
              <a:rPr lang="en" sz="3070"/>
              <a:t>Task -  Identifying Patterns - Dimensionality</a:t>
            </a:r>
            <a:endParaRPr sz="307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970"/>
              <a:buFont typeface="Gill Sans"/>
              <a:buNone/>
            </a:pPr>
            <a:r>
              <a:rPr lang="en" sz="3070"/>
              <a:t>Reduction</a:t>
            </a:r>
            <a:endParaRPr sz="3070"/>
          </a:p>
        </p:txBody>
      </p:sp>
      <p:graphicFrame>
        <p:nvGraphicFramePr>
          <p:cNvPr id="284" name="Google Shape;284;p14"/>
          <p:cNvGraphicFramePr/>
          <p:nvPr>
            <p:extLst>
              <p:ext uri="{D42A27DB-BD31-4B8C-83A1-F6EECF244321}">
                <p14:modId xmlns:p14="http://schemas.microsoft.com/office/powerpoint/2010/main" val="522829682"/>
              </p:ext>
            </p:extLst>
          </p:nvPr>
        </p:nvGraphicFramePr>
        <p:xfrm>
          <a:off x="604626" y="1626778"/>
          <a:ext cx="3827000" cy="2688250"/>
        </p:xfrm>
        <a:graphic>
          <a:graphicData uri="http://schemas.openxmlformats.org/drawingml/2006/table">
            <a:tbl>
              <a:tblPr firstRow="1" bandRow="1">
                <a:noFill/>
                <a:tableStyleId>{C6F916E4-D75B-46A1-92C1-0E86CC84C86C}</a:tableStyleId>
              </a:tblPr>
              <a:tblGrid>
                <a:gridCol w="96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1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5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Instances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" sz="120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" sz="1200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" sz="1200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20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" sz="1200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20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" sz="1200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n-1</a:t>
                      </a:r>
                      <a:endParaRPr sz="120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" sz="1200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20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---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998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999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85" name="Google Shape;285;p14"/>
          <p:cNvGraphicFramePr/>
          <p:nvPr/>
        </p:nvGraphicFramePr>
        <p:xfrm>
          <a:off x="5939951" y="1218766"/>
          <a:ext cx="2437525" cy="3435460"/>
        </p:xfrm>
        <a:graphic>
          <a:graphicData uri="http://schemas.openxmlformats.org/drawingml/2006/table">
            <a:tbl>
              <a:tblPr firstRow="1" bandRow="1">
                <a:noFill/>
                <a:tableStyleId>{C6F916E4-D75B-46A1-92C1-0E86CC84C86C}</a:tableStyleId>
              </a:tblPr>
              <a:tblGrid>
                <a:gridCol w="80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Instances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r>
                        <a:rPr lang="en" sz="120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r>
                        <a:rPr lang="en" sz="1200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r>
                        <a:rPr lang="en" sz="1200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m-1</a:t>
                      </a:r>
                      <a:endParaRPr sz="120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r>
                        <a:rPr lang="en" sz="1200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 sz="120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---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---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---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998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999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86" name="Google Shape;286;p14"/>
          <p:cNvSpPr/>
          <p:nvPr/>
        </p:nvSpPr>
        <p:spPr>
          <a:xfrm>
            <a:off x="4955651" y="2670696"/>
            <a:ext cx="984300" cy="26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162900" y="1064450"/>
            <a:ext cx="550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Input Variables 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Can be any in number, Continuous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77;p13">
            <a:extLst>
              <a:ext uri="{FF2B5EF4-FFF2-40B4-BE49-F238E27FC236}">
                <a16:creationId xmlns:a16="http://schemas.microsoft.com/office/drawing/2014/main" id="{90A0A3C4-65C1-B1D5-4540-6A70F677C410}"/>
              </a:ext>
            </a:extLst>
          </p:cNvPr>
          <p:cNvSpPr/>
          <p:nvPr/>
        </p:nvSpPr>
        <p:spPr>
          <a:xfrm rot="10800000" flipV="1">
            <a:off x="4493721" y="3162990"/>
            <a:ext cx="399835" cy="20683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77;p13">
            <a:extLst>
              <a:ext uri="{FF2B5EF4-FFF2-40B4-BE49-F238E27FC236}">
                <a16:creationId xmlns:a16="http://schemas.microsoft.com/office/drawing/2014/main" id="{622E65C2-4D30-1BAA-E775-7E32F2D935DF}"/>
              </a:ext>
            </a:extLst>
          </p:cNvPr>
          <p:cNvSpPr/>
          <p:nvPr/>
        </p:nvSpPr>
        <p:spPr>
          <a:xfrm flipV="1">
            <a:off x="142696" y="3098759"/>
            <a:ext cx="399835" cy="20683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" grpId="0" animBg="1"/>
      <p:bldP spid="2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/>
          <p:nvPr/>
        </p:nvSpPr>
        <p:spPr>
          <a:xfrm>
            <a:off x="2122475" y="2040600"/>
            <a:ext cx="4933500" cy="871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2395400" y="2240050"/>
            <a:ext cx="4429800" cy="5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B5394"/>
                </a:solidFill>
                <a:latin typeface="Gill Sans"/>
                <a:ea typeface="Gill Sans"/>
                <a:cs typeface="Gill Sans"/>
                <a:sym typeface="Gill Sans"/>
              </a:rPr>
              <a:t>Regression Analysis</a:t>
            </a:r>
            <a:endParaRPr sz="2700" b="0" i="0" u="none" strike="noStrike" cap="none">
              <a:solidFill>
                <a:srgbClr val="0B5394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>
            <a:spLocks noGrp="1"/>
          </p:cNvSpPr>
          <p:nvPr>
            <p:ph type="title"/>
          </p:nvPr>
        </p:nvSpPr>
        <p:spPr>
          <a:xfrm>
            <a:off x="195950" y="-79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Regression Analysis - What is it?</a:t>
            </a:r>
            <a:endParaRPr/>
          </a:p>
        </p:txBody>
      </p:sp>
      <p:sp>
        <p:nvSpPr>
          <p:cNvPr id="299" name="Google Shape;299;p16"/>
          <p:cNvSpPr txBox="1"/>
          <p:nvPr/>
        </p:nvSpPr>
        <p:spPr>
          <a:xfrm>
            <a:off x="256125" y="893225"/>
            <a:ext cx="7826400" cy="3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Imaginary Conversation: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Captain: Our team's run rate has been inconsistent this season. We need to improve our average run rate by r % in the upcoming matches to reach our target.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Coach: But achieving that will likely require some adjustments in our strategies and training routines.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>
            <a:spLocks noGrp="1"/>
          </p:cNvSpPr>
          <p:nvPr>
            <p:ph type="title"/>
          </p:nvPr>
        </p:nvSpPr>
        <p:spPr>
          <a:xfrm>
            <a:off x="195950" y="-79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Regression Analysis - What is it?</a:t>
            </a:r>
            <a:endParaRPr/>
          </a:p>
        </p:txBody>
      </p:sp>
      <p:sp>
        <p:nvSpPr>
          <p:cNvPr id="305" name="Google Shape;305;p17"/>
          <p:cNvSpPr txBox="1"/>
          <p:nvPr/>
        </p:nvSpPr>
        <p:spPr>
          <a:xfrm>
            <a:off x="319625" y="903825"/>
            <a:ext cx="8265600" cy="3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Captain: How can you be certain that changing our strategies will actually lead to a higher run rate?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Coach: I've been analyzing the match statistics over the past few seasons and gathered data on various factors that could influence our run rate.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>
            <a:spLocks noGrp="1"/>
          </p:cNvSpPr>
          <p:nvPr>
            <p:ph type="title"/>
          </p:nvPr>
        </p:nvSpPr>
        <p:spPr>
          <a:xfrm>
            <a:off x="195950" y="-79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Regression Analysis - What is it?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256125" y="797975"/>
            <a:ext cx="8244300" cy="3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Captain: Can you estimate how much we'll need to modify our approach to reach the desired run rate?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Coach: Of course, our analysts have developed a regression equation based on historical data.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</a:t>
            </a:r>
            <a:r>
              <a:rPr lang="en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RunRate(y) = 4.5 + 0.8 Training Intensity(x)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>
            <a:spLocks noGrp="1"/>
          </p:cNvSpPr>
          <p:nvPr>
            <p:ph type="title"/>
          </p:nvPr>
        </p:nvSpPr>
        <p:spPr>
          <a:xfrm>
            <a:off x="195950" y="-79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Regression Analysis - What is it?</a:t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256125" y="797975"/>
            <a:ext cx="8244300" cy="3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Captain: Are you saying that this equation can accurately predict our run rate?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Statistician: The equation is actually formulated as: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r>
              <a:rPr lang="en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RunRate(y) = 4.5 + 0.8 Training Intensity(x) + e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Captain: 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Large is the Error?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we have just heard is the development of a regression analysis. What is known as a </a:t>
            </a: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Simple Linear Regression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"/>
          <p:cNvSpPr txBox="1">
            <a:spLocks noGrp="1"/>
          </p:cNvSpPr>
          <p:nvPr>
            <p:ph type="title"/>
          </p:nvPr>
        </p:nvSpPr>
        <p:spPr>
          <a:xfrm>
            <a:off x="195950" y="-79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Regression Analysis - What is it?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361950" y="1009650"/>
            <a:ext cx="8138700" cy="37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regression analysis establishes a functional relation between a output variable (referred to as the Dependent Variable – Run Rate in our example)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one or more input variables (referred to as independent variable/s – Training Intensity in our example).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Such a relationship is used to: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arenR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 a value of an output variable, given a value for an input variable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arenR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understand the “effect” that independent variable/s have on the output variable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"/>
          <p:cNvSpPr txBox="1">
            <a:spLocks noGrp="1"/>
          </p:cNvSpPr>
          <p:nvPr>
            <p:ph type="title"/>
          </p:nvPr>
        </p:nvSpPr>
        <p:spPr>
          <a:xfrm>
            <a:off x="195950" y="-79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Regression Analysis - What is it?</a:t>
            </a:r>
            <a:endParaRPr/>
          </a:p>
        </p:txBody>
      </p:sp>
      <p:pic>
        <p:nvPicPr>
          <p:cNvPr id="329" name="Google Shape;329;p21"/>
          <p:cNvPicPr preferRelativeResize="0"/>
          <p:nvPr/>
        </p:nvPicPr>
        <p:blipFill rotWithShape="1">
          <a:blip r:embed="rId3">
            <a:alphaModFix/>
          </a:blip>
          <a:srcRect t="11668"/>
          <a:stretch/>
        </p:blipFill>
        <p:spPr>
          <a:xfrm>
            <a:off x="5656325" y="956750"/>
            <a:ext cx="3358151" cy="1469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0" name="Google Shape;330;p21"/>
          <p:cNvGrpSpPr/>
          <p:nvPr/>
        </p:nvGrpSpPr>
        <p:grpSpPr>
          <a:xfrm>
            <a:off x="5857125" y="2694212"/>
            <a:ext cx="1530051" cy="1469500"/>
            <a:chOff x="3071674" y="2031411"/>
            <a:chExt cx="4820575" cy="3490500"/>
          </a:xfrm>
        </p:grpSpPr>
        <p:cxnSp>
          <p:nvCxnSpPr>
            <p:cNvPr id="331" name="Google Shape;331;p21"/>
            <p:cNvCxnSpPr/>
            <p:nvPr/>
          </p:nvCxnSpPr>
          <p:spPr>
            <a:xfrm>
              <a:off x="3071674" y="5521911"/>
              <a:ext cx="4802700" cy="0"/>
            </a:xfrm>
            <a:prstGeom prst="straightConnector1">
              <a:avLst/>
            </a:prstGeom>
            <a:noFill/>
            <a:ln w="38100" cap="flat" cmpd="sng">
              <a:solidFill>
                <a:srgbClr val="1D9A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32" name="Google Shape;332;p21"/>
            <p:cNvSpPr/>
            <p:nvPr/>
          </p:nvSpPr>
          <p:spPr>
            <a:xfrm>
              <a:off x="4225771" y="4234649"/>
              <a:ext cx="115500" cy="115500"/>
            </a:xfrm>
            <a:prstGeom prst="ellipse">
              <a:avLst/>
            </a:prstGeom>
            <a:solidFill>
              <a:srgbClr val="1D9A78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4588272" y="3377214"/>
              <a:ext cx="115500" cy="115500"/>
            </a:xfrm>
            <a:prstGeom prst="ellipse">
              <a:avLst/>
            </a:prstGeom>
            <a:solidFill>
              <a:srgbClr val="1D9A78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5415381" y="3604603"/>
              <a:ext cx="115500" cy="115500"/>
            </a:xfrm>
            <a:prstGeom prst="ellipse">
              <a:avLst/>
            </a:prstGeom>
            <a:solidFill>
              <a:srgbClr val="1D9A78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1"/>
            <p:cNvSpPr/>
            <p:nvPr/>
          </p:nvSpPr>
          <p:spPr>
            <a:xfrm>
              <a:off x="6096000" y="2742730"/>
              <a:ext cx="115500" cy="115500"/>
            </a:xfrm>
            <a:prstGeom prst="ellipse">
              <a:avLst/>
            </a:prstGeom>
            <a:solidFill>
              <a:srgbClr val="1D9A78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1"/>
            <p:cNvSpPr/>
            <p:nvPr/>
          </p:nvSpPr>
          <p:spPr>
            <a:xfrm>
              <a:off x="6690804" y="3424562"/>
              <a:ext cx="115500" cy="115500"/>
            </a:xfrm>
            <a:prstGeom prst="ellipse">
              <a:avLst/>
            </a:prstGeom>
            <a:solidFill>
              <a:srgbClr val="1D9A78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1"/>
            <p:cNvSpPr/>
            <p:nvPr/>
          </p:nvSpPr>
          <p:spPr>
            <a:xfrm>
              <a:off x="7438008" y="4176953"/>
              <a:ext cx="115500" cy="115500"/>
            </a:xfrm>
            <a:prstGeom prst="ellipse">
              <a:avLst/>
            </a:prstGeom>
            <a:solidFill>
              <a:srgbClr val="1D9A78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8" name="Google Shape;338;p21"/>
            <p:cNvCxnSpPr/>
            <p:nvPr/>
          </p:nvCxnSpPr>
          <p:spPr>
            <a:xfrm rot="10800000">
              <a:off x="3071674" y="2031411"/>
              <a:ext cx="0" cy="3490500"/>
            </a:xfrm>
            <a:prstGeom prst="straightConnector1">
              <a:avLst/>
            </a:prstGeom>
            <a:noFill/>
            <a:ln w="38100" cap="flat" cmpd="sng">
              <a:solidFill>
                <a:srgbClr val="1D9A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39" name="Google Shape;339;p21"/>
            <p:cNvSpPr/>
            <p:nvPr/>
          </p:nvSpPr>
          <p:spPr>
            <a:xfrm>
              <a:off x="4101483" y="2855287"/>
              <a:ext cx="3790766" cy="1841000"/>
            </a:xfrm>
            <a:custGeom>
              <a:avLst/>
              <a:gdLst/>
              <a:ahLst/>
              <a:cxnLst/>
              <a:rect l="l" t="t" r="r" b="b"/>
              <a:pathLst>
                <a:path w="3790766" h="1841000" extrusionOk="0">
                  <a:moveTo>
                    <a:pt x="0" y="1841000"/>
                  </a:moveTo>
                  <a:cubicBezTo>
                    <a:pt x="184212" y="1231400"/>
                    <a:pt x="368424" y="621800"/>
                    <a:pt x="603682" y="456084"/>
                  </a:cubicBezTo>
                  <a:cubicBezTo>
                    <a:pt x="838940" y="290368"/>
                    <a:pt x="1173333" y="920682"/>
                    <a:pt x="1411550" y="846701"/>
                  </a:cubicBezTo>
                  <a:cubicBezTo>
                    <a:pt x="1649767" y="772720"/>
                    <a:pt x="1674921" y="-113567"/>
                    <a:pt x="2032987" y="12200"/>
                  </a:cubicBezTo>
                  <a:cubicBezTo>
                    <a:pt x="2391053" y="137967"/>
                    <a:pt x="3280299" y="1315738"/>
                    <a:pt x="3559946" y="1601303"/>
                  </a:cubicBezTo>
                  <a:cubicBezTo>
                    <a:pt x="3839593" y="1886868"/>
                    <a:pt x="3672397" y="1693039"/>
                    <a:pt x="3710867" y="1725591"/>
                  </a:cubicBezTo>
                  <a:cubicBezTo>
                    <a:pt x="3749337" y="1758142"/>
                    <a:pt x="3770051" y="1777377"/>
                    <a:pt x="3790766" y="1796612"/>
                  </a:cubicBezTo>
                </a:path>
              </a:pathLst>
            </a:custGeom>
            <a:noFill/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" name="Google Shape;340;p21"/>
          <p:cNvGrpSpPr/>
          <p:nvPr/>
        </p:nvGrpSpPr>
        <p:grpSpPr>
          <a:xfrm>
            <a:off x="7461919" y="2617989"/>
            <a:ext cx="1530088" cy="1558857"/>
            <a:chOff x="3071674" y="2031411"/>
            <a:chExt cx="5172710" cy="3490500"/>
          </a:xfrm>
        </p:grpSpPr>
        <p:cxnSp>
          <p:nvCxnSpPr>
            <p:cNvPr id="341" name="Google Shape;341;p21"/>
            <p:cNvCxnSpPr/>
            <p:nvPr/>
          </p:nvCxnSpPr>
          <p:spPr>
            <a:xfrm>
              <a:off x="3071674" y="5521911"/>
              <a:ext cx="4802700" cy="0"/>
            </a:xfrm>
            <a:prstGeom prst="straightConnector1">
              <a:avLst/>
            </a:prstGeom>
            <a:noFill/>
            <a:ln w="38100" cap="flat" cmpd="sng">
              <a:solidFill>
                <a:srgbClr val="1D9A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42" name="Google Shape;342;p21"/>
            <p:cNvSpPr/>
            <p:nvPr/>
          </p:nvSpPr>
          <p:spPr>
            <a:xfrm>
              <a:off x="4225771" y="4234649"/>
              <a:ext cx="115500" cy="115500"/>
            </a:xfrm>
            <a:prstGeom prst="ellipse">
              <a:avLst/>
            </a:prstGeom>
            <a:solidFill>
              <a:srgbClr val="1D9A78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4588272" y="3377214"/>
              <a:ext cx="115500" cy="115500"/>
            </a:xfrm>
            <a:prstGeom prst="ellipse">
              <a:avLst/>
            </a:prstGeom>
            <a:solidFill>
              <a:srgbClr val="1D9A78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1"/>
            <p:cNvSpPr/>
            <p:nvPr/>
          </p:nvSpPr>
          <p:spPr>
            <a:xfrm>
              <a:off x="5415381" y="3604603"/>
              <a:ext cx="115500" cy="115500"/>
            </a:xfrm>
            <a:prstGeom prst="ellipse">
              <a:avLst/>
            </a:prstGeom>
            <a:solidFill>
              <a:srgbClr val="1D9A78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1"/>
            <p:cNvSpPr/>
            <p:nvPr/>
          </p:nvSpPr>
          <p:spPr>
            <a:xfrm>
              <a:off x="6096000" y="2742730"/>
              <a:ext cx="115500" cy="115500"/>
            </a:xfrm>
            <a:prstGeom prst="ellipse">
              <a:avLst/>
            </a:prstGeom>
            <a:solidFill>
              <a:srgbClr val="1D9A78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1"/>
            <p:cNvSpPr/>
            <p:nvPr/>
          </p:nvSpPr>
          <p:spPr>
            <a:xfrm>
              <a:off x="6690804" y="3424562"/>
              <a:ext cx="115500" cy="115500"/>
            </a:xfrm>
            <a:prstGeom prst="ellipse">
              <a:avLst/>
            </a:prstGeom>
            <a:solidFill>
              <a:srgbClr val="1D9A78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1"/>
            <p:cNvSpPr/>
            <p:nvPr/>
          </p:nvSpPr>
          <p:spPr>
            <a:xfrm>
              <a:off x="7438008" y="4176953"/>
              <a:ext cx="115500" cy="115500"/>
            </a:xfrm>
            <a:prstGeom prst="ellipse">
              <a:avLst/>
            </a:prstGeom>
            <a:solidFill>
              <a:srgbClr val="1D9A78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8" name="Google Shape;348;p21"/>
            <p:cNvCxnSpPr/>
            <p:nvPr/>
          </p:nvCxnSpPr>
          <p:spPr>
            <a:xfrm rot="10800000">
              <a:off x="3071674" y="2031411"/>
              <a:ext cx="0" cy="3490500"/>
            </a:xfrm>
            <a:prstGeom prst="straightConnector1">
              <a:avLst/>
            </a:prstGeom>
            <a:noFill/>
            <a:ln w="38100" cap="flat" cmpd="sng">
              <a:solidFill>
                <a:srgbClr val="1D9A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49" name="Google Shape;349;p21"/>
            <p:cNvSpPr/>
            <p:nvPr/>
          </p:nvSpPr>
          <p:spPr>
            <a:xfrm>
              <a:off x="4178421" y="2376476"/>
              <a:ext cx="4065963" cy="2530651"/>
            </a:xfrm>
            <a:custGeom>
              <a:avLst/>
              <a:gdLst/>
              <a:ahLst/>
              <a:cxnLst/>
              <a:rect l="l" t="t" r="r" b="b"/>
              <a:pathLst>
                <a:path w="4065963" h="2530651" extrusionOk="0">
                  <a:moveTo>
                    <a:pt x="0" y="2530651"/>
                  </a:moveTo>
                  <a:cubicBezTo>
                    <a:pt x="295183" y="1284078"/>
                    <a:pt x="590366" y="37505"/>
                    <a:pt x="1225119" y="515"/>
                  </a:cubicBezTo>
                  <a:cubicBezTo>
                    <a:pt x="1859873" y="-36475"/>
                    <a:pt x="3373515" y="1928449"/>
                    <a:pt x="3808521" y="2308709"/>
                  </a:cubicBezTo>
                  <a:cubicBezTo>
                    <a:pt x="4243527" y="2688969"/>
                    <a:pt x="4039340" y="2485522"/>
                    <a:pt x="3835154" y="2282076"/>
                  </a:cubicBezTo>
                </a:path>
              </a:pathLst>
            </a:custGeom>
            <a:noFill/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0" name="Google Shape;350;p21"/>
          <p:cNvSpPr txBox="1"/>
          <p:nvPr/>
        </p:nvSpPr>
        <p:spPr>
          <a:xfrm>
            <a:off x="149444" y="722800"/>
            <a:ext cx="286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Simple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Linear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Regression: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522303" y="1244522"/>
            <a:ext cx="159900" cy="767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D9A78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51775" y="2189075"/>
            <a:ext cx="3188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it involves only </a:t>
            </a:r>
            <a:r>
              <a:rPr lang="en" sz="1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ONE input </a:t>
            </a: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 &amp; </a:t>
            </a:r>
            <a:r>
              <a:rPr lang="en" sz="1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ONE output </a:t>
            </a: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1"/>
          <p:cNvSpPr/>
          <p:nvPr/>
        </p:nvSpPr>
        <p:spPr>
          <a:xfrm rot="-3680054">
            <a:off x="1488061" y="1107345"/>
            <a:ext cx="446530" cy="1561921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1D9A78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1572077" y="1161500"/>
            <a:ext cx="3996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relationship between the variables is assumed to be straight line form, such as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73250" y="4068650"/>
            <a:ext cx="353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Simple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Non-Linear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Regression: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1"/>
          <p:cNvSpPr/>
          <p:nvPr/>
        </p:nvSpPr>
        <p:spPr>
          <a:xfrm rot="10800000" flipH="1">
            <a:off x="427430" y="3055989"/>
            <a:ext cx="174900" cy="688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D9A78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1"/>
          <p:cNvSpPr/>
          <p:nvPr/>
        </p:nvSpPr>
        <p:spPr>
          <a:xfrm rot="-862189">
            <a:off x="1344651" y="3063864"/>
            <a:ext cx="2137163" cy="421801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1D9A78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2454676" y="3262530"/>
            <a:ext cx="3258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the relationship is not linear such as,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2"/>
          <p:cNvSpPr txBox="1">
            <a:spLocks noGrp="1"/>
          </p:cNvSpPr>
          <p:nvPr>
            <p:ph type="title"/>
          </p:nvPr>
        </p:nvSpPr>
        <p:spPr>
          <a:xfrm>
            <a:off x="195950" y="-79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Regression Analysis - What is it?</a:t>
            </a:r>
            <a:endParaRPr/>
          </a:p>
        </p:txBody>
      </p:sp>
      <p:sp>
        <p:nvSpPr>
          <p:cNvPr id="364" name="Google Shape;364;p22"/>
          <p:cNvSpPr txBox="1"/>
          <p:nvPr/>
        </p:nvSpPr>
        <p:spPr>
          <a:xfrm>
            <a:off x="277275" y="829725"/>
            <a:ext cx="8181000" cy="3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walks the team's analyst into the conversation: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Cricket Analyst: I believe the number of matches played per player also has an influence on the team's runrate.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Captain: So, you're suggesting that the equation for predicting our runrate should consider not only training intensity but also the number of matches played per player?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3"/>
          <p:cNvSpPr txBox="1">
            <a:spLocks noGrp="1"/>
          </p:cNvSpPr>
          <p:nvPr>
            <p:ph type="title"/>
          </p:nvPr>
        </p:nvSpPr>
        <p:spPr>
          <a:xfrm>
            <a:off x="195950" y="-79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Regression Analysis - What is it?</a:t>
            </a:r>
            <a:endParaRPr/>
          </a:p>
        </p:txBody>
      </p:sp>
      <p:sp>
        <p:nvSpPr>
          <p:cNvPr id="370" name="Google Shape;370;p23"/>
          <p:cNvSpPr txBox="1"/>
          <p:nvPr/>
        </p:nvSpPr>
        <p:spPr>
          <a:xfrm>
            <a:off x="287875" y="829725"/>
            <a:ext cx="8085600" cy="39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Analyst: Exactly. Based on the historical data we've gathered, the regression equation could be something like this: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sz="1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RunRate(y) = 30 + 0.6 Training Intensity(x1) + 0.2 Matches Played Per Player(x2)</a:t>
            </a:r>
            <a:endParaRPr sz="1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30622" y="3149599"/>
            <a:ext cx="2244076" cy="178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0575" y="3033225"/>
            <a:ext cx="1654574" cy="15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3"/>
          <p:cNvSpPr txBox="1"/>
          <p:nvPr/>
        </p:nvSpPr>
        <p:spPr>
          <a:xfrm>
            <a:off x="5344350" y="2408775"/>
            <a:ext cx="370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Multiple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Non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Linear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Regression: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3"/>
          <p:cNvSpPr txBox="1"/>
          <p:nvPr/>
        </p:nvSpPr>
        <p:spPr>
          <a:xfrm>
            <a:off x="319598" y="2419900"/>
            <a:ext cx="3513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Multiple</a:t>
            </a:r>
            <a:r>
              <a:rPr lang="en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Linear</a:t>
            </a:r>
            <a:r>
              <a:rPr lang="en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Regression: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1539537" y="2865141"/>
            <a:ext cx="168600" cy="985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D9A78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 txBox="1"/>
          <p:nvPr/>
        </p:nvSpPr>
        <p:spPr>
          <a:xfrm>
            <a:off x="213064" y="4042299"/>
            <a:ext cx="3408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it involves </a:t>
            </a:r>
            <a:r>
              <a:rPr lang="en" sz="1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Multiple input </a:t>
            </a: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variables &amp; </a:t>
            </a:r>
            <a:r>
              <a:rPr lang="en" sz="1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One output </a:t>
            </a: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4"/>
          <p:cNvSpPr txBox="1">
            <a:spLocks noGrp="1"/>
          </p:cNvSpPr>
          <p:nvPr>
            <p:ph type="title"/>
          </p:nvPr>
        </p:nvSpPr>
        <p:spPr>
          <a:xfrm>
            <a:off x="195950" y="-79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Regression Analysis - What is it?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195950" y="746550"/>
            <a:ext cx="8244300" cy="3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Conditions for Regression: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Dependent (Output) Variable: </a:t>
            </a:r>
            <a:r>
              <a:rPr lang="en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r>
              <a:rPr lang="en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Independent (Input) Variable/s: </a:t>
            </a:r>
            <a:r>
              <a:rPr lang="en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r>
              <a:rPr lang="en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some of the ,Independent Variables are non-metric, an analysis called Dummy Variable regression can be used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5"/>
          <p:cNvSpPr/>
          <p:nvPr/>
        </p:nvSpPr>
        <p:spPr>
          <a:xfrm>
            <a:off x="2122475" y="2040600"/>
            <a:ext cx="4933500" cy="871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5"/>
          <p:cNvSpPr txBox="1"/>
          <p:nvPr/>
        </p:nvSpPr>
        <p:spPr>
          <a:xfrm>
            <a:off x="2395400" y="2240050"/>
            <a:ext cx="4429800" cy="5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B5394"/>
                </a:solidFill>
                <a:latin typeface="Gill Sans"/>
                <a:ea typeface="Gill Sans"/>
                <a:cs typeface="Gill Sans"/>
                <a:sym typeface="Gill Sans"/>
              </a:rPr>
              <a:t>Regression Intuition</a:t>
            </a:r>
            <a:endParaRPr sz="2700" b="0" i="0" u="none" strike="noStrike" cap="none">
              <a:solidFill>
                <a:srgbClr val="0B5394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71194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6"/>
          <p:cNvSpPr txBox="1">
            <a:spLocks noGrp="1"/>
          </p:cNvSpPr>
          <p:nvPr>
            <p:ph type="title"/>
          </p:nvPr>
        </p:nvSpPr>
        <p:spPr>
          <a:xfrm>
            <a:off x="195950" y="-7953"/>
            <a:ext cx="78867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 dirty="0"/>
              <a:t>Regression Intuition</a:t>
            </a:r>
            <a:endParaRPr dirty="0"/>
          </a:p>
        </p:txBody>
      </p:sp>
      <p:sp>
        <p:nvSpPr>
          <p:cNvPr id="394" name="Google Shape;394;p26"/>
          <p:cNvSpPr txBox="1"/>
          <p:nvPr/>
        </p:nvSpPr>
        <p:spPr>
          <a:xfrm>
            <a:off x="2558327" y="448642"/>
            <a:ext cx="70854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Suppose we had Batting Averages of 20 players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2132274" y="907424"/>
            <a:ext cx="6942973" cy="466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would be the best guess you can offer on any individual player’s Batting Average?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would be the </a:t>
            </a:r>
            <a:r>
              <a:rPr lang="en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average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batting averages of the 20 players =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62.85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Supposing we use the average of all batsmen as the best guess </a:t>
            </a:r>
            <a:r>
              <a:rPr lang="en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 predict the batting average 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each of the 20 players – what would be the error of our estimations?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Error 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(Observed – Predicted)       Also Called </a:t>
            </a:r>
            <a:r>
              <a:rPr lang="en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Residual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better estimate of error in estimation would be the sum of squared errors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D5B14D-971A-33D1-E9B4-9FBFB8DDEBF9}"/>
              </a:ext>
            </a:extLst>
          </p:cNvPr>
          <p:cNvGraphicFramePr>
            <a:graphicFrameLocks noGrp="1"/>
          </p:cNvGraphicFramePr>
          <p:nvPr/>
        </p:nvGraphicFramePr>
        <p:xfrm>
          <a:off x="125803" y="569547"/>
          <a:ext cx="445394" cy="3803739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445394">
                  <a:extLst>
                    <a:ext uri="{9D8B030D-6E8A-4147-A177-3AD203B41FA5}">
                      <a16:colId xmlns:a16="http://schemas.microsoft.com/office/drawing/2014/main" val="3977913469"/>
                    </a:ext>
                  </a:extLst>
                </a:gridCol>
              </a:tblGrid>
              <a:tr h="3410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Batting Average of Player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677322558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57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73732135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58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45584926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59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56409226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60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11609090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60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99245136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61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422086802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61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57396016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00743330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6889457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98183781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5288957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410736407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18175295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42676020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71009775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38615339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21106194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99984054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40371040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69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78597386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DB8004-B073-38B1-EF70-1CDA0A0539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745498"/>
              </p:ext>
            </p:extLst>
          </p:nvPr>
        </p:nvGraphicFramePr>
        <p:xfrm>
          <a:off x="571197" y="843180"/>
          <a:ext cx="445394" cy="3528184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445394">
                  <a:extLst>
                    <a:ext uri="{9D8B030D-6E8A-4147-A177-3AD203B41FA5}">
                      <a16:colId xmlns:a16="http://schemas.microsoft.com/office/drawing/2014/main" val="1776038867"/>
                    </a:ext>
                  </a:extLst>
                </a:gridCol>
              </a:tblGrid>
              <a:tr h="34100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effectLst/>
                        </a:rPr>
                        <a:t>Best Guess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02235844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62.85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44838679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62.85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46253299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62.85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4083212459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62.85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93252494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62.85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63930533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62.85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84982540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62.85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95932770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62.85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575218239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62.85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23942056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62.85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29760177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62.85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78424706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62.85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10644927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62.85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91916452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62.85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30675520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62.85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418878348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62.85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78701811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62.85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263607428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62.85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93011938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62.85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416193708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62.85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1608003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BC2147-515D-8E72-3C7C-532B6E057576}"/>
              </a:ext>
            </a:extLst>
          </p:cNvPr>
          <p:cNvGraphicFramePr>
            <a:graphicFrameLocks noGrp="1"/>
          </p:cNvGraphicFramePr>
          <p:nvPr/>
        </p:nvGraphicFramePr>
        <p:xfrm>
          <a:off x="1016591" y="848134"/>
          <a:ext cx="445394" cy="3528184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445394">
                  <a:extLst>
                    <a:ext uri="{9D8B030D-6E8A-4147-A177-3AD203B41FA5}">
                      <a16:colId xmlns:a16="http://schemas.microsoft.com/office/drawing/2014/main" val="523203867"/>
                    </a:ext>
                  </a:extLst>
                </a:gridCol>
              </a:tblGrid>
              <a:tr h="34100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effectLst/>
                        </a:rPr>
                        <a:t>Error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12326414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-5.85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59636755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-4.85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868671228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-3.85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48064065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-2.85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11052573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-2.85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02101046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-1.85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29585003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-1.85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71939741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-0.85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19927577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-0.85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06289965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-0.85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428335004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0.15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41152722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0.15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68017118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1.15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12688236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1.15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95741710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2.15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75686807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3.15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28162488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3.15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43943081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4.15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411723516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5.15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81724436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6.15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96507907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0EC31A2-8859-80D1-DF2E-BF62AD81390C}"/>
              </a:ext>
            </a:extLst>
          </p:cNvPr>
          <p:cNvGraphicFramePr>
            <a:graphicFrameLocks noGrp="1"/>
          </p:cNvGraphicFramePr>
          <p:nvPr/>
        </p:nvGraphicFramePr>
        <p:xfrm>
          <a:off x="1461985" y="843180"/>
          <a:ext cx="504830" cy="3528184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504830">
                  <a:extLst>
                    <a:ext uri="{9D8B030D-6E8A-4147-A177-3AD203B41FA5}">
                      <a16:colId xmlns:a16="http://schemas.microsoft.com/office/drawing/2014/main" val="2511485178"/>
                    </a:ext>
                  </a:extLst>
                </a:gridCol>
              </a:tblGrid>
              <a:tr h="34100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effectLst/>
                        </a:rPr>
                        <a:t>Squared Error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98083165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34.22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428126597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23.52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15644696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14.82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241202488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8.12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58478794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8.12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543757799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3.42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73560208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3.42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428422416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0.72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92013294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0.72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806781768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0.72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87647920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0.02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433123348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0.02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28322696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1.32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54898476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1.32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39949822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4.62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410785470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9.92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419162286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9.92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9910304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17.22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875069888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26.52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73543083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37.82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7821887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2D153F3-F530-E547-F961-E921FEB92D75}"/>
              </a:ext>
            </a:extLst>
          </p:cNvPr>
          <p:cNvSpPr txBox="1"/>
          <p:nvPr/>
        </p:nvSpPr>
        <p:spPr>
          <a:xfrm>
            <a:off x="125803" y="4378240"/>
            <a:ext cx="20502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Sum of Squared Errors = </a:t>
            </a:r>
            <a:r>
              <a:rPr lang="en-US" sz="900" b="1" dirty="0">
                <a:solidFill>
                  <a:srgbClr val="FF0000"/>
                </a:solidFill>
              </a:rPr>
              <a:t>206.55</a:t>
            </a:r>
            <a:endParaRPr lang="en-IN" sz="9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5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7"/>
          <p:cNvSpPr txBox="1">
            <a:spLocks noGrp="1"/>
          </p:cNvSpPr>
          <p:nvPr>
            <p:ph type="title"/>
          </p:nvPr>
        </p:nvSpPr>
        <p:spPr>
          <a:xfrm>
            <a:off x="195950" y="-79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Regression Intuition</a:t>
            </a:r>
            <a:endParaRPr/>
          </a:p>
        </p:txBody>
      </p:sp>
      <p:sp>
        <p:nvSpPr>
          <p:cNvPr id="404" name="Google Shape;404;p27"/>
          <p:cNvSpPr txBox="1"/>
          <p:nvPr/>
        </p:nvSpPr>
        <p:spPr>
          <a:xfrm>
            <a:off x="-123753" y="624675"/>
            <a:ext cx="8669612" cy="30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165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Supposing </a:t>
            </a:r>
            <a:r>
              <a:rPr lang="en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we had the Training Intensity the of 20 players </a:t>
            </a:r>
            <a:r>
              <a:rPr lang="en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in addition had their Batting Average as well</a:t>
            </a:r>
            <a:r>
              <a:rPr lang="en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7"/>
          <p:cNvSpPr txBox="1"/>
          <p:nvPr/>
        </p:nvSpPr>
        <p:spPr>
          <a:xfrm>
            <a:off x="3495547" y="933300"/>
            <a:ext cx="4782300" cy="4209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would be the best guess you can offer on any player’s Batting Average?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method could be to break group up into two sub-groups, on the basis of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Intensity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Batting Average (when Training Intensity &lt; = 123)    =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60.63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just">
              <a:lnSpc>
                <a:spcPct val="150000"/>
              </a:lnSpc>
              <a:buSzPts val="1800"/>
              <a:buFont typeface="Arial"/>
              <a:buChar char="○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Batting Average (when </a:t>
            </a:r>
            <a:r>
              <a:rPr lang="en" sz="1800" dirty="0"/>
              <a:t>Training Intensity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&gt;123)    = 65.56</a:t>
            </a:r>
          </a:p>
          <a:p>
            <a:pPr marL="45720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F55F547-0271-C4EF-1C94-95AC543D84B9}"/>
              </a:ext>
            </a:extLst>
          </p:cNvPr>
          <p:cNvGraphicFramePr>
            <a:graphicFrameLocks noGrp="1"/>
          </p:cNvGraphicFramePr>
          <p:nvPr/>
        </p:nvGraphicFramePr>
        <p:xfrm>
          <a:off x="270181" y="900859"/>
          <a:ext cx="445394" cy="3803739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445394">
                  <a:extLst>
                    <a:ext uri="{9D8B030D-6E8A-4147-A177-3AD203B41FA5}">
                      <a16:colId xmlns:a16="http://schemas.microsoft.com/office/drawing/2014/main" val="3977913469"/>
                    </a:ext>
                  </a:extLst>
                </a:gridCol>
              </a:tblGrid>
              <a:tr h="3410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Batting Average of Player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677322558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57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73732135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58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45584926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59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56409226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60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11609090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60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99245136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61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422086802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61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57396016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00743330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6889457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98183781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5288957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410736407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18175295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42676020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71009775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38615339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21106194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99984054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40371040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69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78597386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15D638-C6D6-8B6A-B73C-8CCB4E62E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230471"/>
              </p:ext>
            </p:extLst>
          </p:nvPr>
        </p:nvGraphicFramePr>
        <p:xfrm>
          <a:off x="699603" y="894192"/>
          <a:ext cx="588280" cy="3803739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588280">
                  <a:extLst>
                    <a:ext uri="{9D8B030D-6E8A-4147-A177-3AD203B41FA5}">
                      <a16:colId xmlns:a16="http://schemas.microsoft.com/office/drawing/2014/main" val="1166907455"/>
                    </a:ext>
                  </a:extLst>
                </a:gridCol>
              </a:tblGrid>
              <a:tr h="3410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Training Intensity of the Player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59922798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93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400266614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110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69200664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111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8604126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99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61003705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122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86899109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115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566054879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116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4156367498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110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98253716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122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98135943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134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13332160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128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00138236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123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99292190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117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57703745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135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03707867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129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321314349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128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4521580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148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40794350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135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09151722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142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12985109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155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02284569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9B8093-0B28-8D86-4CE2-BFB7EDB92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464508"/>
              </p:ext>
            </p:extLst>
          </p:nvPr>
        </p:nvGraphicFramePr>
        <p:xfrm>
          <a:off x="1606363" y="894193"/>
          <a:ext cx="1013084" cy="3803739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445394">
                  <a:extLst>
                    <a:ext uri="{9D8B030D-6E8A-4147-A177-3AD203B41FA5}">
                      <a16:colId xmlns:a16="http://schemas.microsoft.com/office/drawing/2014/main" val="434084356"/>
                    </a:ext>
                  </a:extLst>
                </a:gridCol>
                <a:gridCol w="567690">
                  <a:extLst>
                    <a:ext uri="{9D8B030D-6E8A-4147-A177-3AD203B41FA5}">
                      <a16:colId xmlns:a16="http://schemas.microsoft.com/office/drawing/2014/main" val="664990801"/>
                    </a:ext>
                  </a:extLst>
                </a:gridCol>
              </a:tblGrid>
              <a:tr h="3410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Batting Average of Player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Training Intensity of the Player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18349656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57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93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532760629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60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99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425523596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58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110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93730963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110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11529712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59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111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023692209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61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115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60645146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61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116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339774948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117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00420718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60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122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73198777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122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42541225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123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72560248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128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77419484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128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86009580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129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86868577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134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6527512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135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67255358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135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6739822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142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04621298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148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45159362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69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155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74615962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5DE447-CA4A-EF39-9712-E77A2183225F}"/>
              </a:ext>
            </a:extLst>
          </p:cNvPr>
          <p:cNvCxnSpPr>
            <a:cxnSpLocks/>
          </p:cNvCxnSpPr>
          <p:nvPr/>
        </p:nvCxnSpPr>
        <p:spPr>
          <a:xfrm>
            <a:off x="1635808" y="3265714"/>
            <a:ext cx="86134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row: Right 7">
            <a:extLst>
              <a:ext uri="{FF2B5EF4-FFF2-40B4-BE49-F238E27FC236}">
                <a16:creationId xmlns:a16="http://schemas.microsoft.com/office/drawing/2014/main" id="{AFA21016-55D1-58BB-3F9D-AC3F0A10AEBE}"/>
              </a:ext>
            </a:extLst>
          </p:cNvPr>
          <p:cNvSpPr/>
          <p:nvPr/>
        </p:nvSpPr>
        <p:spPr>
          <a:xfrm>
            <a:off x="1323543" y="2582722"/>
            <a:ext cx="268132" cy="2200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6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7"/>
          <p:cNvSpPr txBox="1">
            <a:spLocks noGrp="1"/>
          </p:cNvSpPr>
          <p:nvPr>
            <p:ph type="title"/>
          </p:nvPr>
        </p:nvSpPr>
        <p:spPr>
          <a:xfrm>
            <a:off x="195950" y="-79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Regression Intuition</a:t>
            </a:r>
            <a:endParaRPr/>
          </a:p>
        </p:txBody>
      </p:sp>
      <p:sp>
        <p:nvSpPr>
          <p:cNvPr id="404" name="Google Shape;404;p27"/>
          <p:cNvSpPr txBox="1"/>
          <p:nvPr/>
        </p:nvSpPr>
        <p:spPr>
          <a:xfrm>
            <a:off x="0" y="517026"/>
            <a:ext cx="8205530" cy="30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165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Supposing </a:t>
            </a:r>
            <a:r>
              <a:rPr lang="en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we had the Training Intensity of the players  </a:t>
            </a:r>
            <a:r>
              <a:rPr lang="en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in addition </a:t>
            </a:r>
            <a:r>
              <a:rPr lang="en" dirty="0">
                <a:solidFill>
                  <a:schemeClr val="tx1"/>
                </a:solidFill>
              </a:rPr>
              <a:t>to </a:t>
            </a:r>
            <a:r>
              <a:rPr lang="en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their batting averages as well</a:t>
            </a:r>
            <a:r>
              <a:rPr lang="en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7"/>
          <p:cNvSpPr txBox="1"/>
          <p:nvPr/>
        </p:nvSpPr>
        <p:spPr>
          <a:xfrm>
            <a:off x="3080494" y="933300"/>
            <a:ext cx="6063506" cy="213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Batting Average (when Training Intensity  &lt; = 123)    =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60.63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Batting Average (when 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Intensity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&gt;123)  </a:t>
            </a:r>
          </a:p>
          <a:p>
            <a:pPr marL="571500" marR="0" lvl="1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US" sz="1800" dirty="0"/>
              <a:t>  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= 65.56</a:t>
            </a:r>
          </a:p>
          <a:p>
            <a:pPr marL="45720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9B8093-0B28-8D86-4CE2-BFB7EDB926D0}"/>
              </a:ext>
            </a:extLst>
          </p:cNvPr>
          <p:cNvGraphicFramePr>
            <a:graphicFrameLocks noGrp="1"/>
          </p:cNvGraphicFramePr>
          <p:nvPr/>
        </p:nvGraphicFramePr>
        <p:xfrm>
          <a:off x="866153" y="839133"/>
          <a:ext cx="445394" cy="3803739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445394">
                  <a:extLst>
                    <a:ext uri="{9D8B030D-6E8A-4147-A177-3AD203B41FA5}">
                      <a16:colId xmlns:a16="http://schemas.microsoft.com/office/drawing/2014/main" val="434084356"/>
                    </a:ext>
                  </a:extLst>
                </a:gridCol>
              </a:tblGrid>
              <a:tr h="3410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Batting Average of Player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18349656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57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532760629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60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425523596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58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93730963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11529712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59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023692209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61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60645146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61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339774948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00420718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60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73198777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42541225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72560248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77419484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86009580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86868577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6527512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67255358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6739822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04621298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45159362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69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74615962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EB2885-D512-05D5-9656-38226FD2C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071282"/>
              </p:ext>
            </p:extLst>
          </p:nvPr>
        </p:nvGraphicFramePr>
        <p:xfrm>
          <a:off x="330009" y="826453"/>
          <a:ext cx="521422" cy="3803739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521422">
                  <a:extLst>
                    <a:ext uri="{9D8B030D-6E8A-4147-A177-3AD203B41FA5}">
                      <a16:colId xmlns:a16="http://schemas.microsoft.com/office/drawing/2014/main" val="435873944"/>
                    </a:ext>
                  </a:extLst>
                </a:gridCol>
              </a:tblGrid>
              <a:tr h="3410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Training Intensity of the Player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53473043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93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56328325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99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64382351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110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00428079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110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563706509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111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39229963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115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20442266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116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600671739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117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769540913"/>
                  </a:ext>
                </a:extLst>
              </a:tr>
              <a:tr h="1182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122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73124208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122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50323444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123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429941299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128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80755073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128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69473598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129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21703895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134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11734595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135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80603570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135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85457805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142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274690093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148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54625386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155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76546576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0A8276-9AC2-4BFD-31EB-84E59C3D5C0C}"/>
              </a:ext>
            </a:extLst>
          </p:cNvPr>
          <p:cNvGraphicFramePr>
            <a:graphicFrameLocks noGrp="1"/>
          </p:cNvGraphicFramePr>
          <p:nvPr/>
        </p:nvGraphicFramePr>
        <p:xfrm>
          <a:off x="1326269" y="1114688"/>
          <a:ext cx="1458183" cy="3528184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486061">
                  <a:extLst>
                    <a:ext uri="{9D8B030D-6E8A-4147-A177-3AD203B41FA5}">
                      <a16:colId xmlns:a16="http://schemas.microsoft.com/office/drawing/2014/main" val="2500058025"/>
                    </a:ext>
                  </a:extLst>
                </a:gridCol>
                <a:gridCol w="486061">
                  <a:extLst>
                    <a:ext uri="{9D8B030D-6E8A-4147-A177-3AD203B41FA5}">
                      <a16:colId xmlns:a16="http://schemas.microsoft.com/office/drawing/2014/main" val="4064513157"/>
                    </a:ext>
                  </a:extLst>
                </a:gridCol>
                <a:gridCol w="486061">
                  <a:extLst>
                    <a:ext uri="{9D8B030D-6E8A-4147-A177-3AD203B41FA5}">
                      <a16:colId xmlns:a16="http://schemas.microsoft.com/office/drawing/2014/main" val="3520316447"/>
                    </a:ext>
                  </a:extLst>
                </a:gridCol>
              </a:tblGrid>
              <a:tr h="34100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effectLst/>
                        </a:rPr>
                        <a:t>Best Guess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effectLst/>
                        </a:rPr>
                        <a:t>Error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effectLst/>
                        </a:rPr>
                        <a:t>Squared Error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133814707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60.63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-3.63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13.18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20167692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60.63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-0.63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0.40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79692771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60.63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-2.63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6.92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901602568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60.63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1.37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1.88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82228430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60.63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-1.63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2.66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46995521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60.63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0.37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0.14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329218338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60.63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0.37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0.14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400836170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60.63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3.37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11.36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730075198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60.63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-0.63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0.40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86216463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60.63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1.37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1.88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56595041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60.63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2.37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5.62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70948638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65.56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-2.56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6.55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98658353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65.56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0.44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0.19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636060539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65.56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-0.56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0.31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3459708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65.56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-3.56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12.67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8086318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65.56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-1.56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2.43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38845566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65.56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1.44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2.07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78838457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65.56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2.44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5.95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14184251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65.56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0.44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0.19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498100299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65.56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3.44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11.83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63436939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776FA8C-0C5F-02E9-459A-FB080113C455}"/>
              </a:ext>
            </a:extLst>
          </p:cNvPr>
          <p:cNvSpPr txBox="1"/>
          <p:nvPr/>
        </p:nvSpPr>
        <p:spPr>
          <a:xfrm>
            <a:off x="1030225" y="4641739"/>
            <a:ext cx="20502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Sum of Squared Errors = </a:t>
            </a:r>
            <a:r>
              <a:rPr lang="en-US" sz="900" b="1" dirty="0">
                <a:solidFill>
                  <a:srgbClr val="FF0000"/>
                </a:solidFill>
              </a:rPr>
              <a:t>86.77</a:t>
            </a:r>
            <a:endParaRPr lang="en-IN" sz="900" b="1" dirty="0">
              <a:solidFill>
                <a:srgbClr val="FF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D2B322-5075-0DCF-8C26-F5F35FE9CDC5}"/>
              </a:ext>
            </a:extLst>
          </p:cNvPr>
          <p:cNvCxnSpPr>
            <a:cxnSpLocks/>
          </p:cNvCxnSpPr>
          <p:nvPr/>
        </p:nvCxnSpPr>
        <p:spPr>
          <a:xfrm>
            <a:off x="358336" y="3203838"/>
            <a:ext cx="44539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C8DE67C-CFEF-2CE4-230D-7101972E3EFD}"/>
              </a:ext>
            </a:extLst>
          </p:cNvPr>
          <p:cNvSpPr txBox="1"/>
          <p:nvPr/>
        </p:nvSpPr>
        <p:spPr>
          <a:xfrm>
            <a:off x="3543793" y="2680618"/>
            <a:ext cx="544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total error in prediction (Computed as Sum of Squared Errors) </a:t>
            </a:r>
            <a:r>
              <a:rPr lang="en-US" b="1" dirty="0">
                <a:solidFill>
                  <a:srgbClr val="FF0000"/>
                </a:solidFill>
              </a:rPr>
              <a:t>has reduced from 206.55 to 86.77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D8D0EC-B6E3-26E3-64D6-5D95EBB92BE1}"/>
              </a:ext>
            </a:extLst>
          </p:cNvPr>
          <p:cNvSpPr txBox="1"/>
          <p:nvPr/>
        </p:nvSpPr>
        <p:spPr>
          <a:xfrm>
            <a:off x="3980367" y="3282942"/>
            <a:ext cx="4572000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Problems of splitting data:</a:t>
            </a: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1: You are using lesser data for each group</a:t>
            </a: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2: You are Over-fitting, by a very complex model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8963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0"/>
          <p:cNvSpPr txBox="1">
            <a:spLocks noGrp="1"/>
          </p:cNvSpPr>
          <p:nvPr>
            <p:ph type="title"/>
          </p:nvPr>
        </p:nvSpPr>
        <p:spPr>
          <a:xfrm>
            <a:off x="195950" y="-79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Regression Intuition</a:t>
            </a:r>
            <a:endParaRPr/>
          </a:p>
        </p:txBody>
      </p:sp>
      <p:sp>
        <p:nvSpPr>
          <p:cNvPr id="430" name="Google Shape;430;p30"/>
          <p:cNvSpPr txBox="1"/>
          <p:nvPr/>
        </p:nvSpPr>
        <p:spPr>
          <a:xfrm>
            <a:off x="317000" y="896450"/>
            <a:ext cx="7101328" cy="136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Regression provides a </a:t>
            </a:r>
            <a:r>
              <a:rPr lang="en" sz="1800" b="1" i="1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equation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such as 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Batting Average (y) = b</a:t>
            </a:r>
            <a:r>
              <a:rPr lang="en" sz="1800" b="1" i="0" u="none" strike="noStrike" cap="none" baseline="-25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(Constant) + b</a:t>
            </a:r>
            <a:r>
              <a:rPr lang="en" sz="1800" b="1" i="0" u="none" strike="noStrike" cap="none" baseline="-25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Training Intensity(x)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estimate the value of strike rate for each observation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424;p29">
            <a:extLst>
              <a:ext uri="{FF2B5EF4-FFF2-40B4-BE49-F238E27FC236}">
                <a16:creationId xmlns:a16="http://schemas.microsoft.com/office/drawing/2014/main" id="{36FA1BDE-D3AB-E358-38DC-0BEBB0FACA71}"/>
              </a:ext>
            </a:extLst>
          </p:cNvPr>
          <p:cNvSpPr txBox="1"/>
          <p:nvPr/>
        </p:nvSpPr>
        <p:spPr>
          <a:xfrm>
            <a:off x="317000" y="2275688"/>
            <a:ext cx="6871316" cy="874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Regression is a parsimonious approach – One that uses data </a:t>
            </a:r>
            <a:r>
              <a:rPr lang="en" b="1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efficiently</a:t>
            </a:r>
            <a:r>
              <a:rPr lang="en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summarizing our expectations about the dependent variable (Batting Average in this case)</a:t>
            </a: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0891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9"/>
          <p:cNvSpPr txBox="1">
            <a:spLocks noGrp="1"/>
          </p:cNvSpPr>
          <p:nvPr>
            <p:ph type="title"/>
          </p:nvPr>
        </p:nvSpPr>
        <p:spPr>
          <a:xfrm>
            <a:off x="195950" y="-79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Regression Intuition</a:t>
            </a:r>
            <a:endParaRPr/>
          </a:p>
        </p:txBody>
      </p:sp>
      <p:sp>
        <p:nvSpPr>
          <p:cNvPr id="422" name="Google Shape;422;p29"/>
          <p:cNvSpPr txBox="1"/>
          <p:nvPr/>
        </p:nvSpPr>
        <p:spPr>
          <a:xfrm>
            <a:off x="89699" y="602525"/>
            <a:ext cx="8270529" cy="6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165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Supposing </a:t>
            </a:r>
            <a:r>
              <a:rPr lang="en-US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we had the training intensity of the players </a:t>
            </a:r>
            <a:r>
              <a:rPr lang="en-US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in addition to their batting averages as well</a:t>
            </a:r>
            <a:r>
              <a:rPr lang="en-US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A1EA27-EBE4-2C91-C93C-516081F41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996331"/>
              </p:ext>
            </p:extLst>
          </p:nvPr>
        </p:nvGraphicFramePr>
        <p:xfrm>
          <a:off x="195950" y="921817"/>
          <a:ext cx="2567875" cy="3803739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482887">
                  <a:extLst>
                    <a:ext uri="{9D8B030D-6E8A-4147-A177-3AD203B41FA5}">
                      <a16:colId xmlns:a16="http://schemas.microsoft.com/office/drawing/2014/main" val="1386953294"/>
                    </a:ext>
                  </a:extLst>
                </a:gridCol>
                <a:gridCol w="482887">
                  <a:extLst>
                    <a:ext uri="{9D8B030D-6E8A-4147-A177-3AD203B41FA5}">
                      <a16:colId xmlns:a16="http://schemas.microsoft.com/office/drawing/2014/main" val="1769919829"/>
                    </a:ext>
                  </a:extLst>
                </a:gridCol>
                <a:gridCol w="669561">
                  <a:extLst>
                    <a:ext uri="{9D8B030D-6E8A-4147-A177-3AD203B41FA5}">
                      <a16:colId xmlns:a16="http://schemas.microsoft.com/office/drawing/2014/main" val="3659544046"/>
                    </a:ext>
                  </a:extLst>
                </a:gridCol>
                <a:gridCol w="376695">
                  <a:extLst>
                    <a:ext uri="{9D8B030D-6E8A-4147-A177-3AD203B41FA5}">
                      <a16:colId xmlns:a16="http://schemas.microsoft.com/office/drawing/2014/main" val="1053158560"/>
                    </a:ext>
                  </a:extLst>
                </a:gridCol>
                <a:gridCol w="555845">
                  <a:extLst>
                    <a:ext uri="{9D8B030D-6E8A-4147-A177-3AD203B41FA5}">
                      <a16:colId xmlns:a16="http://schemas.microsoft.com/office/drawing/2014/main" val="3707166888"/>
                    </a:ext>
                  </a:extLst>
                </a:gridCol>
              </a:tblGrid>
              <a:tr h="3410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Training Intensity of the Player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Batting Average of Player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effectLst/>
                        </a:rPr>
                        <a:t>Regression Estimate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effectLst/>
                        </a:rPr>
                        <a:t>Error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>
                          <a:effectLst/>
                        </a:rPr>
                        <a:t>Squared Error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9" marR="6959" marT="6959" marB="0" anchor="ctr"/>
                </a:tc>
                <a:extLst>
                  <a:ext uri="{0D108BD9-81ED-4DB2-BD59-A6C34878D82A}">
                    <a16:rowId xmlns:a16="http://schemas.microsoft.com/office/drawing/2014/main" val="334404282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 dirty="0">
                          <a:effectLst/>
                        </a:rPr>
                        <a:t>93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57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57.2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-0.2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0.05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414930383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99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60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58.3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1.7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2.78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81748775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110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58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60.4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-2.4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5.53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270151985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110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60.4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1.6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2.72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37426129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111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59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60.5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-1.5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2.36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818526153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115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61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61.3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-0.3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0.07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78058930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116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61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61.5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-0.5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0.20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77544849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117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61.6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2.4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5.59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3259174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122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60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62.6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-2.6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6.52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438614729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122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62.6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-0.6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0.31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97077868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123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62.7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0.3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0.07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42767022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128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63.7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-0.7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0.43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74965661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128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63.7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2.3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5.50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56823350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129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63.8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1.2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1.35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78111755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134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64.8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-2.8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7.60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414691920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135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64.9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-0.9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0.88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035998034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135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64.9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2.1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4.24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1349616471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142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66.2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1.8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3.15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3492408556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148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67.3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-1.3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1.76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2659015762"/>
                  </a:ext>
                </a:extLst>
              </a:tr>
              <a:tr h="146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155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u="none" strike="noStrike">
                          <a:effectLst/>
                        </a:rPr>
                        <a:t>69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68.6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>
                          <a:effectLst/>
                        </a:rPr>
                        <a:t>0.4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u="none" strike="noStrike" dirty="0">
                          <a:effectLst/>
                        </a:rPr>
                        <a:t>0.15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59" marR="6959" marT="6959" marB="0" anchor="b"/>
                </a:tc>
                <a:extLst>
                  <a:ext uri="{0D108BD9-81ED-4DB2-BD59-A6C34878D82A}">
                    <a16:rowId xmlns:a16="http://schemas.microsoft.com/office/drawing/2014/main" val="4512978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C46DC7A-85D4-4EBA-D2B8-065AE3C83A06}"/>
              </a:ext>
            </a:extLst>
          </p:cNvPr>
          <p:cNvSpPr txBox="1"/>
          <p:nvPr/>
        </p:nvSpPr>
        <p:spPr>
          <a:xfrm>
            <a:off x="803343" y="4669994"/>
            <a:ext cx="20502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Sum of Squared Errors = </a:t>
            </a:r>
            <a:r>
              <a:rPr lang="en-US" sz="900" b="1" dirty="0">
                <a:solidFill>
                  <a:srgbClr val="FF0000"/>
                </a:solidFill>
              </a:rPr>
              <a:t>51.26</a:t>
            </a:r>
            <a:endParaRPr lang="en-IN" sz="9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3E94B-758D-FC84-2627-35A59DD8C652}"/>
              </a:ext>
            </a:extLst>
          </p:cNvPr>
          <p:cNvSpPr txBox="1"/>
          <p:nvPr/>
        </p:nvSpPr>
        <p:spPr>
          <a:xfrm>
            <a:off x="3179773" y="906875"/>
            <a:ext cx="5091078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If we use an equation such as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Batting Average (y) = 40.16+ 0.1835 * </a:t>
            </a:r>
            <a:r>
              <a:rPr lang="en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Training Intensity</a:t>
            </a: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(x)</a:t>
            </a:r>
            <a:endParaRPr lang="en-US"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0A3DCB-695F-6055-9070-D237337BB29F}"/>
              </a:ext>
            </a:extLst>
          </p:cNvPr>
          <p:cNvSpPr txBox="1"/>
          <p:nvPr/>
        </p:nvSpPr>
        <p:spPr>
          <a:xfrm>
            <a:off x="3179773" y="2040899"/>
            <a:ext cx="5902350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If training intensity for a batsman is </a:t>
            </a:r>
            <a:r>
              <a:rPr lang="en-US" sz="1400" b="1" i="0" u="none" strike="noStrike" cap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115</a:t>
            </a: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then his regression predicted Batting Average = 40.16+ 0.1835 * </a:t>
            </a:r>
            <a:r>
              <a:rPr lang="en-US" sz="1400" b="1" i="0" u="none" strike="noStrike" cap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115 </a:t>
            </a:r>
            <a:r>
              <a:rPr lang="en-US" sz="14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= 61.3</a:t>
            </a:r>
            <a:endParaRPr lang="en-US"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429908-D3EB-C662-6CDF-117DCA07FC8A}"/>
              </a:ext>
            </a:extLst>
          </p:cNvPr>
          <p:cNvSpPr/>
          <p:nvPr/>
        </p:nvSpPr>
        <p:spPr>
          <a:xfrm>
            <a:off x="254382" y="2330689"/>
            <a:ext cx="330009" cy="1718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AD75BE0-8718-F428-0CF7-28822790FFD4}"/>
              </a:ext>
            </a:extLst>
          </p:cNvPr>
          <p:cNvSpPr/>
          <p:nvPr/>
        </p:nvSpPr>
        <p:spPr>
          <a:xfrm>
            <a:off x="1564677" y="2330688"/>
            <a:ext cx="328863" cy="2211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A481B9-D351-3517-55C6-C8EEA37EA2A8}"/>
              </a:ext>
            </a:extLst>
          </p:cNvPr>
          <p:cNvSpPr txBox="1"/>
          <p:nvPr/>
        </p:nvSpPr>
        <p:spPr>
          <a:xfrm>
            <a:off x="3179773" y="3856980"/>
            <a:ext cx="48366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the original total error of </a:t>
            </a:r>
            <a:r>
              <a:rPr lang="en-US" b="1" dirty="0">
                <a:solidFill>
                  <a:srgbClr val="FF0000"/>
                </a:solidFill>
              </a:rPr>
              <a:t>206.55</a:t>
            </a:r>
            <a:r>
              <a:rPr lang="en-US" dirty="0"/>
              <a:t>, we have now reduced the error to </a:t>
            </a:r>
            <a:r>
              <a:rPr lang="en-US" b="1" dirty="0">
                <a:solidFill>
                  <a:srgbClr val="FF0000"/>
                </a:solidFill>
              </a:rPr>
              <a:t>51.26</a:t>
            </a:r>
            <a:r>
              <a:rPr lang="en-US" dirty="0"/>
              <a:t> using a </a:t>
            </a:r>
            <a:r>
              <a:rPr lang="en-US" b="1" dirty="0">
                <a:solidFill>
                  <a:srgbClr val="FF0000"/>
                </a:solidFill>
              </a:rPr>
              <a:t>regression equation </a:t>
            </a:r>
            <a:r>
              <a:rPr lang="en-US" dirty="0"/>
              <a:t>for prediction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794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1"/>
          <p:cNvSpPr txBox="1">
            <a:spLocks noGrp="1"/>
          </p:cNvSpPr>
          <p:nvPr>
            <p:ph type="title"/>
          </p:nvPr>
        </p:nvSpPr>
        <p:spPr>
          <a:xfrm>
            <a:off x="195950" y="-79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Regression Intuition</a:t>
            </a:r>
            <a:endParaRPr/>
          </a:p>
        </p:txBody>
      </p:sp>
      <p:sp>
        <p:nvSpPr>
          <p:cNvPr id="437" name="Google Shape;437;p31"/>
          <p:cNvSpPr txBox="1"/>
          <p:nvPr/>
        </p:nvSpPr>
        <p:spPr>
          <a:xfrm>
            <a:off x="2963851" y="1525675"/>
            <a:ext cx="1153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 of uncertainty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206.55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1"/>
          <p:cNvSpPr txBox="1"/>
          <p:nvPr/>
        </p:nvSpPr>
        <p:spPr>
          <a:xfrm>
            <a:off x="2990677" y="3426875"/>
            <a:ext cx="1126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 of uncertainty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51.26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" name="Google Shape;440;p31"/>
          <p:cNvCxnSpPr>
            <a:cxnSpLocks/>
          </p:cNvCxnSpPr>
          <p:nvPr/>
        </p:nvCxnSpPr>
        <p:spPr>
          <a:xfrm>
            <a:off x="673196" y="1654387"/>
            <a:ext cx="1746298" cy="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1" name="Google Shape;441;p31"/>
          <p:cNvCxnSpPr>
            <a:cxnSpLocks/>
          </p:cNvCxnSpPr>
          <p:nvPr/>
        </p:nvCxnSpPr>
        <p:spPr>
          <a:xfrm flipV="1">
            <a:off x="1384200" y="3517101"/>
            <a:ext cx="1097742" cy="600279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3" name="Google Shape;443;p31"/>
          <p:cNvSpPr txBox="1"/>
          <p:nvPr/>
        </p:nvSpPr>
        <p:spPr>
          <a:xfrm>
            <a:off x="227450" y="645850"/>
            <a:ext cx="4177800" cy="2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5" name="Google Shape;445;p31"/>
          <p:cNvSpPr txBox="1"/>
          <p:nvPr/>
        </p:nvSpPr>
        <p:spPr>
          <a:xfrm>
            <a:off x="4922751" y="1525667"/>
            <a:ext cx="1270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 of uncertainty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86.77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p31"/>
          <p:cNvCxnSpPr>
            <a:cxnSpLocks/>
          </p:cNvCxnSpPr>
          <p:nvPr/>
        </p:nvCxnSpPr>
        <p:spPr>
          <a:xfrm>
            <a:off x="7766897" y="1402538"/>
            <a:ext cx="0" cy="862029"/>
          </a:xfrm>
          <a:prstGeom prst="straightConnector1">
            <a:avLst/>
          </a:prstGeom>
          <a:noFill/>
          <a:ln w="28575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7" name="Google Shape;447;p31"/>
          <p:cNvCxnSpPr>
            <a:cxnSpLocks/>
          </p:cNvCxnSpPr>
          <p:nvPr/>
        </p:nvCxnSpPr>
        <p:spPr>
          <a:xfrm>
            <a:off x="7766897" y="1681484"/>
            <a:ext cx="737711" cy="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8" name="Google Shape;448;p31"/>
          <p:cNvCxnSpPr>
            <a:cxnSpLocks/>
          </p:cNvCxnSpPr>
          <p:nvPr/>
        </p:nvCxnSpPr>
        <p:spPr>
          <a:xfrm flipV="1">
            <a:off x="6459734" y="1778288"/>
            <a:ext cx="1197556" cy="6869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9" name="Google Shape;449;p31"/>
          <p:cNvSpPr txBox="1"/>
          <p:nvPr/>
        </p:nvSpPr>
        <p:spPr>
          <a:xfrm flipH="1">
            <a:off x="137936" y="2750613"/>
            <a:ext cx="4023228" cy="2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   Batting Average (y) as a function of </a:t>
            </a:r>
            <a:r>
              <a:rPr lang="en" sz="1100" dirty="0">
                <a:latin typeface="Gill Sans"/>
                <a:ea typeface="Gill Sans"/>
                <a:cs typeface="Gill Sans"/>
                <a:sym typeface="Gill Sans"/>
              </a:rPr>
              <a:t>Training Intensity</a:t>
            </a:r>
            <a:r>
              <a:rPr lang="en" sz="1100" b="0" i="0" u="none" strike="noStrike" cap="none" dirty="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(x)</a:t>
            </a:r>
            <a:endParaRPr sz="1100" b="0" i="0" u="none" strike="noStrike" cap="none" dirty="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0" name="Google Shape;450;p31"/>
          <p:cNvSpPr txBox="1"/>
          <p:nvPr/>
        </p:nvSpPr>
        <p:spPr>
          <a:xfrm>
            <a:off x="4342679" y="3727901"/>
            <a:ext cx="4645073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objective of the regression algorithm is to choose the values of </a:t>
            </a:r>
            <a:r>
              <a:rPr lang="en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" b="1" i="0" u="none" strike="noStrike" cap="none" baseline="-25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and b</a:t>
            </a:r>
            <a:r>
              <a:rPr lang="en" b="1" i="0" u="none" strike="noStrike" cap="none" baseline="-25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in such a way so that the Sum of Squared Errors are minimized</a:t>
            </a:r>
            <a:r>
              <a:rPr lang="en" i="0" u="none" strike="noStrike" cap="none" baseline="-250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FA6C8D2-F94E-41CB-AEF4-7FA6976FD634}"/>
              </a:ext>
            </a:extLst>
          </p:cNvPr>
          <p:cNvGraphicFramePr>
            <a:graphicFrameLocks/>
          </p:cNvGraphicFramePr>
          <p:nvPr/>
        </p:nvGraphicFramePr>
        <p:xfrm>
          <a:off x="345327" y="958700"/>
          <a:ext cx="2311944" cy="14496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FA6C8D2-F94E-41CB-AEF4-7FA6976FD634}"/>
              </a:ext>
            </a:extLst>
          </p:cNvPr>
          <p:cNvGraphicFramePr>
            <a:graphicFrameLocks/>
          </p:cNvGraphicFramePr>
          <p:nvPr/>
        </p:nvGraphicFramePr>
        <p:xfrm>
          <a:off x="416612" y="3019414"/>
          <a:ext cx="2533425" cy="1595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FA6C8D2-F94E-41CB-AEF4-7FA6976FD634}"/>
              </a:ext>
            </a:extLst>
          </p:cNvPr>
          <p:cNvGraphicFramePr>
            <a:graphicFrameLocks/>
          </p:cNvGraphicFramePr>
          <p:nvPr/>
        </p:nvGraphicFramePr>
        <p:xfrm>
          <a:off x="6132225" y="1003290"/>
          <a:ext cx="2617089" cy="1573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30F9044-C8CE-8E3C-AF1A-37DF30D83FDC}"/>
              </a:ext>
            </a:extLst>
          </p:cNvPr>
          <p:cNvSpPr txBox="1"/>
          <p:nvPr/>
        </p:nvSpPr>
        <p:spPr>
          <a:xfrm>
            <a:off x="4310743" y="2728724"/>
            <a:ext cx="483325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Now, How did we get an equation like:</a:t>
            </a:r>
          </a:p>
          <a:p>
            <a:r>
              <a:rPr lang="en-US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Batting Average (y) = </a:t>
            </a:r>
            <a:r>
              <a:rPr lang="en-US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40.16</a:t>
            </a:r>
            <a:r>
              <a:rPr lang="en-US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0.18</a:t>
            </a:r>
            <a:r>
              <a:rPr lang="en-US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lang="en" b="1" dirty="0">
                <a:solidFill>
                  <a:srgbClr val="FF0000"/>
                </a:solidFill>
              </a:rPr>
              <a:t>Training Intensity</a:t>
            </a:r>
            <a:r>
              <a:rPr lang="en-US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SzPts val="2000"/>
            </a:pPr>
            <a:r>
              <a:rPr lang="en-US" sz="12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Batting Average (y) = 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200" b="1" i="0" u="none" strike="noStrike" cap="none" baseline="-250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(Constant) + 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200" b="1" i="0" u="none" strike="noStrike" cap="none" baseline="-250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lang="en" sz="1200" b="1" dirty="0">
                <a:solidFill>
                  <a:srgbClr val="FF0000"/>
                </a:solidFill>
              </a:rPr>
              <a:t>Training Intensity</a:t>
            </a:r>
            <a:r>
              <a:rPr lang="en-US" sz="12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(x)</a:t>
            </a:r>
            <a:endParaRPr lang="en-US" sz="1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28A7993-E525-4AA9-5FFE-CDC991D0F80B}"/>
              </a:ext>
            </a:extLst>
          </p:cNvPr>
          <p:cNvSpPr/>
          <p:nvPr/>
        </p:nvSpPr>
        <p:spPr>
          <a:xfrm>
            <a:off x="3138108" y="1961155"/>
            <a:ext cx="715020" cy="3034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A7252E7-BF41-D110-197F-1FCB2C9A78F7}"/>
              </a:ext>
            </a:extLst>
          </p:cNvPr>
          <p:cNvSpPr/>
          <p:nvPr/>
        </p:nvSpPr>
        <p:spPr>
          <a:xfrm>
            <a:off x="3160933" y="3883253"/>
            <a:ext cx="669370" cy="28252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Google Shape;449;p31">
            <a:extLst>
              <a:ext uri="{FF2B5EF4-FFF2-40B4-BE49-F238E27FC236}">
                <a16:creationId xmlns:a16="http://schemas.microsoft.com/office/drawing/2014/main" id="{E6CBFD55-E1A1-670D-5A17-CBF6F252F6B5}"/>
              </a:ext>
            </a:extLst>
          </p:cNvPr>
          <p:cNvSpPr txBox="1"/>
          <p:nvPr/>
        </p:nvSpPr>
        <p:spPr>
          <a:xfrm>
            <a:off x="5669769" y="780250"/>
            <a:ext cx="3541999" cy="2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   Batting Average (y) as a function of </a:t>
            </a:r>
            <a:r>
              <a:rPr lang="en" sz="1100" dirty="0">
                <a:latin typeface="Gill Sans"/>
                <a:ea typeface="Gill Sans"/>
                <a:cs typeface="Gill Sans"/>
                <a:sym typeface="Gill Sans"/>
              </a:rPr>
              <a:t>Training Intensity</a:t>
            </a:r>
            <a:r>
              <a:rPr lang="en" sz="1100" b="0" i="0" u="none" strike="noStrike" cap="none" dirty="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(x)</a:t>
            </a:r>
            <a:endParaRPr sz="1100" b="0" i="0" u="none" strike="noStrike" cap="none" dirty="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62582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" grpId="0"/>
      <p:bldP spid="3" grpId="0" animBg="1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2"/>
          <p:cNvSpPr txBox="1">
            <a:spLocks noGrp="1"/>
          </p:cNvSpPr>
          <p:nvPr>
            <p:ph type="title"/>
          </p:nvPr>
        </p:nvSpPr>
        <p:spPr>
          <a:xfrm>
            <a:off x="195950" y="-79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Regression Intuition</a:t>
            </a:r>
            <a:endParaRPr/>
          </a:p>
        </p:txBody>
      </p:sp>
      <p:sp>
        <p:nvSpPr>
          <p:cNvPr id="457" name="Google Shape;457;p32"/>
          <p:cNvSpPr txBox="1"/>
          <p:nvPr/>
        </p:nvSpPr>
        <p:spPr>
          <a:xfrm>
            <a:off x="5834467" y="1518749"/>
            <a:ext cx="3393178" cy="2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Batting Average(y) as a function of Training Intensity(x)</a:t>
            </a:r>
            <a:endParaRPr sz="1100" b="0" i="0" u="none" strike="noStrike" cap="none" dirty="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8" name="Google Shape;458;p32"/>
          <p:cNvSpPr txBox="1"/>
          <p:nvPr/>
        </p:nvSpPr>
        <p:spPr>
          <a:xfrm>
            <a:off x="79372" y="723073"/>
            <a:ext cx="5987496" cy="53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" sz="15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Batting Average (y) = b</a:t>
            </a:r>
            <a:r>
              <a:rPr lang="en" sz="1500" b="1" i="0" u="none" strike="noStrike" cap="none" baseline="-25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" sz="15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(Constant) + b</a:t>
            </a:r>
            <a:r>
              <a:rPr lang="en" sz="1500" b="1" i="0" u="none" strike="noStrike" cap="none" baseline="-25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5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lang="en" sz="16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Training Intensity</a:t>
            </a:r>
            <a:r>
              <a:rPr lang="en" sz="15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(x)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>
              <a:lnSpc>
                <a:spcPct val="90000"/>
              </a:lnSpc>
              <a:spcBef>
                <a:spcPts val="1000"/>
              </a:spcBef>
              <a:buSzPts val="1800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objective of the regression algorithm is to choose the values of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800" b="1" i="0" u="none" strike="noStrike" cap="none" baseline="-25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and b</a:t>
            </a:r>
            <a:r>
              <a:rPr lang="en-US" sz="1800" b="1" i="0" u="none" strike="noStrike" cap="none" baseline="-25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such a manner, so as to reduce the uncertainty (measured by the sum of squared errors of the regression estimates) to the lowest possible value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Least Squares Estimators (OLS) is one method to arrive at the optimum values for model parameters </a:t>
            </a:r>
            <a:r>
              <a:rPr lang="en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" sz="1800" b="1" i="0" u="none" strike="noStrike" cap="none" baseline="-25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and b</a:t>
            </a:r>
            <a:r>
              <a:rPr lang="en" sz="1800" b="1" i="0" u="none" strike="noStrike" cap="none" baseline="-25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Making certain assumptions about the data, and variables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C67A0F-4989-62C2-2064-831A53A22FA1}"/>
              </a:ext>
            </a:extLst>
          </p:cNvPr>
          <p:cNvGraphicFramePr>
            <a:graphicFrameLocks/>
          </p:cNvGraphicFramePr>
          <p:nvPr/>
        </p:nvGraphicFramePr>
        <p:xfrm>
          <a:off x="6129892" y="1787549"/>
          <a:ext cx="2952230" cy="2325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A6E27B-2DF0-C5B4-7783-E9045129A56F}"/>
              </a:ext>
            </a:extLst>
          </p:cNvPr>
          <p:cNvCxnSpPr/>
          <p:nvPr/>
        </p:nvCxnSpPr>
        <p:spPr>
          <a:xfrm flipV="1">
            <a:off x="7468035" y="2330688"/>
            <a:ext cx="1010652" cy="7768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46C8B7-9088-D678-58CC-DE9323B49A1E}"/>
              </a:ext>
            </a:extLst>
          </p:cNvPr>
          <p:cNvCxnSpPr>
            <a:cxnSpLocks/>
          </p:cNvCxnSpPr>
          <p:nvPr/>
        </p:nvCxnSpPr>
        <p:spPr>
          <a:xfrm flipV="1">
            <a:off x="7398480" y="2469129"/>
            <a:ext cx="1149761" cy="500013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512D069-7B5B-B0F6-C1F9-C049C1931CB1}"/>
              </a:ext>
            </a:extLst>
          </p:cNvPr>
          <p:cNvCxnSpPr>
            <a:cxnSpLocks/>
          </p:cNvCxnSpPr>
          <p:nvPr/>
        </p:nvCxnSpPr>
        <p:spPr>
          <a:xfrm flipV="1">
            <a:off x="7531056" y="2229851"/>
            <a:ext cx="884607" cy="978568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6220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3"/>
          <p:cNvSpPr txBox="1">
            <a:spLocks noGrp="1"/>
          </p:cNvSpPr>
          <p:nvPr>
            <p:ph type="title"/>
          </p:nvPr>
        </p:nvSpPr>
        <p:spPr>
          <a:xfrm>
            <a:off x="195950" y="68247"/>
            <a:ext cx="8865548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00000"/>
              <a:buFont typeface="Gill Sans"/>
              <a:buNone/>
            </a:pPr>
            <a:r>
              <a:rPr lang="en" sz="2800" dirty="0"/>
              <a:t>Regression Intuition - How good is our Model?</a:t>
            </a:r>
            <a:endParaRPr sz="2800" dirty="0"/>
          </a:p>
        </p:txBody>
      </p:sp>
      <p:sp>
        <p:nvSpPr>
          <p:cNvPr id="464" name="Google Shape;464;p33"/>
          <p:cNvSpPr txBox="1"/>
          <p:nvPr/>
        </p:nvSpPr>
        <p:spPr>
          <a:xfrm>
            <a:off x="161969" y="602933"/>
            <a:ext cx="4829655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Batting Average (y) = 40.16+ 0.18 * </a:t>
            </a:r>
            <a:r>
              <a:rPr lang="en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Training Intensity</a:t>
            </a: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(x)</a:t>
            </a:r>
            <a:endParaRPr lang="en-US"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3"/>
          <p:cNvSpPr txBox="1"/>
          <p:nvPr/>
        </p:nvSpPr>
        <p:spPr>
          <a:xfrm>
            <a:off x="3170472" y="1456847"/>
            <a:ext cx="102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 of Squares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" sz="12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206.55</a:t>
            </a:r>
            <a:endParaRPr sz="12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p33"/>
          <p:cNvCxnSpPr>
            <a:cxnSpLocks/>
          </p:cNvCxnSpPr>
          <p:nvPr/>
        </p:nvCxnSpPr>
        <p:spPr>
          <a:xfrm>
            <a:off x="1147903" y="1741801"/>
            <a:ext cx="1767275" cy="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69" name="Google Shape;469;p33"/>
          <p:cNvSpPr txBox="1"/>
          <p:nvPr/>
        </p:nvSpPr>
        <p:spPr>
          <a:xfrm>
            <a:off x="7391159" y="1475295"/>
            <a:ext cx="809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 of Squares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" sz="12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51.26</a:t>
            </a:r>
            <a:endParaRPr sz="12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0" name="Google Shape;470;p33"/>
          <p:cNvCxnSpPr>
            <a:cxnSpLocks/>
          </p:cNvCxnSpPr>
          <p:nvPr/>
        </p:nvCxnSpPr>
        <p:spPr>
          <a:xfrm flipV="1">
            <a:off x="5911731" y="1545998"/>
            <a:ext cx="1181369" cy="505094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2" name="Google Shape;472;p33"/>
          <p:cNvSpPr txBox="1"/>
          <p:nvPr/>
        </p:nvSpPr>
        <p:spPr>
          <a:xfrm>
            <a:off x="4572000" y="714673"/>
            <a:ext cx="2708106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                 Regression of Batting Average</a:t>
            </a:r>
            <a:endParaRPr sz="1100" b="0" i="0" u="none" strike="noStrike" cap="none" dirty="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3" name="Google Shape;473;p33"/>
          <p:cNvSpPr txBox="1"/>
          <p:nvPr/>
        </p:nvSpPr>
        <p:spPr>
          <a:xfrm>
            <a:off x="53619" y="3283652"/>
            <a:ext cx="8478489" cy="12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measure of Goodness of fit of the model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measures the amount of variance in an output variable explained by using an variable and regression.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higher the R</a:t>
            </a:r>
            <a:r>
              <a:rPr lang="en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the greater the explanatory power of the model.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8E2A6AA-9814-5AEC-6847-9C9604431565}"/>
              </a:ext>
            </a:extLst>
          </p:cNvPr>
          <p:cNvGraphicFramePr>
            <a:graphicFrameLocks/>
          </p:cNvGraphicFramePr>
          <p:nvPr/>
        </p:nvGraphicFramePr>
        <p:xfrm>
          <a:off x="858528" y="1018391"/>
          <a:ext cx="2311944" cy="14496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2473E81-D298-B86E-1501-94A51463C158}"/>
              </a:ext>
            </a:extLst>
          </p:cNvPr>
          <p:cNvGraphicFramePr>
            <a:graphicFrameLocks/>
          </p:cNvGraphicFramePr>
          <p:nvPr/>
        </p:nvGraphicFramePr>
        <p:xfrm>
          <a:off x="4991625" y="1093694"/>
          <a:ext cx="2437173" cy="14665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FCD20A-0AFA-DD76-0669-EED508B0CFC3}"/>
                  </a:ext>
                </a:extLst>
              </p:cNvPr>
              <p:cNvSpPr txBox="1"/>
              <p:nvPr/>
            </p:nvSpPr>
            <p:spPr>
              <a:xfrm>
                <a:off x="550016" y="2618252"/>
                <a:ext cx="4572000" cy="445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latin typeface="Gill Sans MT" panose="020B0502020104020203" pitchFamily="34" charset="0"/>
                  </a:rPr>
                  <a:t>R</a:t>
                </a:r>
                <a:r>
                  <a:rPr lang="en-US" sz="1600" baseline="30000" dirty="0">
                    <a:latin typeface="Gill Sans MT" panose="020B0502020104020203" pitchFamily="34" charset="0"/>
                  </a:rPr>
                  <a:t>2</a:t>
                </a:r>
                <a:r>
                  <a:rPr lang="en-US" sz="16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206.55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51.26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06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.55</m:t>
                        </m:r>
                      </m:den>
                    </m:f>
                  </m:oMath>
                </a14:m>
                <a:r>
                  <a:rPr lang="en-US" sz="1600" dirty="0"/>
                  <a:t> = </a:t>
                </a:r>
                <a:r>
                  <a:rPr lang="en-US" sz="1600" dirty="0">
                    <a:latin typeface="Gill Sans MT" panose="020B0502020104020203" pitchFamily="34" charset="0"/>
                  </a:rPr>
                  <a:t>0.752</a:t>
                </a:r>
                <a:r>
                  <a:rPr lang="en-US" sz="1600" dirty="0"/>
                  <a:t> </a:t>
                </a:r>
                <a:endParaRPr lang="en-IN" sz="16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FCD20A-0AFA-DD76-0669-EED508B0C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16" y="2618252"/>
                <a:ext cx="4572000" cy="445571"/>
              </a:xfrm>
              <a:prstGeom prst="rect">
                <a:avLst/>
              </a:prstGeom>
              <a:blipFill>
                <a:blip r:embed="rId5"/>
                <a:stretch>
                  <a:fillRect l="-667" b="-41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2531C14-9104-8F2D-3B65-010E0FE91CFC}"/>
              </a:ext>
            </a:extLst>
          </p:cNvPr>
          <p:cNvGraphicFramePr>
            <a:graphicFrameLocks noGrp="1"/>
          </p:cNvGraphicFramePr>
          <p:nvPr/>
        </p:nvGraphicFramePr>
        <p:xfrm>
          <a:off x="6656103" y="2503396"/>
          <a:ext cx="1879600" cy="1152525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1268969">
                  <a:extLst>
                    <a:ext uri="{9D8B030D-6E8A-4147-A177-3AD203B41FA5}">
                      <a16:colId xmlns:a16="http://schemas.microsoft.com/office/drawing/2014/main" val="2857158061"/>
                    </a:ext>
                  </a:extLst>
                </a:gridCol>
                <a:gridCol w="610631">
                  <a:extLst>
                    <a:ext uri="{9D8B030D-6E8A-4147-A177-3AD203B41FA5}">
                      <a16:colId xmlns:a16="http://schemas.microsoft.com/office/drawing/2014/main" val="1820712625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Regression Statistics</a:t>
                      </a:r>
                      <a:endParaRPr lang="en-IN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9071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Multiple 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0.867072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4050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R Square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0.751815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313557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Adjusted R Square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0.738027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196745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Standard Error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1.68758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0060676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Observations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20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87227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027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4"/>
          <p:cNvSpPr txBox="1">
            <a:spLocks noGrp="1"/>
          </p:cNvSpPr>
          <p:nvPr>
            <p:ph type="title"/>
          </p:nvPr>
        </p:nvSpPr>
        <p:spPr>
          <a:xfrm>
            <a:off x="119750" y="144450"/>
            <a:ext cx="67893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970"/>
              <a:buFont typeface="Gill Sans"/>
              <a:buNone/>
            </a:pPr>
            <a:r>
              <a:rPr lang="en" sz="2970"/>
              <a:t>Regression Intuition - How good is our Model?</a:t>
            </a:r>
            <a:endParaRPr sz="2970"/>
          </a:p>
        </p:txBody>
      </p:sp>
      <p:graphicFrame>
        <p:nvGraphicFramePr>
          <p:cNvPr id="479" name="Google Shape;479;p34"/>
          <p:cNvGraphicFramePr/>
          <p:nvPr>
            <p:extLst>
              <p:ext uri="{D42A27DB-BD31-4B8C-83A1-F6EECF244321}">
                <p14:modId xmlns:p14="http://schemas.microsoft.com/office/powerpoint/2010/main" val="443607367"/>
              </p:ext>
            </p:extLst>
          </p:nvPr>
        </p:nvGraphicFramePr>
        <p:xfrm>
          <a:off x="389080" y="1665485"/>
          <a:ext cx="2847975" cy="3000585"/>
        </p:xfrm>
        <a:graphic>
          <a:graphicData uri="http://schemas.openxmlformats.org/drawingml/2006/table">
            <a:tbl>
              <a:tblPr>
                <a:noFill/>
                <a:tableStyleId>{C6F916E4-D75B-46A1-92C1-0E86CC84C86C}</a:tableStyleId>
              </a:tblPr>
              <a:tblGrid>
                <a:gridCol w="103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Intensity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Batting average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# of Cousins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93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57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58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99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111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59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115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61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122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62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116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61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122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62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128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63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134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62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117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123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63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129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65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135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128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66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135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67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148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66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142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68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155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69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25" marR="5725" marT="5725" marB="0" anchor="b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480" name="Google Shape;480;p34"/>
          <p:cNvSpPr txBox="1"/>
          <p:nvPr/>
        </p:nvSpPr>
        <p:spPr>
          <a:xfrm>
            <a:off x="275025" y="959425"/>
            <a:ext cx="7421400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lang="en-IN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Problem with R</a:t>
            </a:r>
            <a:r>
              <a:rPr lang="en-IN" sz="1800" b="1" i="0" u="none" strike="noStrike" cap="none" baseline="30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IN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 lang="en-IN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lang="en-IN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4"/>
          <p:cNvSpPr txBox="1"/>
          <p:nvPr/>
        </p:nvSpPr>
        <p:spPr>
          <a:xfrm>
            <a:off x="3329625" y="1442275"/>
            <a:ext cx="5284986" cy="3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sz="1800" b="1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will increase, whenever you add another independent variable, however meaningless it could be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 Example: Batting Average (y) = b</a:t>
            </a:r>
            <a:r>
              <a:rPr lang="en" sz="1600" b="1" i="0" u="none" strike="noStrike" cap="none" baseline="-25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" sz="16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(Constant) + b</a:t>
            </a:r>
            <a:r>
              <a:rPr lang="en" sz="1600" b="1" i="0" u="none" strike="noStrike" cap="none" baseline="-25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6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Training Intensity(x</a:t>
            </a:r>
            <a:r>
              <a:rPr lang="en" sz="1600" b="1" i="0" u="none" strike="noStrike" cap="none" baseline="-25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6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 + b</a:t>
            </a:r>
            <a:r>
              <a:rPr lang="en" sz="1600" b="1" i="0" u="none" strike="noStrike" cap="none" baseline="-25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6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Number Cousins (x</a:t>
            </a:r>
            <a:r>
              <a:rPr lang="en" sz="1600" b="1" i="0" u="none" strike="noStrike" cap="none" baseline="-25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6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Batting Average (y) = 37.67 + 0.185 * Training Intensity(x</a:t>
            </a:r>
            <a:r>
              <a:rPr lang="en" sz="1600" b="1" i="0" u="none" strike="noStrike" cap="none" baseline="-25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6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 + 0.281 * Number of Cousins (x</a:t>
            </a:r>
            <a:r>
              <a:rPr lang="en" sz="1600" b="1" i="0" u="none" strike="noStrike" cap="none" baseline="-25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6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8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sz="18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=0.757  as compared to a R</a:t>
            </a:r>
            <a:r>
              <a:rPr lang="en" sz="18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 0.752 in the first model 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81499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"/>
          <p:cNvSpPr txBox="1">
            <a:spLocks noGrp="1"/>
          </p:cNvSpPr>
          <p:nvPr>
            <p:ph type="title"/>
          </p:nvPr>
        </p:nvSpPr>
        <p:spPr>
          <a:xfrm>
            <a:off x="119750" y="144447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00000"/>
              <a:buFont typeface="Gill Sans"/>
              <a:buNone/>
            </a:pPr>
            <a:r>
              <a:rPr lang="en" sz="2400" dirty="0"/>
              <a:t>Regression Intuition - How good is our Model?</a:t>
            </a:r>
            <a:endParaRPr sz="2400" dirty="0"/>
          </a:p>
        </p:txBody>
      </p:sp>
      <p:sp>
        <p:nvSpPr>
          <p:cNvPr id="487" name="Google Shape;487;p35"/>
          <p:cNvSpPr txBox="1"/>
          <p:nvPr/>
        </p:nvSpPr>
        <p:spPr>
          <a:xfrm>
            <a:off x="75650" y="569955"/>
            <a:ext cx="7930800" cy="300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 of Adjusted R</a:t>
            </a:r>
            <a:r>
              <a:rPr lang="en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 way to penalize additions of variables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Adjusted R</a:t>
            </a:r>
            <a:r>
              <a:rPr lang="en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=0.737 as compared to 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Adjusted R</a:t>
            </a:r>
            <a:r>
              <a:rPr lang="en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 0.738 in the first model 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8" name="Google Shape;48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026" y="1720632"/>
            <a:ext cx="4137178" cy="57303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9B266F-BCB8-C69A-1F0A-202947BC9D6D}"/>
              </a:ext>
            </a:extLst>
          </p:cNvPr>
          <p:cNvSpPr txBox="1"/>
          <p:nvPr/>
        </p:nvSpPr>
        <p:spPr>
          <a:xfrm>
            <a:off x="326005" y="3801487"/>
            <a:ext cx="41371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You choose between two alternate models on the basis of Adjusted </a:t>
            </a:r>
            <a:r>
              <a:rPr lang="en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sz="1400" b="1" i="0" u="none" strike="noStrike" cap="none" baseline="30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b="1" dirty="0">
                <a:solidFill>
                  <a:srgbClr val="FF0000"/>
                </a:solidFill>
              </a:rPr>
              <a:t>whichever has the higher adjusted </a:t>
            </a:r>
            <a:r>
              <a:rPr lang="en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sz="1400" b="1" i="0" u="none" strike="noStrike" cap="none" baseline="30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IN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C94717-5608-D53C-7A26-D759E95AF19B}"/>
              </a:ext>
            </a:extLst>
          </p:cNvPr>
          <p:cNvGraphicFramePr>
            <a:graphicFrameLocks noGrp="1"/>
          </p:cNvGraphicFramePr>
          <p:nvPr/>
        </p:nvGraphicFramePr>
        <p:xfrm>
          <a:off x="4517920" y="3472797"/>
          <a:ext cx="1879600" cy="1306830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1268969">
                  <a:extLst>
                    <a:ext uri="{9D8B030D-6E8A-4147-A177-3AD203B41FA5}">
                      <a16:colId xmlns:a16="http://schemas.microsoft.com/office/drawing/2014/main" val="2857158061"/>
                    </a:ext>
                  </a:extLst>
                </a:gridCol>
                <a:gridCol w="610631">
                  <a:extLst>
                    <a:ext uri="{9D8B030D-6E8A-4147-A177-3AD203B41FA5}">
                      <a16:colId xmlns:a16="http://schemas.microsoft.com/office/drawing/2014/main" val="1820712625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Regression Statistics</a:t>
                      </a:r>
                    </a:p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 (Without Cousins)</a:t>
                      </a:r>
                      <a:endParaRPr lang="en-IN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9071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Multiple 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0.867072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4050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R Square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0.751815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313557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Adjusted R Square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0.738027</a:t>
                      </a:r>
                      <a:endParaRPr lang="en-IN" sz="11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196745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Standard Error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1.68758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0060676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Observations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20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8722711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8A55AC-B7CB-285C-7C4C-C87E38CF6B87}"/>
              </a:ext>
            </a:extLst>
          </p:cNvPr>
          <p:cNvGraphicFramePr>
            <a:graphicFrameLocks noGrp="1"/>
          </p:cNvGraphicFramePr>
          <p:nvPr/>
        </p:nvGraphicFramePr>
        <p:xfrm>
          <a:off x="6796159" y="3472797"/>
          <a:ext cx="1752600" cy="1306830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68485102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48494354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Regression Statistics</a:t>
                      </a:r>
                      <a:endParaRPr lang="en-IN" sz="1100" i="0" u="none" strike="noStrike" dirty="0">
                        <a:effectLst/>
                      </a:endParaRPr>
                    </a:p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(With Cousins)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0537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Multiple 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0.869879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483915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 Square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0.75669</a:t>
                      </a:r>
                      <a:endParaRPr lang="en-IN" sz="11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41305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Adjusted R Square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0.728065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545112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Standard Error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1.719366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841155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Observations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20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04067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85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9E03-2B3D-0B9B-EB3A-EE58E41F4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5" y="143215"/>
            <a:ext cx="7886700" cy="537428"/>
          </a:xfrm>
        </p:spPr>
        <p:txBody>
          <a:bodyPr/>
          <a:lstStyle/>
          <a:p>
            <a:r>
              <a:rPr lang="en-US" dirty="0"/>
              <a:t>Statistical Tests on the model?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190F57-7E85-95ED-53E2-AEDD1D274A64}"/>
              </a:ext>
            </a:extLst>
          </p:cNvPr>
          <p:cNvSpPr txBox="1"/>
          <p:nvPr/>
        </p:nvSpPr>
        <p:spPr>
          <a:xfrm>
            <a:off x="5894968" y="1898200"/>
            <a:ext cx="2377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Gill Sans MT" panose="020B0502020104020203" pitchFamily="34" charset="0"/>
              </a:rPr>
              <a:t>Our Model is Significant</a:t>
            </a:r>
          </a:p>
        </p:txBody>
      </p:sp>
      <p:sp>
        <p:nvSpPr>
          <p:cNvPr id="5" name="Arrow: Curved Up 4">
            <a:extLst>
              <a:ext uri="{FF2B5EF4-FFF2-40B4-BE49-F238E27FC236}">
                <a16:creationId xmlns:a16="http://schemas.microsoft.com/office/drawing/2014/main" id="{662A3B29-A922-5E70-A457-DF039C187C9E}"/>
              </a:ext>
            </a:extLst>
          </p:cNvPr>
          <p:cNvSpPr/>
          <p:nvPr/>
        </p:nvSpPr>
        <p:spPr>
          <a:xfrm rot="21086500">
            <a:off x="4873951" y="1606806"/>
            <a:ext cx="1065372" cy="23973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B6CFA0-2F11-97CF-5454-CB27258403FE}"/>
              </a:ext>
            </a:extLst>
          </p:cNvPr>
          <p:cNvSpPr txBox="1"/>
          <p:nvPr/>
        </p:nvSpPr>
        <p:spPr>
          <a:xfrm>
            <a:off x="5894968" y="1064953"/>
            <a:ext cx="29696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this value is smaller than 0.05, then our Model is significant at 95% confidence level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E4ED04-01FB-712E-8FC7-AD1195C4FF9B}"/>
              </a:ext>
            </a:extLst>
          </p:cNvPr>
          <p:cNvGraphicFramePr>
            <a:graphicFrameLocks noGrp="1"/>
          </p:cNvGraphicFramePr>
          <p:nvPr/>
        </p:nvGraphicFramePr>
        <p:xfrm>
          <a:off x="153590" y="1233583"/>
          <a:ext cx="4584700" cy="971550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64256596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66320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154097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412444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144775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738897756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ANOVA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10124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df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SS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MS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F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Significance F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254667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Regression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155.2873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155.2873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54.52645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7.52114E-07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637008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Residual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51.26268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2.847926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4758758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Total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206.55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5108547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CFD8362-EB54-5FF9-CFF1-DB9F9A9117F4}"/>
              </a:ext>
            </a:extLst>
          </p:cNvPr>
          <p:cNvSpPr txBox="1"/>
          <p:nvPr/>
        </p:nvSpPr>
        <p:spPr>
          <a:xfrm>
            <a:off x="0" y="724148"/>
            <a:ext cx="6453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Is our model significant? Will regression model work for the population?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040D98-A2EB-2C04-5F06-06BD6B765359}"/>
              </a:ext>
            </a:extLst>
          </p:cNvPr>
          <p:cNvSpPr txBox="1"/>
          <p:nvPr/>
        </p:nvSpPr>
        <p:spPr>
          <a:xfrm>
            <a:off x="0" y="2548187"/>
            <a:ext cx="8566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Are the coefficients of regression significant? Can I use the same equation for the population?</a:t>
            </a:r>
            <a:endParaRPr lang="en-IN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56C4EEC-80B6-C84E-9205-EE18CE732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871852"/>
              </p:ext>
            </p:extLst>
          </p:nvPr>
        </p:nvGraphicFramePr>
        <p:xfrm>
          <a:off x="448512" y="3189161"/>
          <a:ext cx="4325779" cy="581025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1223784">
                  <a:extLst>
                    <a:ext uri="{9D8B030D-6E8A-4147-A177-3AD203B41FA5}">
                      <a16:colId xmlns:a16="http://schemas.microsoft.com/office/drawing/2014/main" val="3551098848"/>
                    </a:ext>
                  </a:extLst>
                </a:gridCol>
                <a:gridCol w="818147">
                  <a:extLst>
                    <a:ext uri="{9D8B030D-6E8A-4147-A177-3AD203B41FA5}">
                      <a16:colId xmlns:a16="http://schemas.microsoft.com/office/drawing/2014/main" val="665099442"/>
                    </a:ext>
                  </a:extLst>
                </a:gridCol>
                <a:gridCol w="861674">
                  <a:extLst>
                    <a:ext uri="{9D8B030D-6E8A-4147-A177-3AD203B41FA5}">
                      <a16:colId xmlns:a16="http://schemas.microsoft.com/office/drawing/2014/main" val="904136871"/>
                    </a:ext>
                  </a:extLst>
                </a:gridCol>
                <a:gridCol w="711087">
                  <a:extLst>
                    <a:ext uri="{9D8B030D-6E8A-4147-A177-3AD203B41FA5}">
                      <a16:colId xmlns:a16="http://schemas.microsoft.com/office/drawing/2014/main" val="3673066893"/>
                    </a:ext>
                  </a:extLst>
                </a:gridCol>
                <a:gridCol w="711087">
                  <a:extLst>
                    <a:ext uri="{9D8B030D-6E8A-4147-A177-3AD203B41FA5}">
                      <a16:colId xmlns:a16="http://schemas.microsoft.com/office/drawing/2014/main" val="84785903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Coefficients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Standard Error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t Stat</a:t>
                      </a:r>
                      <a:endParaRPr lang="en-IN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P-value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2247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Intercept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40.15727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3.096227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12.96974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1.43E-10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0843624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Training Intensity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0.183598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0.024864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7.384203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7.52E-07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0535453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0771925-E1CE-2F87-4F28-38137DFAE2C5}"/>
              </a:ext>
            </a:extLst>
          </p:cNvPr>
          <p:cNvSpPr txBox="1"/>
          <p:nvPr/>
        </p:nvSpPr>
        <p:spPr>
          <a:xfrm>
            <a:off x="5846796" y="3988910"/>
            <a:ext cx="3488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Gill Sans MT" panose="020B0502020104020203" pitchFamily="34" charset="0"/>
              </a:rPr>
              <a:t>The regression coefficients are Significant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2DB863-10DB-E241-6CA3-E1BF1E78155D}"/>
              </a:ext>
            </a:extLst>
          </p:cNvPr>
          <p:cNvSpPr txBox="1"/>
          <p:nvPr/>
        </p:nvSpPr>
        <p:spPr>
          <a:xfrm>
            <a:off x="5846796" y="2950547"/>
            <a:ext cx="29391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If these values are smaller than 0.05, then the regression coefficients are significant at 95% confidence level</a:t>
            </a:r>
          </a:p>
        </p:txBody>
      </p:sp>
      <p:sp>
        <p:nvSpPr>
          <p:cNvPr id="15" name="Arrow: Curved Up 14">
            <a:extLst>
              <a:ext uri="{FF2B5EF4-FFF2-40B4-BE49-F238E27FC236}">
                <a16:creationId xmlns:a16="http://schemas.microsoft.com/office/drawing/2014/main" id="{7CC5A276-F8C9-1807-392D-280371558C21}"/>
              </a:ext>
            </a:extLst>
          </p:cNvPr>
          <p:cNvSpPr/>
          <p:nvPr/>
        </p:nvSpPr>
        <p:spPr>
          <a:xfrm rot="21086500">
            <a:off x="4786198" y="3480667"/>
            <a:ext cx="1065372" cy="23973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07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8" grpId="0"/>
      <p:bldP spid="9" grpId="0"/>
      <p:bldP spid="12" grpId="0"/>
      <p:bldP spid="14" grpId="0"/>
      <p:bldP spid="1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6"/>
          <p:cNvSpPr txBox="1">
            <a:spLocks noGrp="1"/>
          </p:cNvSpPr>
          <p:nvPr>
            <p:ph type="title"/>
          </p:nvPr>
        </p:nvSpPr>
        <p:spPr>
          <a:xfrm>
            <a:off x="195950" y="-79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 sz="3200"/>
              <a:t>Regression - Interpretation of Coefficients</a:t>
            </a:r>
            <a:endParaRPr sz="3200"/>
          </a:p>
        </p:txBody>
      </p:sp>
      <p:sp>
        <p:nvSpPr>
          <p:cNvPr id="494" name="Google Shape;494;p36"/>
          <p:cNvSpPr txBox="1"/>
          <p:nvPr/>
        </p:nvSpPr>
        <p:spPr>
          <a:xfrm>
            <a:off x="327500" y="843950"/>
            <a:ext cx="8145600" cy="38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Batting Average (y) = 40.16+ 0.18 * Training Intensity(x)</a:t>
            </a:r>
            <a:endParaRPr lang="en-US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constant in the equation is arrived through an equation which ensures that the line passes through the mean values of X and Y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 if not statistically significant the constant in the equation is normally retained, and never discarded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coefficient of training intensity is 0.18, and the interpretation is that when the training intensity changes by 1 , the batting average will change by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0.18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15609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7"/>
          <p:cNvSpPr/>
          <p:nvPr/>
        </p:nvSpPr>
        <p:spPr>
          <a:xfrm>
            <a:off x="2122475" y="2040600"/>
            <a:ext cx="4933500" cy="871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7"/>
          <p:cNvSpPr txBox="1"/>
          <p:nvPr/>
        </p:nvSpPr>
        <p:spPr>
          <a:xfrm>
            <a:off x="2395400" y="2240050"/>
            <a:ext cx="4429800" cy="5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B5394"/>
                </a:solidFill>
                <a:latin typeface="Gill Sans"/>
                <a:ea typeface="Gill Sans"/>
                <a:cs typeface="Gill Sans"/>
                <a:sym typeface="Gill Sans"/>
              </a:rPr>
              <a:t>Multiple Regression </a:t>
            </a:r>
            <a:endParaRPr sz="2700" b="0" i="0" u="none" strike="noStrike" cap="none">
              <a:solidFill>
                <a:srgbClr val="0B5394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8"/>
          <p:cNvSpPr txBox="1">
            <a:spLocks noGrp="1"/>
          </p:cNvSpPr>
          <p:nvPr>
            <p:ph type="title"/>
          </p:nvPr>
        </p:nvSpPr>
        <p:spPr>
          <a:xfrm>
            <a:off x="195950" y="-7953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 sz="3200"/>
              <a:t>Multiple Linear Regression - Example</a:t>
            </a:r>
            <a:endParaRPr sz="3200"/>
          </a:p>
        </p:txBody>
      </p:sp>
      <p:graphicFrame>
        <p:nvGraphicFramePr>
          <p:cNvPr id="506" name="Google Shape;506;p38"/>
          <p:cNvGraphicFramePr/>
          <p:nvPr/>
        </p:nvGraphicFramePr>
        <p:xfrm>
          <a:off x="189825" y="1234688"/>
          <a:ext cx="2768425" cy="3169680"/>
        </p:xfrm>
        <a:graphic>
          <a:graphicData uri="http://schemas.openxmlformats.org/drawingml/2006/table">
            <a:tbl>
              <a:tblPr>
                <a:noFill/>
                <a:tableStyleId>{60610D88-5040-46F2-8ACC-16F8A50467E0}</a:tableStyleId>
              </a:tblPr>
              <a:tblGrid>
                <a:gridCol w="27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Cricket Data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 y (Total Runs)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  <a:r>
                        <a:rPr lang="en" sz="1400" u="none" strike="noStrike" cap="none" dirty="0"/>
                        <a:t> (Dot Balls)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  <a:r>
                        <a:rPr lang="en" sz="1400" u="none" strike="noStrike" cap="none" dirty="0"/>
                        <a:t> (Boundaries {4’s and 6’s})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  <a:r>
                        <a:rPr lang="en" sz="1400" u="none" strike="noStrike" cap="none" dirty="0"/>
                        <a:t> (Main Bowlers’ Strike Rate)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  <a:r>
                        <a:rPr lang="en" sz="1400" u="none" strike="noStrike" cap="none" dirty="0"/>
                        <a:t> (Main Batsmens’ Strike Rate)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07" name="Google Shape;507;p38"/>
          <p:cNvGraphicFramePr/>
          <p:nvPr/>
        </p:nvGraphicFramePr>
        <p:xfrm>
          <a:off x="3224150" y="1026700"/>
          <a:ext cx="4092875" cy="3401800"/>
        </p:xfrm>
        <a:graphic>
          <a:graphicData uri="http://schemas.openxmlformats.org/drawingml/2006/table">
            <a:tbl>
              <a:tblPr>
                <a:noFill/>
                <a:tableStyleId>{60610D88-5040-46F2-8ACC-16F8A50467E0}</a:tableStyleId>
              </a:tblPr>
              <a:tblGrid>
                <a:gridCol w="81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8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8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02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 (Total Runs)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x1    </a:t>
                      </a:r>
                    </a:p>
                    <a:p>
                      <a:pPr algn="ctr" rtl="0" fontAlgn="ctr"/>
                      <a:r>
                        <a:rPr lang="en-IN" sz="8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(Dot Balls)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  </a:t>
                      </a: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(Boundaries)</a:t>
                      </a:r>
                      <a:endParaRPr lang="en-IN" sz="8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x3              (Main Bowlers' strike rate)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x4              (Main Batsmen strike rate)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88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4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4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4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4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 marL="857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0"/>
          <p:cNvSpPr txBox="1">
            <a:spLocks noGrp="1"/>
          </p:cNvSpPr>
          <p:nvPr>
            <p:ph type="title"/>
          </p:nvPr>
        </p:nvSpPr>
        <p:spPr>
          <a:xfrm>
            <a:off x="195950" y="-7950"/>
            <a:ext cx="78867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 sz="3200"/>
              <a:t>Multiple Linear Regression - Model</a:t>
            </a:r>
            <a:endParaRPr sz="3200"/>
          </a:p>
        </p:txBody>
      </p:sp>
      <p:graphicFrame>
        <p:nvGraphicFramePr>
          <p:cNvPr id="2" name="Google Shape;506;p38">
            <a:extLst>
              <a:ext uri="{FF2B5EF4-FFF2-40B4-BE49-F238E27FC236}">
                <a16:creationId xmlns:a16="http://schemas.microsoft.com/office/drawing/2014/main" id="{051BDA95-2816-0278-0EFE-96759ECFD0E4}"/>
              </a:ext>
            </a:extLst>
          </p:cNvPr>
          <p:cNvGraphicFramePr/>
          <p:nvPr/>
        </p:nvGraphicFramePr>
        <p:xfrm>
          <a:off x="127948" y="626115"/>
          <a:ext cx="2768425" cy="3169680"/>
        </p:xfrm>
        <a:graphic>
          <a:graphicData uri="http://schemas.openxmlformats.org/drawingml/2006/table">
            <a:tbl>
              <a:tblPr>
                <a:noFill/>
                <a:tableStyleId>{60610D88-5040-46F2-8ACC-16F8A50467E0}</a:tableStyleId>
              </a:tblPr>
              <a:tblGrid>
                <a:gridCol w="27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Cricket Data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 Y (Total Runs)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  <a:r>
                        <a:rPr lang="en" sz="1400" u="none" strike="noStrike" cap="none" dirty="0"/>
                        <a:t> (Dot Balls)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  <a:r>
                        <a:rPr lang="en" sz="1400" u="none" strike="noStrike" cap="none" dirty="0"/>
                        <a:t>(Boundaries {4’s and 6’s})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  <a:r>
                        <a:rPr lang="en" sz="1400" u="none" strike="noStrike" cap="none" dirty="0"/>
                        <a:t> (Main Bowlers’ Strike Rate)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  <a:r>
                        <a:rPr lang="en" sz="1400" u="none" strike="noStrike" cap="none" dirty="0"/>
                        <a:t> (Main Batsmens’ Strike Rate)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BA30B5-C980-5ECB-8370-2BFD22D6D33F}"/>
              </a:ext>
            </a:extLst>
          </p:cNvPr>
          <p:cNvGraphicFramePr>
            <a:graphicFrameLocks noGrp="1"/>
          </p:cNvGraphicFramePr>
          <p:nvPr/>
        </p:nvGraphicFramePr>
        <p:xfrm>
          <a:off x="5053829" y="626115"/>
          <a:ext cx="2387600" cy="1152525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1776374">
                  <a:extLst>
                    <a:ext uri="{9D8B030D-6E8A-4147-A177-3AD203B41FA5}">
                      <a16:colId xmlns:a16="http://schemas.microsoft.com/office/drawing/2014/main" val="3005068790"/>
                    </a:ext>
                  </a:extLst>
                </a:gridCol>
                <a:gridCol w="611226">
                  <a:extLst>
                    <a:ext uri="{9D8B030D-6E8A-4147-A177-3AD203B41FA5}">
                      <a16:colId xmlns:a16="http://schemas.microsoft.com/office/drawing/2014/main" val="245565035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Regression Statistics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8030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Multiple 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0.983069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152517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 Square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0.966425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23148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Adjusted R Square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0.93285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952717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Standard Error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9.608885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5283853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Observations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06373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1F3A0E-1F66-14E6-1AEA-129D2C5DC401}"/>
              </a:ext>
            </a:extLst>
          </p:cNvPr>
          <p:cNvSpPr txBox="1"/>
          <p:nvPr/>
        </p:nvSpPr>
        <p:spPr>
          <a:xfrm>
            <a:off x="3000630" y="1205019"/>
            <a:ext cx="2176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Good is our model?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93A3FE-1CFF-2906-85EB-85D96617E283}"/>
              </a:ext>
            </a:extLst>
          </p:cNvPr>
          <p:cNvSpPr txBox="1"/>
          <p:nvPr/>
        </p:nvSpPr>
        <p:spPr>
          <a:xfrm>
            <a:off x="3000630" y="1755383"/>
            <a:ext cx="3441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our model significant?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9DE722-F6F8-036C-C095-656D626B8F29}"/>
              </a:ext>
            </a:extLst>
          </p:cNvPr>
          <p:cNvSpPr txBox="1"/>
          <p:nvPr/>
        </p:nvSpPr>
        <p:spPr>
          <a:xfrm>
            <a:off x="61877" y="3906640"/>
            <a:ext cx="2158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the regression coefficients significant? </a:t>
            </a:r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D7C4A7E-C38E-75CE-A9D6-F5AA7D38E0BC}"/>
              </a:ext>
            </a:extLst>
          </p:cNvPr>
          <p:cNvGraphicFramePr>
            <a:graphicFrameLocks noGrp="1"/>
          </p:cNvGraphicFramePr>
          <p:nvPr/>
        </p:nvGraphicFramePr>
        <p:xfrm>
          <a:off x="3073150" y="2063160"/>
          <a:ext cx="4826000" cy="1125855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11720442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6269505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2756669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6844839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99183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31307019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ANOVA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551007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df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SS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MS</a:t>
                      </a:r>
                      <a:endParaRPr lang="en-IN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F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Significance F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3141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Regression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10630.68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2657.669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28.78425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0.003306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68091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Residual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369.3227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92.33067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2183207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Total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11000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537752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3F0B911-A0DF-BBB1-D254-47F8FD49E849}"/>
              </a:ext>
            </a:extLst>
          </p:cNvPr>
          <p:cNvGraphicFramePr>
            <a:graphicFrameLocks noGrp="1"/>
          </p:cNvGraphicFramePr>
          <p:nvPr/>
        </p:nvGraphicFramePr>
        <p:xfrm>
          <a:off x="2000680" y="3846616"/>
          <a:ext cx="5009279" cy="1152525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1808174">
                  <a:extLst>
                    <a:ext uri="{9D8B030D-6E8A-4147-A177-3AD203B41FA5}">
                      <a16:colId xmlns:a16="http://schemas.microsoft.com/office/drawing/2014/main" val="1146533775"/>
                    </a:ext>
                  </a:extLst>
                </a:gridCol>
                <a:gridCol w="818148">
                  <a:extLst>
                    <a:ext uri="{9D8B030D-6E8A-4147-A177-3AD203B41FA5}">
                      <a16:colId xmlns:a16="http://schemas.microsoft.com/office/drawing/2014/main" val="2735418471"/>
                    </a:ext>
                  </a:extLst>
                </a:gridCol>
                <a:gridCol w="934491">
                  <a:extLst>
                    <a:ext uri="{9D8B030D-6E8A-4147-A177-3AD203B41FA5}">
                      <a16:colId xmlns:a16="http://schemas.microsoft.com/office/drawing/2014/main" val="3410826780"/>
                    </a:ext>
                  </a:extLst>
                </a:gridCol>
                <a:gridCol w="724233">
                  <a:extLst>
                    <a:ext uri="{9D8B030D-6E8A-4147-A177-3AD203B41FA5}">
                      <a16:colId xmlns:a16="http://schemas.microsoft.com/office/drawing/2014/main" val="4037926150"/>
                    </a:ext>
                  </a:extLst>
                </a:gridCol>
                <a:gridCol w="724233">
                  <a:extLst>
                    <a:ext uri="{9D8B030D-6E8A-4147-A177-3AD203B41FA5}">
                      <a16:colId xmlns:a16="http://schemas.microsoft.com/office/drawing/2014/main" val="19615400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Coefficients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Standard Error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t Stat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P-value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186219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Intercept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369.21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148.65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2.48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07996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X1 Dot Balls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-1.51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0.41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-3.70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0356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x2 (Boundaries)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1.04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2.30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solidFill>
                            <a:srgbClr val="FF0000"/>
                          </a:solidFill>
                          <a:effectLst/>
                        </a:rPr>
                        <a:t>0.67</a:t>
                      </a:r>
                      <a:endParaRPr lang="en-IN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708155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x3 (Main Bowlers' strike rate)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-0.47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3.12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-0.15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solidFill>
                            <a:srgbClr val="FF0000"/>
                          </a:solidFill>
                          <a:effectLst/>
                        </a:rPr>
                        <a:t>0.89</a:t>
                      </a:r>
                      <a:endParaRPr lang="en-IN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2547005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x4 (Main Batsmens' strike rate)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0.90</a:t>
                      </a:r>
                      <a:endParaRPr lang="en-IN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0875046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DB416C4-5FB8-DBE9-3624-E4E7DD2DCD78}"/>
              </a:ext>
            </a:extLst>
          </p:cNvPr>
          <p:cNvSpPr txBox="1"/>
          <p:nvPr/>
        </p:nvSpPr>
        <p:spPr>
          <a:xfrm>
            <a:off x="3000630" y="3458091"/>
            <a:ext cx="3843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 = 369.21-1.51</a:t>
            </a:r>
            <a:r>
              <a:rPr lang="es-ES" sz="1400" dirty="0">
                <a:solidFill>
                  <a:srgbClr val="FF0000"/>
                </a:solidFill>
              </a:rPr>
              <a:t>X</a:t>
            </a:r>
            <a:r>
              <a:rPr lang="es-ES" sz="1400" baseline="-25000" dirty="0">
                <a:solidFill>
                  <a:srgbClr val="FF0000"/>
                </a:solidFill>
              </a:rPr>
              <a:t>1</a:t>
            </a:r>
            <a:r>
              <a:rPr lang="es-ES" sz="1400" baseline="-25000" dirty="0"/>
              <a:t> </a:t>
            </a:r>
            <a:r>
              <a:rPr lang="es-ES" sz="1400" dirty="0"/>
              <a:t>+ 1.04 </a:t>
            </a:r>
            <a:r>
              <a:rPr lang="es-ES" sz="1400" dirty="0">
                <a:solidFill>
                  <a:srgbClr val="FF0000"/>
                </a:solidFill>
              </a:rPr>
              <a:t>X</a:t>
            </a:r>
            <a:r>
              <a:rPr lang="es-ES" sz="1400" baseline="-25000" dirty="0">
                <a:solidFill>
                  <a:srgbClr val="FF0000"/>
                </a:solidFill>
              </a:rPr>
              <a:t>2</a:t>
            </a:r>
            <a:r>
              <a:rPr lang="es-ES" sz="1400" dirty="0"/>
              <a:t> - 0.47</a:t>
            </a:r>
            <a:r>
              <a:rPr lang="es-ES" sz="1400" dirty="0">
                <a:solidFill>
                  <a:srgbClr val="3333FF"/>
                </a:solidFill>
              </a:rPr>
              <a:t>X</a:t>
            </a:r>
            <a:r>
              <a:rPr lang="es-ES" sz="1400" baseline="-25000" dirty="0">
                <a:solidFill>
                  <a:srgbClr val="3333FF"/>
                </a:solidFill>
              </a:rPr>
              <a:t>3</a:t>
            </a:r>
            <a:r>
              <a:rPr lang="es-ES" sz="1400" baseline="-25000" dirty="0"/>
              <a:t> </a:t>
            </a:r>
            <a:r>
              <a:rPr lang="es-ES" sz="1400" dirty="0"/>
              <a:t>+ 0.06</a:t>
            </a:r>
            <a:r>
              <a:rPr lang="es-ES" sz="1400" dirty="0">
                <a:solidFill>
                  <a:srgbClr val="3333FF"/>
                </a:solidFill>
              </a:rPr>
              <a:t>X</a:t>
            </a:r>
            <a:r>
              <a:rPr lang="es-ES" sz="1400" baseline="-25000" dirty="0">
                <a:solidFill>
                  <a:srgbClr val="3333FF"/>
                </a:solidFill>
              </a:rPr>
              <a:t>4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6DDE7E5-6114-BBF0-D26A-D565A54162FD}"/>
              </a:ext>
            </a:extLst>
          </p:cNvPr>
          <p:cNvSpPr/>
          <p:nvPr/>
        </p:nvSpPr>
        <p:spPr>
          <a:xfrm>
            <a:off x="6655181" y="4406389"/>
            <a:ext cx="488139" cy="67350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1464DA-A34F-775D-D517-843918BA9F80}"/>
              </a:ext>
            </a:extLst>
          </p:cNvPr>
          <p:cNvSpPr txBox="1"/>
          <p:nvPr/>
        </p:nvSpPr>
        <p:spPr>
          <a:xfrm>
            <a:off x="7328950" y="3458091"/>
            <a:ext cx="1687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– values of  X</a:t>
            </a:r>
            <a:r>
              <a:rPr lang="en-US" baseline="-25000" dirty="0"/>
              <a:t>2</a:t>
            </a:r>
            <a:r>
              <a:rPr lang="en-US" dirty="0"/>
              <a:t>, X</a:t>
            </a:r>
            <a:r>
              <a:rPr lang="en-US" baseline="-25000" dirty="0"/>
              <a:t>3</a:t>
            </a:r>
            <a:r>
              <a:rPr lang="en-US" dirty="0"/>
              <a:t>, X</a:t>
            </a:r>
            <a:r>
              <a:rPr lang="en-US" baseline="-25000" dirty="0"/>
              <a:t>4</a:t>
            </a:r>
            <a:r>
              <a:rPr lang="en-US" dirty="0"/>
              <a:t> are much higher than 0.05. We cannot use this equation as it is..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2" grpId="0"/>
      <p:bldP spid="13" grpId="0" animBg="1"/>
      <p:bldP spid="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0"/>
          <p:cNvSpPr txBox="1">
            <a:spLocks noGrp="1"/>
          </p:cNvSpPr>
          <p:nvPr>
            <p:ph type="title"/>
          </p:nvPr>
        </p:nvSpPr>
        <p:spPr>
          <a:xfrm>
            <a:off x="195950" y="-7950"/>
            <a:ext cx="78867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 sz="3200"/>
              <a:t>Multiple Linear Regression - Model</a:t>
            </a:r>
            <a:endParaRPr sz="3200"/>
          </a:p>
        </p:txBody>
      </p:sp>
      <p:graphicFrame>
        <p:nvGraphicFramePr>
          <p:cNvPr id="2" name="Google Shape;506;p38">
            <a:extLst>
              <a:ext uri="{FF2B5EF4-FFF2-40B4-BE49-F238E27FC236}">
                <a16:creationId xmlns:a16="http://schemas.microsoft.com/office/drawing/2014/main" id="{051BDA95-2816-0278-0EFE-96759ECFD0E4}"/>
              </a:ext>
            </a:extLst>
          </p:cNvPr>
          <p:cNvGraphicFramePr/>
          <p:nvPr/>
        </p:nvGraphicFramePr>
        <p:xfrm>
          <a:off x="127948" y="626115"/>
          <a:ext cx="2768425" cy="3169680"/>
        </p:xfrm>
        <a:graphic>
          <a:graphicData uri="http://schemas.openxmlformats.org/drawingml/2006/table">
            <a:tbl>
              <a:tblPr>
                <a:noFill/>
                <a:tableStyleId>{60610D88-5040-46F2-8ACC-16F8A50467E0}</a:tableStyleId>
              </a:tblPr>
              <a:tblGrid>
                <a:gridCol w="27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Cricket Data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 Y (Total Runs)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  <a:r>
                        <a:rPr lang="en" sz="1400" u="none" strike="noStrike" cap="none" dirty="0"/>
                        <a:t> (Dot Balls)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  <a:r>
                        <a:rPr lang="en" sz="1400" u="none" strike="noStrike" cap="none" dirty="0"/>
                        <a:t>(Boundaries {4’s and 6’s})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  <a:r>
                        <a:rPr lang="en" sz="1400" u="none" strike="noStrike" cap="none" dirty="0"/>
                        <a:t> (Main Bowlers’ Strike Rate)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1F3A0E-1F66-14E6-1AEA-129D2C5DC401}"/>
              </a:ext>
            </a:extLst>
          </p:cNvPr>
          <p:cNvSpPr txBox="1"/>
          <p:nvPr/>
        </p:nvSpPr>
        <p:spPr>
          <a:xfrm>
            <a:off x="3000630" y="1205019"/>
            <a:ext cx="2176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Good is our model?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93A3FE-1CFF-2906-85EB-85D96617E283}"/>
              </a:ext>
            </a:extLst>
          </p:cNvPr>
          <p:cNvSpPr txBox="1"/>
          <p:nvPr/>
        </p:nvSpPr>
        <p:spPr>
          <a:xfrm>
            <a:off x="3000630" y="1755383"/>
            <a:ext cx="3441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our model significant?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9DE722-F6F8-036C-C095-656D626B8F29}"/>
              </a:ext>
            </a:extLst>
          </p:cNvPr>
          <p:cNvSpPr txBox="1"/>
          <p:nvPr/>
        </p:nvSpPr>
        <p:spPr>
          <a:xfrm>
            <a:off x="61877" y="3906640"/>
            <a:ext cx="2158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the regression coefficients significant?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B416C4-5FB8-DBE9-3624-E4E7DD2DCD78}"/>
              </a:ext>
            </a:extLst>
          </p:cNvPr>
          <p:cNvSpPr txBox="1"/>
          <p:nvPr/>
        </p:nvSpPr>
        <p:spPr>
          <a:xfrm>
            <a:off x="3000630" y="3458091"/>
            <a:ext cx="3843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 = 365.13-1.49 </a:t>
            </a:r>
            <a:r>
              <a:rPr lang="es-ES" sz="1400" dirty="0">
                <a:solidFill>
                  <a:srgbClr val="FF0000"/>
                </a:solidFill>
              </a:rPr>
              <a:t>X</a:t>
            </a:r>
            <a:r>
              <a:rPr lang="es-ES" sz="1400" baseline="-25000" dirty="0">
                <a:solidFill>
                  <a:srgbClr val="FF0000"/>
                </a:solidFill>
              </a:rPr>
              <a:t>1</a:t>
            </a:r>
            <a:r>
              <a:rPr lang="es-ES" sz="1400" baseline="-25000" dirty="0"/>
              <a:t> </a:t>
            </a:r>
            <a:r>
              <a:rPr lang="es-ES" sz="1400" dirty="0"/>
              <a:t>+ 1.20 </a:t>
            </a:r>
            <a:r>
              <a:rPr lang="es-ES" sz="1400" dirty="0">
                <a:solidFill>
                  <a:srgbClr val="FF0000"/>
                </a:solidFill>
              </a:rPr>
              <a:t>X</a:t>
            </a:r>
            <a:r>
              <a:rPr lang="es-ES" sz="1400" baseline="-25000" dirty="0">
                <a:solidFill>
                  <a:srgbClr val="FF0000"/>
                </a:solidFill>
              </a:rPr>
              <a:t>2</a:t>
            </a:r>
            <a:r>
              <a:rPr lang="es-ES" sz="1400" dirty="0"/>
              <a:t> - 0.35</a:t>
            </a:r>
            <a:r>
              <a:rPr lang="es-ES" sz="1400" dirty="0">
                <a:solidFill>
                  <a:srgbClr val="3333FF"/>
                </a:solidFill>
              </a:rPr>
              <a:t>X</a:t>
            </a:r>
            <a:r>
              <a:rPr lang="es-ES" sz="1400" baseline="-25000" dirty="0">
                <a:solidFill>
                  <a:srgbClr val="3333FF"/>
                </a:solidFill>
              </a:rPr>
              <a:t>3</a:t>
            </a:r>
            <a:r>
              <a:rPr lang="es-ES" sz="1400" baseline="-25000" dirty="0"/>
              <a:t> 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1464DA-A34F-775D-D517-843918BA9F80}"/>
              </a:ext>
            </a:extLst>
          </p:cNvPr>
          <p:cNvSpPr txBox="1"/>
          <p:nvPr/>
        </p:nvSpPr>
        <p:spPr>
          <a:xfrm>
            <a:off x="7328950" y="3458091"/>
            <a:ext cx="1687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– values of X</a:t>
            </a:r>
            <a:r>
              <a:rPr lang="en-US" baseline="-25000" dirty="0"/>
              <a:t>3</a:t>
            </a:r>
            <a:r>
              <a:rPr lang="en-US" dirty="0"/>
              <a:t>, X</a:t>
            </a:r>
            <a:r>
              <a:rPr lang="en-US" baseline="-25000" dirty="0"/>
              <a:t>4</a:t>
            </a:r>
            <a:r>
              <a:rPr lang="en-US" dirty="0"/>
              <a:t> are much higher than 0.05. We cannot use this equation as it is..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ACE90D-977F-8B87-E039-81AC369D74C1}"/>
              </a:ext>
            </a:extLst>
          </p:cNvPr>
          <p:cNvGraphicFramePr>
            <a:graphicFrameLocks noGrp="1"/>
          </p:cNvGraphicFramePr>
          <p:nvPr/>
        </p:nvGraphicFramePr>
        <p:xfrm>
          <a:off x="5326879" y="665550"/>
          <a:ext cx="1841500" cy="1152525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1230847">
                  <a:extLst>
                    <a:ext uri="{9D8B030D-6E8A-4147-A177-3AD203B41FA5}">
                      <a16:colId xmlns:a16="http://schemas.microsoft.com/office/drawing/2014/main" val="2477969497"/>
                    </a:ext>
                  </a:extLst>
                </a:gridCol>
                <a:gridCol w="610653">
                  <a:extLst>
                    <a:ext uri="{9D8B030D-6E8A-4147-A177-3AD203B41FA5}">
                      <a16:colId xmlns:a16="http://schemas.microsoft.com/office/drawing/2014/main" val="3391792346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Regression Statistics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9165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Multiple 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0.982992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812949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 Square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0.966274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28391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Adjusted R Square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0.946038</a:t>
                      </a:r>
                      <a:endParaRPr lang="en-IN" sz="11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970623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Standard Error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8.613818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127434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Observations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922471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509D74-F9D3-7EEB-070A-24571E62D8BB}"/>
              </a:ext>
            </a:extLst>
          </p:cNvPr>
          <p:cNvGraphicFramePr>
            <a:graphicFrameLocks noGrp="1"/>
          </p:cNvGraphicFramePr>
          <p:nvPr/>
        </p:nvGraphicFramePr>
        <p:xfrm>
          <a:off x="3106377" y="2037444"/>
          <a:ext cx="5026968" cy="1125855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1446933">
                  <a:extLst>
                    <a:ext uri="{9D8B030D-6E8A-4147-A177-3AD203B41FA5}">
                      <a16:colId xmlns:a16="http://schemas.microsoft.com/office/drawing/2014/main" val="3988057815"/>
                    </a:ext>
                  </a:extLst>
                </a:gridCol>
                <a:gridCol w="716007">
                  <a:extLst>
                    <a:ext uri="{9D8B030D-6E8A-4147-A177-3AD203B41FA5}">
                      <a16:colId xmlns:a16="http://schemas.microsoft.com/office/drawing/2014/main" val="1560879442"/>
                    </a:ext>
                  </a:extLst>
                </a:gridCol>
                <a:gridCol w="716007">
                  <a:extLst>
                    <a:ext uri="{9D8B030D-6E8A-4147-A177-3AD203B41FA5}">
                      <a16:colId xmlns:a16="http://schemas.microsoft.com/office/drawing/2014/main" val="604178118"/>
                    </a:ext>
                  </a:extLst>
                </a:gridCol>
                <a:gridCol w="716007">
                  <a:extLst>
                    <a:ext uri="{9D8B030D-6E8A-4147-A177-3AD203B41FA5}">
                      <a16:colId xmlns:a16="http://schemas.microsoft.com/office/drawing/2014/main" val="2011612988"/>
                    </a:ext>
                  </a:extLst>
                </a:gridCol>
                <a:gridCol w="716007">
                  <a:extLst>
                    <a:ext uri="{9D8B030D-6E8A-4147-A177-3AD203B41FA5}">
                      <a16:colId xmlns:a16="http://schemas.microsoft.com/office/drawing/2014/main" val="4287438707"/>
                    </a:ext>
                  </a:extLst>
                </a:gridCol>
                <a:gridCol w="716007">
                  <a:extLst>
                    <a:ext uri="{9D8B030D-6E8A-4147-A177-3AD203B41FA5}">
                      <a16:colId xmlns:a16="http://schemas.microsoft.com/office/drawing/2014/main" val="1778578013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ANOVA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20461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df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SS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MS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F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Significance F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94630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Regression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10629.01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3543.004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47.75075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0.00042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865804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Residual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370.9893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74.19786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508015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Total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11000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5317435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B2F141F-5F4F-4B91-9F20-596A0214E505}"/>
              </a:ext>
            </a:extLst>
          </p:cNvPr>
          <p:cNvGraphicFramePr>
            <a:graphicFrameLocks noGrp="1"/>
          </p:cNvGraphicFramePr>
          <p:nvPr/>
        </p:nvGraphicFramePr>
        <p:xfrm>
          <a:off x="2220686" y="3876457"/>
          <a:ext cx="4920923" cy="1106805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1651659">
                  <a:extLst>
                    <a:ext uri="{9D8B030D-6E8A-4147-A177-3AD203B41FA5}">
                      <a16:colId xmlns:a16="http://schemas.microsoft.com/office/drawing/2014/main" val="1824421856"/>
                    </a:ext>
                  </a:extLst>
                </a:gridCol>
                <a:gridCol w="780995">
                  <a:extLst>
                    <a:ext uri="{9D8B030D-6E8A-4147-A177-3AD203B41FA5}">
                      <a16:colId xmlns:a16="http://schemas.microsoft.com/office/drawing/2014/main" val="3648722406"/>
                    </a:ext>
                  </a:extLst>
                </a:gridCol>
                <a:gridCol w="853637">
                  <a:extLst>
                    <a:ext uri="{9D8B030D-6E8A-4147-A177-3AD203B41FA5}">
                      <a16:colId xmlns:a16="http://schemas.microsoft.com/office/drawing/2014/main" val="990621392"/>
                    </a:ext>
                  </a:extLst>
                </a:gridCol>
                <a:gridCol w="817316">
                  <a:extLst>
                    <a:ext uri="{9D8B030D-6E8A-4147-A177-3AD203B41FA5}">
                      <a16:colId xmlns:a16="http://schemas.microsoft.com/office/drawing/2014/main" val="862644175"/>
                    </a:ext>
                  </a:extLst>
                </a:gridCol>
                <a:gridCol w="817316">
                  <a:extLst>
                    <a:ext uri="{9D8B030D-6E8A-4147-A177-3AD203B41FA5}">
                      <a16:colId xmlns:a16="http://schemas.microsoft.com/office/drawing/2014/main" val="2895717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Coefficients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Standard Error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t Stat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P-value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15480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Intercept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365.13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130.44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2.80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20651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x1          (Dot Balls)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-1.49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0.35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-4.30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830491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x2 (Boundaries)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1.20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1.76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0.68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0.53</a:t>
                      </a:r>
                      <a:endParaRPr lang="en-IN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51296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x3        (Main Bowlers' strike rate)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-0.35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2.66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-0.13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0.90</a:t>
                      </a:r>
                      <a:endParaRPr lang="en-IN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95655629"/>
                  </a:ext>
                </a:extLst>
              </a:tr>
            </a:tbl>
          </a:graphicData>
        </a:graphic>
      </p:graphicFrame>
      <p:sp>
        <p:nvSpPr>
          <p:cNvPr id="17" name="Oval 16">
            <a:extLst>
              <a:ext uri="{FF2B5EF4-FFF2-40B4-BE49-F238E27FC236}">
                <a16:creationId xmlns:a16="http://schemas.microsoft.com/office/drawing/2014/main" id="{FF390F43-53D6-CB42-42C0-EF2493644E2B}"/>
              </a:ext>
            </a:extLst>
          </p:cNvPr>
          <p:cNvSpPr/>
          <p:nvPr/>
        </p:nvSpPr>
        <p:spPr>
          <a:xfrm>
            <a:off x="6756599" y="4451116"/>
            <a:ext cx="457062" cy="53214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1123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0"/>
          <p:cNvSpPr txBox="1">
            <a:spLocks noGrp="1"/>
          </p:cNvSpPr>
          <p:nvPr>
            <p:ph type="title"/>
          </p:nvPr>
        </p:nvSpPr>
        <p:spPr>
          <a:xfrm>
            <a:off x="195950" y="-7950"/>
            <a:ext cx="78867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 sz="3200"/>
              <a:t>Multiple Linear Regression - Model</a:t>
            </a:r>
            <a:endParaRPr sz="3200"/>
          </a:p>
        </p:txBody>
      </p:sp>
      <p:graphicFrame>
        <p:nvGraphicFramePr>
          <p:cNvPr id="2" name="Google Shape;506;p38">
            <a:extLst>
              <a:ext uri="{FF2B5EF4-FFF2-40B4-BE49-F238E27FC236}">
                <a16:creationId xmlns:a16="http://schemas.microsoft.com/office/drawing/2014/main" id="{051BDA95-2816-0278-0EFE-96759ECFD0E4}"/>
              </a:ext>
            </a:extLst>
          </p:cNvPr>
          <p:cNvGraphicFramePr/>
          <p:nvPr/>
        </p:nvGraphicFramePr>
        <p:xfrm>
          <a:off x="102176" y="1043951"/>
          <a:ext cx="2768425" cy="2377260"/>
        </p:xfrm>
        <a:graphic>
          <a:graphicData uri="http://schemas.openxmlformats.org/drawingml/2006/table">
            <a:tbl>
              <a:tblPr>
                <a:noFill/>
                <a:tableStyleId>{60610D88-5040-46F2-8ACC-16F8A50467E0}</a:tableStyleId>
              </a:tblPr>
              <a:tblGrid>
                <a:gridCol w="27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Cricket Data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 Y (Total Runs)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  <a:r>
                        <a:rPr lang="en" sz="1400" u="none" strike="noStrike" cap="none" dirty="0"/>
                        <a:t> (Dot Balls)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  <a:r>
                        <a:rPr lang="en" sz="1400" u="none" strike="noStrike" cap="none" dirty="0"/>
                        <a:t>(Boundaries {4’s and 6’s})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1F3A0E-1F66-14E6-1AEA-129D2C5DC401}"/>
              </a:ext>
            </a:extLst>
          </p:cNvPr>
          <p:cNvSpPr txBox="1"/>
          <p:nvPr/>
        </p:nvSpPr>
        <p:spPr>
          <a:xfrm>
            <a:off x="3000630" y="1205019"/>
            <a:ext cx="2176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Good is our model?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93A3FE-1CFF-2906-85EB-85D96617E283}"/>
              </a:ext>
            </a:extLst>
          </p:cNvPr>
          <p:cNvSpPr txBox="1"/>
          <p:nvPr/>
        </p:nvSpPr>
        <p:spPr>
          <a:xfrm>
            <a:off x="3000630" y="1755383"/>
            <a:ext cx="3441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our model significant?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9DE722-F6F8-036C-C095-656D626B8F29}"/>
              </a:ext>
            </a:extLst>
          </p:cNvPr>
          <p:cNvSpPr txBox="1"/>
          <p:nvPr/>
        </p:nvSpPr>
        <p:spPr>
          <a:xfrm>
            <a:off x="61877" y="3906640"/>
            <a:ext cx="2158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the regression coefficients significant?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B416C4-5FB8-DBE9-3624-E4E7DD2DCD78}"/>
              </a:ext>
            </a:extLst>
          </p:cNvPr>
          <p:cNvSpPr txBox="1"/>
          <p:nvPr/>
        </p:nvSpPr>
        <p:spPr>
          <a:xfrm>
            <a:off x="3000631" y="3458091"/>
            <a:ext cx="2508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 = 349.38-1.49</a:t>
            </a:r>
            <a:r>
              <a:rPr lang="es-ES" sz="1400" dirty="0">
                <a:solidFill>
                  <a:srgbClr val="FF0000"/>
                </a:solidFill>
              </a:rPr>
              <a:t>X</a:t>
            </a:r>
            <a:r>
              <a:rPr lang="es-ES" sz="1400" baseline="-25000" dirty="0">
                <a:solidFill>
                  <a:srgbClr val="FF0000"/>
                </a:solidFill>
              </a:rPr>
              <a:t>1</a:t>
            </a:r>
            <a:r>
              <a:rPr lang="es-ES" sz="1400" baseline="-25000" dirty="0"/>
              <a:t> </a:t>
            </a:r>
            <a:r>
              <a:rPr lang="es-ES" sz="1400" dirty="0"/>
              <a:t>+ 1.41 </a:t>
            </a:r>
            <a:r>
              <a:rPr lang="es-ES" sz="1400" dirty="0">
                <a:solidFill>
                  <a:srgbClr val="FF0000"/>
                </a:solidFill>
              </a:rPr>
              <a:t>X</a:t>
            </a:r>
            <a:r>
              <a:rPr lang="es-ES" sz="1400" baseline="-25000" dirty="0">
                <a:solidFill>
                  <a:srgbClr val="FF0000"/>
                </a:solidFill>
              </a:rPr>
              <a:t>2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1464DA-A34F-775D-D517-843918BA9F80}"/>
              </a:ext>
            </a:extLst>
          </p:cNvPr>
          <p:cNvSpPr txBox="1"/>
          <p:nvPr/>
        </p:nvSpPr>
        <p:spPr>
          <a:xfrm>
            <a:off x="7277786" y="3183083"/>
            <a:ext cx="16871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– values of  X</a:t>
            </a:r>
            <a:r>
              <a:rPr lang="en-US" baseline="-25000" dirty="0"/>
              <a:t>2</a:t>
            </a:r>
            <a:r>
              <a:rPr lang="en-US" dirty="0"/>
              <a:t>, is higher than 0.05. </a:t>
            </a:r>
          </a:p>
          <a:p>
            <a:r>
              <a:rPr lang="en-US" dirty="0"/>
              <a:t>At 90% confidence levels these coefficients are OK, but not at 95% levels.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21D190-E7D4-B374-EAA3-D2E1BB8FEBA3}"/>
              </a:ext>
            </a:extLst>
          </p:cNvPr>
          <p:cNvGraphicFramePr>
            <a:graphicFrameLocks noGrp="1"/>
          </p:cNvGraphicFramePr>
          <p:nvPr/>
        </p:nvGraphicFramePr>
        <p:xfrm>
          <a:off x="2052075" y="3938481"/>
          <a:ext cx="5034360" cy="771525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1006872">
                  <a:extLst>
                    <a:ext uri="{9D8B030D-6E8A-4147-A177-3AD203B41FA5}">
                      <a16:colId xmlns:a16="http://schemas.microsoft.com/office/drawing/2014/main" val="1011677712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3490731275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1702158737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370536600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419321894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Coefficients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Standard Error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t Stat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P-value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99857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Intercept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349.38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45.02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7.76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128974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x1  (Dot Balls)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-1.49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0.32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-4.71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1013757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x2 (Boundaries)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1.41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0.74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1.91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0.10</a:t>
                      </a:r>
                      <a:endParaRPr lang="en-IN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8245541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306EEE94-3455-7BA5-6813-26AA894261A8}"/>
              </a:ext>
            </a:extLst>
          </p:cNvPr>
          <p:cNvSpPr/>
          <p:nvPr/>
        </p:nvSpPr>
        <p:spPr>
          <a:xfrm>
            <a:off x="6719553" y="4470000"/>
            <a:ext cx="488139" cy="271847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E14FD9C-007E-CE83-BCF6-27F648B6C93F}"/>
              </a:ext>
            </a:extLst>
          </p:cNvPr>
          <p:cNvGraphicFramePr>
            <a:graphicFrameLocks noGrp="1"/>
          </p:cNvGraphicFramePr>
          <p:nvPr/>
        </p:nvGraphicFramePr>
        <p:xfrm>
          <a:off x="5508996" y="553626"/>
          <a:ext cx="2074624" cy="1506855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1037312">
                  <a:extLst>
                    <a:ext uri="{9D8B030D-6E8A-4147-A177-3AD203B41FA5}">
                      <a16:colId xmlns:a16="http://schemas.microsoft.com/office/drawing/2014/main" val="3064633847"/>
                    </a:ext>
                  </a:extLst>
                </a:gridCol>
                <a:gridCol w="1037312">
                  <a:extLst>
                    <a:ext uri="{9D8B030D-6E8A-4147-A177-3AD203B41FA5}">
                      <a16:colId xmlns:a16="http://schemas.microsoft.com/office/drawing/2014/main" val="316031174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537933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Regression Statistics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8451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Multiple 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0.982934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858784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 Square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0.966159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725634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Adjusted R Square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0.954879</a:t>
                      </a:r>
                      <a:endParaRPr lang="en-IN" sz="11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73880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Standard Error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7.876656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8381823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Observations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2758997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D8C97EC-C058-7F68-00F0-64B48FDB0301}"/>
              </a:ext>
            </a:extLst>
          </p:cNvPr>
          <p:cNvGraphicFramePr>
            <a:graphicFrameLocks noGrp="1"/>
          </p:cNvGraphicFramePr>
          <p:nvPr/>
        </p:nvGraphicFramePr>
        <p:xfrm>
          <a:off x="3061952" y="2162011"/>
          <a:ext cx="4266996" cy="1125855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711166">
                  <a:extLst>
                    <a:ext uri="{9D8B030D-6E8A-4147-A177-3AD203B41FA5}">
                      <a16:colId xmlns:a16="http://schemas.microsoft.com/office/drawing/2014/main" val="1889789589"/>
                    </a:ext>
                  </a:extLst>
                </a:gridCol>
                <a:gridCol w="711166">
                  <a:extLst>
                    <a:ext uri="{9D8B030D-6E8A-4147-A177-3AD203B41FA5}">
                      <a16:colId xmlns:a16="http://schemas.microsoft.com/office/drawing/2014/main" val="2611352203"/>
                    </a:ext>
                  </a:extLst>
                </a:gridCol>
                <a:gridCol w="711166">
                  <a:extLst>
                    <a:ext uri="{9D8B030D-6E8A-4147-A177-3AD203B41FA5}">
                      <a16:colId xmlns:a16="http://schemas.microsoft.com/office/drawing/2014/main" val="1942929697"/>
                    </a:ext>
                  </a:extLst>
                </a:gridCol>
                <a:gridCol w="711166">
                  <a:extLst>
                    <a:ext uri="{9D8B030D-6E8A-4147-A177-3AD203B41FA5}">
                      <a16:colId xmlns:a16="http://schemas.microsoft.com/office/drawing/2014/main" val="3881350629"/>
                    </a:ext>
                  </a:extLst>
                </a:gridCol>
                <a:gridCol w="711166">
                  <a:extLst>
                    <a:ext uri="{9D8B030D-6E8A-4147-A177-3AD203B41FA5}">
                      <a16:colId xmlns:a16="http://schemas.microsoft.com/office/drawing/2014/main" val="1578852788"/>
                    </a:ext>
                  </a:extLst>
                </a:gridCol>
                <a:gridCol w="711166">
                  <a:extLst>
                    <a:ext uri="{9D8B030D-6E8A-4147-A177-3AD203B41FA5}">
                      <a16:colId xmlns:a16="http://schemas.microsoft.com/office/drawing/2014/main" val="3505939584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ANOVA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97635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df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SS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MS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F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Significance F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99088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Regression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10627.75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5313.875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85.65003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3.88E-05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18360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Residual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372.2503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62.04172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0797006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Total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11000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894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4258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1"/>
          <p:cNvSpPr/>
          <p:nvPr/>
        </p:nvSpPr>
        <p:spPr>
          <a:xfrm>
            <a:off x="2122475" y="2040600"/>
            <a:ext cx="4933500" cy="871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41"/>
          <p:cNvSpPr txBox="1"/>
          <p:nvPr/>
        </p:nvSpPr>
        <p:spPr>
          <a:xfrm>
            <a:off x="2395400" y="2240050"/>
            <a:ext cx="4429800" cy="5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B5394"/>
                </a:solidFill>
                <a:latin typeface="Gill Sans"/>
                <a:ea typeface="Gill Sans"/>
                <a:cs typeface="Gill Sans"/>
                <a:sym typeface="Gill Sans"/>
              </a:rPr>
              <a:t> Regression Assumptions</a:t>
            </a:r>
            <a:endParaRPr sz="2700" b="0" i="0" u="none" strike="noStrike" cap="none">
              <a:solidFill>
                <a:srgbClr val="0B5394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2"/>
          <p:cNvSpPr txBox="1">
            <a:spLocks noGrp="1"/>
          </p:cNvSpPr>
          <p:nvPr>
            <p:ph type="title"/>
          </p:nvPr>
        </p:nvSpPr>
        <p:spPr>
          <a:xfrm>
            <a:off x="174950" y="94472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 sz="3200"/>
              <a:t>Regression Assumptions - Model - Linearity</a:t>
            </a:r>
            <a:endParaRPr sz="3200"/>
          </a:p>
        </p:txBody>
      </p:sp>
      <p:sp>
        <p:nvSpPr>
          <p:cNvPr id="534" name="Google Shape;534;p42"/>
          <p:cNvSpPr txBox="1"/>
          <p:nvPr/>
        </p:nvSpPr>
        <p:spPr>
          <a:xfrm>
            <a:off x="317000" y="896450"/>
            <a:ext cx="8355600" cy="37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Assumptions about the </a:t>
            </a:r>
            <a:r>
              <a:rPr lang="en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form of the model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relationship between the response variable (Y), and the predictor variables (X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X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X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X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,…., X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) is assumed to be </a:t>
            </a: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linear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the parameters (β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β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β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β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,….., β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such as: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0" indent="4572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β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β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+ β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+ β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+…….+ β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+ε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762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Consequences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violation of this assumption: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Poor fit of the model, Inaccurate predictions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6900" marR="0" lvl="1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3"/>
          <p:cNvSpPr txBox="1">
            <a:spLocks noGrp="1"/>
          </p:cNvSpPr>
          <p:nvPr>
            <p:ph type="title"/>
          </p:nvPr>
        </p:nvSpPr>
        <p:spPr>
          <a:xfrm>
            <a:off x="174950" y="94472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 sz="3200"/>
              <a:t>Regression Assumptions - Errors</a:t>
            </a:r>
            <a:endParaRPr sz="3200"/>
          </a:p>
        </p:txBody>
      </p:sp>
      <p:sp>
        <p:nvSpPr>
          <p:cNvPr id="540" name="Google Shape;540;p43"/>
          <p:cNvSpPr txBox="1"/>
          <p:nvPr/>
        </p:nvSpPr>
        <p:spPr>
          <a:xfrm>
            <a:off x="254025" y="959425"/>
            <a:ext cx="80721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Assumptions </a:t>
            </a:r>
            <a:r>
              <a:rPr lang="en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about the errors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three assumptions in the above expression: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error terms at each X value follows a Normal Distribution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mean value of errors at each X value is Zero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error distribution at each X value has the same (but unknown) variance of </a:t>
            </a:r>
            <a:r>
              <a:rPr lang="en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lang="en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1" name="Google Shape;541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4858" y="1620947"/>
            <a:ext cx="4345541" cy="37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4"/>
          <p:cNvSpPr txBox="1">
            <a:spLocks noGrp="1"/>
          </p:cNvSpPr>
          <p:nvPr>
            <p:ph type="title"/>
          </p:nvPr>
        </p:nvSpPr>
        <p:spPr>
          <a:xfrm>
            <a:off x="174950" y="94472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 sz="3100"/>
              <a:t>Regression Assumptions - Errors - Normality</a:t>
            </a:r>
            <a:endParaRPr sz="3100"/>
          </a:p>
        </p:txBody>
      </p:sp>
      <p:sp>
        <p:nvSpPr>
          <p:cNvPr id="547" name="Google Shape;547;p44"/>
          <p:cNvSpPr txBox="1"/>
          <p:nvPr/>
        </p:nvSpPr>
        <p:spPr>
          <a:xfrm>
            <a:off x="121750" y="796550"/>
            <a:ext cx="8823900" cy="24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error terms at each X value follows a Normal Distribution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Methods for </a:t>
            </a: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detection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p-p plot or q-q plot (Normal Probability plots) of standardized residuals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Shapiro-Wilk statistics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8" name="Google Shape;548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750" y="2500361"/>
            <a:ext cx="2519181" cy="2267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31069" y="2509691"/>
            <a:ext cx="2514950" cy="2263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47393" y="2292524"/>
            <a:ext cx="2888133" cy="222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74932" y="3957472"/>
            <a:ext cx="407073" cy="449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4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5400000" flipH="1">
            <a:off x="66809" y="3881868"/>
            <a:ext cx="505284" cy="459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5"/>
          <p:cNvSpPr txBox="1">
            <a:spLocks noGrp="1"/>
          </p:cNvSpPr>
          <p:nvPr>
            <p:ph type="title"/>
          </p:nvPr>
        </p:nvSpPr>
        <p:spPr>
          <a:xfrm>
            <a:off x="174950" y="94472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 sz="3100"/>
              <a:t>Regression Assumptions - Errors - Normality</a:t>
            </a:r>
            <a:endParaRPr sz="3100"/>
          </a:p>
        </p:txBody>
      </p:sp>
      <p:sp>
        <p:nvSpPr>
          <p:cNvPr id="558" name="Google Shape;558;p45"/>
          <p:cNvSpPr txBox="1"/>
          <p:nvPr/>
        </p:nvSpPr>
        <p:spPr>
          <a:xfrm>
            <a:off x="220425" y="848975"/>
            <a:ext cx="8231700" cy="3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Consequences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violated: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the statistical tests carried out to generalize the model to the population need this assumption to be satisfied. (In practice, being </a:t>
            </a:r>
            <a:r>
              <a:rPr lang="en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approximately</a:t>
            </a: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 is acceptable)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Remedial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Action: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Increasing number of observations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Resorting to nonparametric regression methods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6"/>
          <p:cNvSpPr txBox="1">
            <a:spLocks noGrp="1"/>
          </p:cNvSpPr>
          <p:nvPr>
            <p:ph type="title"/>
          </p:nvPr>
        </p:nvSpPr>
        <p:spPr>
          <a:xfrm>
            <a:off x="174950" y="94475"/>
            <a:ext cx="7886700" cy="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06451"/>
              <a:buFont typeface="Gill Sans"/>
              <a:buNone/>
            </a:pPr>
            <a:r>
              <a:rPr lang="en" sz="3100"/>
              <a:t>Regression Assumptions - Errors - Mean</a:t>
            </a:r>
            <a:endParaRPr sz="31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06451"/>
              <a:buFont typeface="Gill Sans"/>
              <a:buNone/>
            </a:pPr>
            <a:r>
              <a:rPr lang="en" sz="3100"/>
              <a:t>Error is zero</a:t>
            </a:r>
            <a:endParaRPr sz="3100"/>
          </a:p>
        </p:txBody>
      </p:sp>
      <p:sp>
        <p:nvSpPr>
          <p:cNvPr id="564" name="Google Shape;564;p46"/>
          <p:cNvSpPr txBox="1"/>
          <p:nvPr/>
        </p:nvSpPr>
        <p:spPr>
          <a:xfrm>
            <a:off x="275025" y="1274325"/>
            <a:ext cx="7673400" cy="1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mean value of errors at each X value is Zero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OLS method ensures this happens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7"/>
          <p:cNvSpPr txBox="1">
            <a:spLocks noGrp="1"/>
          </p:cNvSpPr>
          <p:nvPr>
            <p:ph type="title"/>
          </p:nvPr>
        </p:nvSpPr>
        <p:spPr>
          <a:xfrm>
            <a:off x="174950" y="94475"/>
            <a:ext cx="7886700" cy="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06451"/>
              <a:buFont typeface="Gill Sans"/>
              <a:buNone/>
            </a:pPr>
            <a:r>
              <a:rPr lang="en" sz="3100"/>
              <a:t>Regression Assumptions - Errors - </a:t>
            </a:r>
            <a:endParaRPr sz="31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12500"/>
              <a:buFont typeface="Gill Sans"/>
              <a:buNone/>
            </a:pPr>
            <a:r>
              <a:rPr lang="en" sz="2933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Heteroskedasticity</a:t>
            </a:r>
            <a:endParaRPr sz="2433">
              <a:solidFill>
                <a:srgbClr val="0B5394"/>
              </a:solidFill>
            </a:endParaRPr>
          </a:p>
        </p:txBody>
      </p:sp>
      <p:sp>
        <p:nvSpPr>
          <p:cNvPr id="570" name="Google Shape;570;p47"/>
          <p:cNvSpPr txBox="1"/>
          <p:nvPr/>
        </p:nvSpPr>
        <p:spPr>
          <a:xfrm>
            <a:off x="275025" y="959375"/>
            <a:ext cx="8250600" cy="1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error distribution at each X value has the same (but unknown) variance of </a:t>
            </a:r>
            <a:r>
              <a:rPr lang="en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lang="en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Methods of detection: Plots of standardized residuals (y-axis) with Standardized predicted values (x-axis)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1" name="Google Shape;571;p47"/>
          <p:cNvGrpSpPr/>
          <p:nvPr/>
        </p:nvGrpSpPr>
        <p:grpSpPr>
          <a:xfrm>
            <a:off x="2224711" y="2375492"/>
            <a:ext cx="4258476" cy="2220068"/>
            <a:chOff x="6548000" y="3760378"/>
            <a:chExt cx="3346280" cy="2082615"/>
          </a:xfrm>
        </p:grpSpPr>
        <p:pic>
          <p:nvPicPr>
            <p:cNvPr id="572" name="Google Shape;572;p4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48000" y="4132565"/>
              <a:ext cx="3180693" cy="171042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73" name="Google Shape;573;p47"/>
            <p:cNvCxnSpPr/>
            <p:nvPr/>
          </p:nvCxnSpPr>
          <p:spPr>
            <a:xfrm rot="10800000" flipH="1">
              <a:off x="6764024" y="4398178"/>
              <a:ext cx="1026000" cy="760500"/>
            </a:xfrm>
            <a:prstGeom prst="straightConnector1">
              <a:avLst/>
            </a:prstGeom>
            <a:noFill/>
            <a:ln w="9525" cap="flat" cmpd="sng">
              <a:solidFill>
                <a:srgbClr val="1D9A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74" name="Google Shape;574;p47"/>
            <p:cNvCxnSpPr/>
            <p:nvPr/>
          </p:nvCxnSpPr>
          <p:spPr>
            <a:xfrm rot="10800000" flipH="1">
              <a:off x="6980048" y="4672371"/>
              <a:ext cx="1026000" cy="760500"/>
            </a:xfrm>
            <a:prstGeom prst="straightConnector1">
              <a:avLst/>
            </a:prstGeom>
            <a:noFill/>
            <a:ln w="9525" cap="flat" cmpd="sng">
              <a:solidFill>
                <a:srgbClr val="1D9A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75" name="Google Shape;575;p47"/>
            <p:cNvCxnSpPr/>
            <p:nvPr/>
          </p:nvCxnSpPr>
          <p:spPr>
            <a:xfrm rot="10800000" flipH="1">
              <a:off x="8247094" y="3760378"/>
              <a:ext cx="1051500" cy="1618500"/>
            </a:xfrm>
            <a:prstGeom prst="straightConnector1">
              <a:avLst/>
            </a:prstGeom>
            <a:noFill/>
            <a:ln w="9525" cap="flat" cmpd="sng">
              <a:solidFill>
                <a:srgbClr val="1D9A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76" name="Google Shape;576;p47"/>
            <p:cNvCxnSpPr/>
            <p:nvPr/>
          </p:nvCxnSpPr>
          <p:spPr>
            <a:xfrm rot="10800000" flipH="1">
              <a:off x="8354380" y="4242337"/>
              <a:ext cx="1539900" cy="1275300"/>
            </a:xfrm>
            <a:prstGeom prst="straightConnector1">
              <a:avLst/>
            </a:prstGeom>
            <a:noFill/>
            <a:ln w="9525" cap="flat" cmpd="sng">
              <a:solidFill>
                <a:srgbClr val="1D9A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577" name="Google Shape;577;p47"/>
          <p:cNvCxnSpPr/>
          <p:nvPr/>
        </p:nvCxnSpPr>
        <p:spPr>
          <a:xfrm>
            <a:off x="2845308" y="3621067"/>
            <a:ext cx="0" cy="479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578" name="Google Shape;578;p47"/>
          <p:cNvCxnSpPr/>
          <p:nvPr/>
        </p:nvCxnSpPr>
        <p:spPr>
          <a:xfrm>
            <a:off x="3303237" y="3360857"/>
            <a:ext cx="0" cy="479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579" name="Google Shape;579;p47"/>
          <p:cNvCxnSpPr/>
          <p:nvPr/>
        </p:nvCxnSpPr>
        <p:spPr>
          <a:xfrm>
            <a:off x="3726133" y="3107784"/>
            <a:ext cx="0" cy="479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80" name="Google Shape;580;p47"/>
          <p:cNvSpPr/>
          <p:nvPr/>
        </p:nvSpPr>
        <p:spPr>
          <a:xfrm>
            <a:off x="807183" y="3997398"/>
            <a:ext cx="1604700" cy="5754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1D9A78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7"/>
          <p:cNvSpPr txBox="1"/>
          <p:nvPr/>
        </p:nvSpPr>
        <p:spPr>
          <a:xfrm>
            <a:off x="174950" y="3045025"/>
            <a:ext cx="197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Same levels of variation for different x values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2" name="Google Shape;582;p47"/>
          <p:cNvCxnSpPr/>
          <p:nvPr/>
        </p:nvCxnSpPr>
        <p:spPr>
          <a:xfrm>
            <a:off x="5125386" y="3204163"/>
            <a:ext cx="0" cy="6051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583" name="Google Shape;583;p47"/>
          <p:cNvCxnSpPr/>
          <p:nvPr/>
        </p:nvCxnSpPr>
        <p:spPr>
          <a:xfrm>
            <a:off x="4807661" y="3568945"/>
            <a:ext cx="0" cy="480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584" name="Google Shape;584;p47"/>
          <p:cNvCxnSpPr/>
          <p:nvPr/>
        </p:nvCxnSpPr>
        <p:spPr>
          <a:xfrm>
            <a:off x="5400410" y="2810698"/>
            <a:ext cx="0" cy="8418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85" name="Google Shape;585;p47"/>
          <p:cNvSpPr txBox="1"/>
          <p:nvPr/>
        </p:nvSpPr>
        <p:spPr>
          <a:xfrm>
            <a:off x="6903325" y="2885925"/>
            <a:ext cx="1924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Different levels of variation for different x values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7"/>
          <p:cNvSpPr/>
          <p:nvPr/>
        </p:nvSpPr>
        <p:spPr>
          <a:xfrm flipH="1">
            <a:off x="5837910" y="3795953"/>
            <a:ext cx="1970400" cy="5697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1D9A78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8"/>
          <p:cNvSpPr txBox="1">
            <a:spLocks noGrp="1"/>
          </p:cNvSpPr>
          <p:nvPr>
            <p:ph type="title"/>
          </p:nvPr>
        </p:nvSpPr>
        <p:spPr>
          <a:xfrm>
            <a:off x="174950" y="94475"/>
            <a:ext cx="7886700" cy="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06451"/>
              <a:buFont typeface="Gill Sans"/>
              <a:buNone/>
            </a:pPr>
            <a:r>
              <a:rPr lang="en" sz="3100"/>
              <a:t>Regression Assumptions - Errors - </a:t>
            </a:r>
            <a:endParaRPr sz="31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12500"/>
              <a:buFont typeface="Gill Sans"/>
              <a:buNone/>
            </a:pPr>
            <a:r>
              <a:rPr lang="en" sz="2933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Heteroskedasticity</a:t>
            </a:r>
            <a:endParaRPr sz="2433">
              <a:solidFill>
                <a:srgbClr val="0B5394"/>
              </a:solidFill>
            </a:endParaRPr>
          </a:p>
        </p:txBody>
      </p:sp>
      <p:sp>
        <p:nvSpPr>
          <p:cNvPr id="592" name="Google Shape;592;p48"/>
          <p:cNvSpPr txBox="1"/>
          <p:nvPr/>
        </p:nvSpPr>
        <p:spPr>
          <a:xfrm>
            <a:off x="359000" y="1022400"/>
            <a:ext cx="8292600" cy="3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error distribution at each X value has the same (but unknown) variance of </a:t>
            </a:r>
            <a:r>
              <a:rPr lang="en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lang="en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Consequences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if violated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OLS will result in estimates of coefficients which are not precise. Also the standard error estimates of coefficients, are understated.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Remedial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Actions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Transformations of data to stabilize variance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Least squares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9"/>
          <p:cNvSpPr txBox="1">
            <a:spLocks noGrp="1"/>
          </p:cNvSpPr>
          <p:nvPr>
            <p:ph type="title"/>
          </p:nvPr>
        </p:nvSpPr>
        <p:spPr>
          <a:xfrm>
            <a:off x="174950" y="94475"/>
            <a:ext cx="7886700" cy="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 sz="3100"/>
              <a:t>Regression Assumptions - Predictor</a:t>
            </a:r>
            <a:endParaRPr sz="2433">
              <a:solidFill>
                <a:srgbClr val="0B5394"/>
              </a:solidFill>
            </a:endParaRPr>
          </a:p>
        </p:txBody>
      </p:sp>
      <p:sp>
        <p:nvSpPr>
          <p:cNvPr id="598" name="Google Shape;598;p49"/>
          <p:cNvSpPr txBox="1"/>
          <p:nvPr/>
        </p:nvSpPr>
        <p:spPr>
          <a:xfrm>
            <a:off x="296025" y="906925"/>
            <a:ext cx="8009100" cy="3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Assumptions about the </a:t>
            </a:r>
            <a:r>
              <a:rPr lang="en" sz="1800" b="0" i="0" u="none" strike="noStrike" cap="none" dirty="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predictor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(or independent) variables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predictor variables (X</a:t>
            </a:r>
            <a:r>
              <a:rPr lang="en" sz="1800" b="0" i="0" u="none" strike="noStrike" cap="none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X</a:t>
            </a:r>
            <a:r>
              <a:rPr lang="en" sz="1800" b="0" i="0" u="none" strike="noStrike" cap="none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X</a:t>
            </a:r>
            <a:r>
              <a:rPr lang="en" sz="1800" b="0" i="0" u="none" strike="noStrike" cap="none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,…., X</a:t>
            </a:r>
            <a:r>
              <a:rPr lang="en" sz="1800" b="0" i="0" u="none" strike="noStrike" cap="none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) are uncorrelated to each other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understand the consequences of violation of this rule let’s take a model</a:t>
            </a:r>
            <a:r>
              <a:rPr lang="en" sz="1800" dirty="0">
                <a:solidFill>
                  <a:schemeClr val="dk1"/>
                </a:solidFill>
              </a:rPr>
              <a:t>.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0"/>
          <p:cNvSpPr txBox="1">
            <a:spLocks noGrp="1"/>
          </p:cNvSpPr>
          <p:nvPr>
            <p:ph type="title"/>
          </p:nvPr>
        </p:nvSpPr>
        <p:spPr>
          <a:xfrm>
            <a:off x="174950" y="94475"/>
            <a:ext cx="7886700" cy="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 sz="3100"/>
              <a:t>Regression Assumptions - Predictor</a:t>
            </a:r>
            <a:endParaRPr sz="2433">
              <a:solidFill>
                <a:srgbClr val="0B5394"/>
              </a:solidFill>
            </a:endParaRPr>
          </a:p>
        </p:txBody>
      </p:sp>
      <p:sp>
        <p:nvSpPr>
          <p:cNvPr id="604" name="Google Shape;604;p50"/>
          <p:cNvSpPr txBox="1"/>
          <p:nvPr/>
        </p:nvSpPr>
        <p:spPr>
          <a:xfrm>
            <a:off x="174949" y="626515"/>
            <a:ext cx="8405285" cy="1876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Suppose we have a model that tries to predict a cricket player's batting average using the following equation:</a:t>
            </a:r>
            <a:endParaRPr lang="en" dirty="0"/>
          </a:p>
          <a:p>
            <a:pPr marL="1143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" b="1" i="0" u="none" strike="noStrike" cap="none" dirty="0">
                <a:solidFill>
                  <a:srgbClr val="000000"/>
                </a:solidFill>
              </a:rPr>
              <a:t>     Batting Average = </a:t>
            </a:r>
            <a:r>
              <a:rPr lang="en-US" b="1" i="0" u="none" strike="noStrike" cap="none" dirty="0">
                <a:solidFill>
                  <a:srgbClr val="000000"/>
                </a:solidFill>
              </a:rPr>
              <a:t>b</a:t>
            </a:r>
            <a:r>
              <a:rPr lang="en-US" b="1" i="0" u="none" strike="noStrike" cap="none" baseline="-25000" dirty="0">
                <a:solidFill>
                  <a:srgbClr val="000000"/>
                </a:solidFill>
              </a:rPr>
              <a:t>0</a:t>
            </a:r>
            <a:r>
              <a:rPr lang="en-US" b="1" i="0" u="none" strike="noStrike" cap="none" dirty="0">
                <a:solidFill>
                  <a:srgbClr val="000000"/>
                </a:solidFill>
              </a:rPr>
              <a:t> + b</a:t>
            </a:r>
            <a:r>
              <a:rPr lang="en-US" b="1" baseline="-25000" dirty="0"/>
              <a:t>1</a:t>
            </a:r>
            <a:r>
              <a:rPr lang="en-US" b="1" i="0" u="none" strike="noStrike" cap="none" dirty="0">
                <a:solidFill>
                  <a:srgbClr val="000000"/>
                </a:solidFill>
              </a:rPr>
              <a:t>* </a:t>
            </a:r>
            <a:r>
              <a:rPr lang="en-US" b="1" dirty="0"/>
              <a:t>Training Intensity </a:t>
            </a:r>
            <a:r>
              <a:rPr lang="en-US" b="1" i="0" u="none" strike="noStrike" cap="none" dirty="0">
                <a:solidFill>
                  <a:srgbClr val="000000"/>
                </a:solidFill>
              </a:rPr>
              <a:t>+ b</a:t>
            </a:r>
            <a:r>
              <a:rPr lang="en-US" b="1" baseline="-25000" dirty="0"/>
              <a:t>2</a:t>
            </a:r>
            <a:r>
              <a:rPr lang="en-US" b="1" i="0" u="none" strike="noStrike" cap="none" dirty="0">
                <a:solidFill>
                  <a:srgbClr val="000000"/>
                </a:solidFill>
              </a:rPr>
              <a:t> * Age + b</a:t>
            </a:r>
            <a:r>
              <a:rPr lang="en-US" b="1" baseline="-25000" dirty="0"/>
              <a:t>3</a:t>
            </a:r>
            <a:r>
              <a:rPr lang="en-US" b="1" i="0" u="none" strike="noStrike" cap="none" baseline="-25000" dirty="0">
                <a:solidFill>
                  <a:srgbClr val="000000"/>
                </a:solidFill>
              </a:rPr>
              <a:t> </a:t>
            </a:r>
            <a:r>
              <a:rPr lang="en-US" b="1" i="0" u="none" strike="noStrike" cap="none" dirty="0">
                <a:solidFill>
                  <a:srgbClr val="000000"/>
                </a:solidFill>
              </a:rPr>
              <a:t>*Year of Birth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indent="-342900">
              <a:lnSpc>
                <a:spcPct val="150000"/>
              </a:lnSpc>
              <a:buSzPts val="1800"/>
              <a:buFont typeface="Arial"/>
              <a:buChar char="●"/>
            </a:pPr>
            <a:r>
              <a:rPr lang="en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Here, the predictor variables “Age" and “Year of Birth" are perfectly correlated, which violates the assumption that t</a:t>
            </a:r>
            <a:r>
              <a:rPr lang="en-US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 predictor variables (X</a:t>
            </a:r>
            <a:r>
              <a:rPr lang="en-US" b="0" i="0" u="none" strike="noStrike" cap="none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X</a:t>
            </a:r>
            <a:r>
              <a:rPr lang="en-US" b="0" i="0" u="none" strike="noStrike" cap="none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X</a:t>
            </a:r>
            <a:r>
              <a:rPr lang="en-US" b="0" i="0" u="none" strike="noStrike" cap="none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,…., </a:t>
            </a:r>
            <a:r>
              <a:rPr lang="en-US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b="0" i="0" u="none" strike="noStrike" cap="none" baseline="-25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) should be uncorrelated to each other</a:t>
            </a:r>
          </a:p>
          <a:p>
            <a:pPr marL="1143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2D1AE18-5405-6A6A-145A-1D94E227F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889859"/>
              </p:ext>
            </p:extLst>
          </p:nvPr>
        </p:nvGraphicFramePr>
        <p:xfrm>
          <a:off x="1073616" y="2823041"/>
          <a:ext cx="6350000" cy="1809750"/>
        </p:xfrm>
        <a:graphic>
          <a:graphicData uri="http://schemas.openxmlformats.org/drawingml/2006/table">
            <a:tbl>
              <a:tblPr>
                <a:tableStyleId>{C6F916E4-D75B-46A1-92C1-0E86CC84C86C}</a:tableStyleId>
              </a:tblPr>
              <a:tblGrid>
                <a:gridCol w="2120900">
                  <a:extLst>
                    <a:ext uri="{9D8B030D-6E8A-4147-A177-3AD203B41FA5}">
                      <a16:colId xmlns:a16="http://schemas.microsoft.com/office/drawing/2014/main" val="238653125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1052363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9666891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2148560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09044928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424702432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y (Total Runs)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x1          (Dot Balls)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x2 (Boundaries)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x3        (Main Bowlers' strike rate)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x4        (Main Batsmens' strike rate)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42284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y (Total Runs)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1.00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915447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x1          (Dot Balls)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-0.97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1.00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341777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x2 (Boundaries)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0.92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-0.87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1.00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59927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x3        (Main Bowlers' strike rate)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-0.90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0.85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-0.97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1.00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4054334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x4        (Main Batsmens' strike rate)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0.46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-0.39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0.59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-0.52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6144151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568A676-7E22-1239-555C-F34F1281F9DB}"/>
              </a:ext>
            </a:extLst>
          </p:cNvPr>
          <p:cNvSpPr txBox="1"/>
          <p:nvPr/>
        </p:nvSpPr>
        <p:spPr>
          <a:xfrm>
            <a:off x="1010653" y="2516125"/>
            <a:ext cx="3437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Multiple Regression Data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2"/>
          <p:cNvSpPr txBox="1">
            <a:spLocks noGrp="1"/>
          </p:cNvSpPr>
          <p:nvPr>
            <p:ph type="title"/>
          </p:nvPr>
        </p:nvSpPr>
        <p:spPr>
          <a:xfrm>
            <a:off x="174950" y="94475"/>
            <a:ext cx="7886700" cy="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 sz="3100"/>
              <a:t>Regression Assumptions - Predictor</a:t>
            </a:r>
            <a:endParaRPr sz="2433">
              <a:solidFill>
                <a:srgbClr val="0B5394"/>
              </a:solidFill>
            </a:endParaRPr>
          </a:p>
        </p:txBody>
      </p:sp>
      <p:sp>
        <p:nvSpPr>
          <p:cNvPr id="616" name="Google Shape;616;p52"/>
          <p:cNvSpPr txBox="1"/>
          <p:nvPr/>
        </p:nvSpPr>
        <p:spPr>
          <a:xfrm>
            <a:off x="275025" y="959425"/>
            <a:ext cx="8439600" cy="3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predictor variables (X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X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X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,…., X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) are </a:t>
            </a:r>
            <a:r>
              <a:rPr lang="en" sz="1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uncorrelated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each other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Methods of detection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Pairwise Correlation values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VIF (Variance Inflation Factor)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changes in estimated coefficients, when a variable is added or deleted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Algebraic signs of estimated coefficients do not conform to expectations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3"/>
          <p:cNvSpPr txBox="1">
            <a:spLocks noGrp="1"/>
          </p:cNvSpPr>
          <p:nvPr>
            <p:ph type="title"/>
          </p:nvPr>
        </p:nvSpPr>
        <p:spPr>
          <a:xfrm>
            <a:off x="174950" y="94475"/>
            <a:ext cx="7886700" cy="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 sz="3100"/>
              <a:t>Regression Assumptions - Predictor</a:t>
            </a:r>
            <a:endParaRPr sz="2433">
              <a:solidFill>
                <a:srgbClr val="0B5394"/>
              </a:solidFill>
            </a:endParaRPr>
          </a:p>
        </p:txBody>
      </p:sp>
      <p:sp>
        <p:nvSpPr>
          <p:cNvPr id="622" name="Google Shape;622;p53"/>
          <p:cNvSpPr txBox="1"/>
          <p:nvPr/>
        </p:nvSpPr>
        <p:spPr>
          <a:xfrm>
            <a:off x="275025" y="959425"/>
            <a:ext cx="8439600" cy="3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Remedial actions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problem is restricted to distinct pairs of variables, choosing one variable only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Principal Components Regression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Ridge Regression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4"/>
          <p:cNvSpPr txBox="1">
            <a:spLocks noGrp="1"/>
          </p:cNvSpPr>
          <p:nvPr>
            <p:ph type="title"/>
          </p:nvPr>
        </p:nvSpPr>
        <p:spPr>
          <a:xfrm>
            <a:off x="0" y="5585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Gill Sans"/>
              <a:buNone/>
            </a:pPr>
            <a:r>
              <a:rPr lang="en" sz="2700">
                <a:latin typeface="Gill Sans"/>
                <a:ea typeface="Gill Sans"/>
                <a:cs typeface="Gill Sans"/>
                <a:sym typeface="Gill Sans"/>
              </a:rPr>
              <a:t>Regression Process (Iterative)</a:t>
            </a:r>
            <a:endParaRPr/>
          </a:p>
        </p:txBody>
      </p:sp>
      <p:sp>
        <p:nvSpPr>
          <p:cNvPr id="628" name="Google Shape;628;p54"/>
          <p:cNvSpPr/>
          <p:nvPr/>
        </p:nvSpPr>
        <p:spPr>
          <a:xfrm>
            <a:off x="1917340" y="505350"/>
            <a:ext cx="861600" cy="56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4"/>
          <p:cNvSpPr/>
          <p:nvPr/>
        </p:nvSpPr>
        <p:spPr>
          <a:xfrm>
            <a:off x="1366700" y="1305906"/>
            <a:ext cx="1962900" cy="298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Formulate the Problem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4"/>
          <p:cNvSpPr/>
          <p:nvPr/>
        </p:nvSpPr>
        <p:spPr>
          <a:xfrm>
            <a:off x="2004300" y="2879200"/>
            <a:ext cx="734700" cy="564000"/>
          </a:xfrm>
          <a:prstGeom prst="diamon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ok?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4"/>
          <p:cNvSpPr/>
          <p:nvPr/>
        </p:nvSpPr>
        <p:spPr>
          <a:xfrm>
            <a:off x="1366700" y="1841250"/>
            <a:ext cx="1962900" cy="298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Fit the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4"/>
          <p:cNvSpPr/>
          <p:nvPr/>
        </p:nvSpPr>
        <p:spPr>
          <a:xfrm>
            <a:off x="1377200" y="2355600"/>
            <a:ext cx="1962900" cy="298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Validate Assumptions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4"/>
          <p:cNvSpPr/>
          <p:nvPr/>
        </p:nvSpPr>
        <p:spPr>
          <a:xfrm>
            <a:off x="1387700" y="3594234"/>
            <a:ext cx="1962900" cy="298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Fitted Model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54"/>
          <p:cNvSpPr/>
          <p:nvPr/>
        </p:nvSpPr>
        <p:spPr>
          <a:xfrm>
            <a:off x="2035800" y="4117850"/>
            <a:ext cx="734700" cy="629700"/>
          </a:xfrm>
          <a:prstGeom prst="diamon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54"/>
          <p:cNvSpPr/>
          <p:nvPr/>
        </p:nvSpPr>
        <p:spPr>
          <a:xfrm>
            <a:off x="5363300" y="1158850"/>
            <a:ext cx="19629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a set of variables, form of model, method of fitting, Specific assumptions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54"/>
          <p:cNvSpPr/>
          <p:nvPr/>
        </p:nvSpPr>
        <p:spPr>
          <a:xfrm>
            <a:off x="5363300" y="1859100"/>
            <a:ext cx="19629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method of fitting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54"/>
          <p:cNvSpPr/>
          <p:nvPr/>
        </p:nvSpPr>
        <p:spPr>
          <a:xfrm>
            <a:off x="5415775" y="2571750"/>
            <a:ext cx="19629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Residual plots, Outliers detection, Sensitivity analysis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54"/>
          <p:cNvSpPr/>
          <p:nvPr/>
        </p:nvSpPr>
        <p:spPr>
          <a:xfrm>
            <a:off x="4103790" y="4134525"/>
            <a:ext cx="861600" cy="56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STOP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54"/>
          <p:cNvSpPr/>
          <p:nvPr/>
        </p:nvSpPr>
        <p:spPr>
          <a:xfrm>
            <a:off x="5376550" y="3573250"/>
            <a:ext cx="1962900" cy="298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Goodness of fit tests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54"/>
          <p:cNvSpPr/>
          <p:nvPr/>
        </p:nvSpPr>
        <p:spPr>
          <a:xfrm>
            <a:off x="5415775" y="4199925"/>
            <a:ext cx="1962900" cy="433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" sz="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model for the intended purpose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1" name="Google Shape;641;p54"/>
          <p:cNvCxnSpPr>
            <a:stCxn id="640" idx="1"/>
            <a:endCxn id="638" idx="6"/>
          </p:cNvCxnSpPr>
          <p:nvPr/>
        </p:nvCxnSpPr>
        <p:spPr>
          <a:xfrm rot="10800000">
            <a:off x="4965475" y="4416525"/>
            <a:ext cx="450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42" name="Google Shape;642;p54"/>
          <p:cNvCxnSpPr>
            <a:stCxn id="639" idx="1"/>
            <a:endCxn id="633" idx="3"/>
          </p:cNvCxnSpPr>
          <p:nvPr/>
        </p:nvCxnSpPr>
        <p:spPr>
          <a:xfrm flipH="1">
            <a:off x="3350650" y="3722650"/>
            <a:ext cx="2025900" cy="2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43" name="Google Shape;643;p54"/>
          <p:cNvCxnSpPr>
            <a:stCxn id="637" idx="1"/>
            <a:endCxn id="632" idx="3"/>
          </p:cNvCxnSpPr>
          <p:nvPr/>
        </p:nvCxnSpPr>
        <p:spPr>
          <a:xfrm rot="10800000">
            <a:off x="3340075" y="2505000"/>
            <a:ext cx="2075700" cy="3531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4" name="Google Shape;644;p54"/>
          <p:cNvCxnSpPr>
            <a:stCxn id="636" idx="1"/>
            <a:endCxn id="631" idx="3"/>
          </p:cNvCxnSpPr>
          <p:nvPr/>
        </p:nvCxnSpPr>
        <p:spPr>
          <a:xfrm rot="10800000">
            <a:off x="3329600" y="1990650"/>
            <a:ext cx="2033700" cy="154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5" name="Google Shape;645;p54"/>
          <p:cNvCxnSpPr>
            <a:stCxn id="635" idx="1"/>
            <a:endCxn id="629" idx="3"/>
          </p:cNvCxnSpPr>
          <p:nvPr/>
        </p:nvCxnSpPr>
        <p:spPr>
          <a:xfrm flipH="1">
            <a:off x="3329600" y="1445200"/>
            <a:ext cx="2033700" cy="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46" name="Google Shape;646;p54"/>
          <p:cNvCxnSpPr/>
          <p:nvPr/>
        </p:nvCxnSpPr>
        <p:spPr>
          <a:xfrm>
            <a:off x="692000" y="1158850"/>
            <a:ext cx="0" cy="3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7" name="Google Shape;647;p54"/>
          <p:cNvCxnSpPr>
            <a:stCxn id="630" idx="1"/>
          </p:cNvCxnSpPr>
          <p:nvPr/>
        </p:nvCxnSpPr>
        <p:spPr>
          <a:xfrm rot="10800000">
            <a:off x="694800" y="3161200"/>
            <a:ext cx="1309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48" name="Google Shape;648;p54"/>
          <p:cNvCxnSpPr>
            <a:stCxn id="628" idx="4"/>
            <a:endCxn id="629" idx="0"/>
          </p:cNvCxnSpPr>
          <p:nvPr/>
        </p:nvCxnSpPr>
        <p:spPr>
          <a:xfrm>
            <a:off x="2348140" y="1069350"/>
            <a:ext cx="0" cy="23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49" name="Google Shape;649;p54"/>
          <p:cNvCxnSpPr/>
          <p:nvPr/>
        </p:nvCxnSpPr>
        <p:spPr>
          <a:xfrm>
            <a:off x="2348140" y="1583700"/>
            <a:ext cx="0" cy="23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0" name="Google Shape;650;p54"/>
          <p:cNvCxnSpPr/>
          <p:nvPr/>
        </p:nvCxnSpPr>
        <p:spPr>
          <a:xfrm>
            <a:off x="2348140" y="2119025"/>
            <a:ext cx="0" cy="23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1" name="Google Shape;651;p54"/>
          <p:cNvCxnSpPr/>
          <p:nvPr/>
        </p:nvCxnSpPr>
        <p:spPr>
          <a:xfrm flipH="1">
            <a:off x="2390150" y="3903384"/>
            <a:ext cx="10500" cy="15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2" name="Google Shape;652;p54"/>
          <p:cNvCxnSpPr>
            <a:stCxn id="630" idx="2"/>
            <a:endCxn id="633" idx="0"/>
          </p:cNvCxnSpPr>
          <p:nvPr/>
        </p:nvCxnSpPr>
        <p:spPr>
          <a:xfrm flipH="1">
            <a:off x="2369250" y="3443200"/>
            <a:ext cx="2400" cy="15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3" name="Google Shape;653;p54"/>
          <p:cNvCxnSpPr>
            <a:stCxn id="632" idx="2"/>
            <a:endCxn id="630" idx="0"/>
          </p:cNvCxnSpPr>
          <p:nvPr/>
        </p:nvCxnSpPr>
        <p:spPr>
          <a:xfrm>
            <a:off x="2358650" y="2654400"/>
            <a:ext cx="12900" cy="22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4" name="Google Shape;654;p54"/>
          <p:cNvCxnSpPr>
            <a:stCxn id="634" idx="1"/>
          </p:cNvCxnSpPr>
          <p:nvPr/>
        </p:nvCxnSpPr>
        <p:spPr>
          <a:xfrm rot="10800000">
            <a:off x="694800" y="4432700"/>
            <a:ext cx="1341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5" name="Google Shape;655;p54"/>
          <p:cNvCxnSpPr>
            <a:stCxn id="634" idx="3"/>
            <a:endCxn id="638" idx="2"/>
          </p:cNvCxnSpPr>
          <p:nvPr/>
        </p:nvCxnSpPr>
        <p:spPr>
          <a:xfrm rot="10800000" flipH="1">
            <a:off x="2770500" y="4416500"/>
            <a:ext cx="1333200" cy="1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6" name="Google Shape;656;p54"/>
          <p:cNvCxnSpPr/>
          <p:nvPr/>
        </p:nvCxnSpPr>
        <p:spPr>
          <a:xfrm>
            <a:off x="694900" y="1148375"/>
            <a:ext cx="111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57" name="Google Shape;657;p54"/>
          <p:cNvSpPr txBox="1"/>
          <p:nvPr/>
        </p:nvSpPr>
        <p:spPr>
          <a:xfrm>
            <a:off x="2846450" y="3207800"/>
            <a:ext cx="504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54"/>
          <p:cNvSpPr txBox="1"/>
          <p:nvPr/>
        </p:nvSpPr>
        <p:spPr>
          <a:xfrm>
            <a:off x="2846450" y="4037050"/>
            <a:ext cx="504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54"/>
          <p:cNvSpPr txBox="1"/>
          <p:nvPr/>
        </p:nvSpPr>
        <p:spPr>
          <a:xfrm>
            <a:off x="967500" y="4026550"/>
            <a:ext cx="504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54"/>
          <p:cNvSpPr txBox="1"/>
          <p:nvPr/>
        </p:nvSpPr>
        <p:spPr>
          <a:xfrm>
            <a:off x="883525" y="2766925"/>
            <a:ext cx="504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5"/>
          <p:cNvSpPr txBox="1">
            <a:spLocks noGrp="1"/>
          </p:cNvSpPr>
          <p:nvPr>
            <p:ph type="title"/>
          </p:nvPr>
        </p:nvSpPr>
        <p:spPr>
          <a:xfrm>
            <a:off x="174950" y="94475"/>
            <a:ext cx="7886700" cy="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 sz="3100"/>
              <a:t>Model Assessment</a:t>
            </a:r>
            <a:endParaRPr sz="2433">
              <a:solidFill>
                <a:srgbClr val="0B5394"/>
              </a:solidFill>
            </a:endParaRPr>
          </a:p>
        </p:txBody>
      </p:sp>
      <p:sp>
        <p:nvSpPr>
          <p:cNvPr id="666" name="Google Shape;666;p55"/>
          <p:cNvSpPr txBox="1"/>
          <p:nvPr/>
        </p:nvSpPr>
        <p:spPr>
          <a:xfrm>
            <a:off x="254025" y="896450"/>
            <a:ext cx="8114100" cy="3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selection is important in multiple linear and nonlinear models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Data-rich situation: Randomly divide the data in three parts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7" name="Google Shape;667;p55"/>
          <p:cNvGrpSpPr/>
          <p:nvPr/>
        </p:nvGrpSpPr>
        <p:grpSpPr>
          <a:xfrm>
            <a:off x="1090657" y="1798783"/>
            <a:ext cx="5877900" cy="1389281"/>
            <a:chOff x="1002872" y="4163978"/>
            <a:chExt cx="7837200" cy="1852374"/>
          </a:xfrm>
        </p:grpSpPr>
        <p:sp>
          <p:nvSpPr>
            <p:cNvPr id="668" name="Google Shape;668;p55"/>
            <p:cNvSpPr txBox="1"/>
            <p:nvPr/>
          </p:nvSpPr>
          <p:spPr>
            <a:xfrm>
              <a:off x="1002872" y="4163978"/>
              <a:ext cx="7837200" cy="69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" sz="2800" b="1" i="0" u="none" strike="noStrike" cap="non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Ideal Scenario: Data-rich situation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9" name="Google Shape;669;p55"/>
            <p:cNvGrpSpPr/>
            <p:nvPr/>
          </p:nvGrpSpPr>
          <p:grpSpPr>
            <a:xfrm>
              <a:off x="1187624" y="4797152"/>
              <a:ext cx="7543800" cy="1219200"/>
              <a:chOff x="381000" y="4495800"/>
              <a:chExt cx="7543800" cy="1219200"/>
            </a:xfrm>
          </p:grpSpPr>
          <p:sp>
            <p:nvSpPr>
              <p:cNvPr id="670" name="Google Shape;670;p55"/>
              <p:cNvSpPr/>
              <p:nvPr/>
            </p:nvSpPr>
            <p:spPr>
              <a:xfrm>
                <a:off x="381000" y="4495800"/>
                <a:ext cx="3733800" cy="685800"/>
              </a:xfrm>
              <a:prstGeom prst="rect">
                <a:avLst/>
              </a:prstGeom>
              <a:solidFill>
                <a:srgbClr val="1D9A78"/>
              </a:solidFill>
              <a:ln w="12700" cap="flat" cmpd="sng">
                <a:solidFill>
                  <a:srgbClr val="1D9A7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00"/>
                  <a:buFont typeface="Arial"/>
                  <a:buNone/>
                </a:pPr>
                <a:r>
                  <a:rPr lang="en" sz="2100" b="1" i="0" u="none" strike="noStrike" cap="none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Train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55"/>
              <p:cNvSpPr/>
              <p:nvPr/>
            </p:nvSpPr>
            <p:spPr>
              <a:xfrm>
                <a:off x="4114800" y="4495800"/>
                <a:ext cx="1905000" cy="685800"/>
              </a:xfrm>
              <a:prstGeom prst="rect">
                <a:avLst/>
              </a:prstGeom>
              <a:solidFill>
                <a:srgbClr val="B8D98E"/>
              </a:solidFill>
              <a:ln w="12700" cap="flat" cmpd="sng">
                <a:solidFill>
                  <a:srgbClr val="157057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00"/>
                  <a:buFont typeface="Arial"/>
                  <a:buNone/>
                </a:pPr>
                <a:r>
                  <a:rPr lang="en" sz="2100" b="1" i="0" u="none" strike="noStrike" cap="none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Validation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55"/>
              <p:cNvSpPr/>
              <p:nvPr/>
            </p:nvSpPr>
            <p:spPr>
              <a:xfrm>
                <a:off x="6019800" y="4495800"/>
                <a:ext cx="1905000" cy="685800"/>
              </a:xfrm>
              <a:prstGeom prst="rect">
                <a:avLst/>
              </a:prstGeom>
              <a:solidFill>
                <a:srgbClr val="EA875C"/>
              </a:solidFill>
              <a:ln w="12700" cap="flat" cmpd="sng">
                <a:solidFill>
                  <a:srgbClr val="157057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00"/>
                  <a:buFont typeface="Arial"/>
                  <a:buNone/>
                </a:pPr>
                <a:r>
                  <a:rPr lang="en" sz="2100" b="1" i="0" u="none" strike="noStrike" cap="none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Test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55"/>
              <p:cNvSpPr/>
              <p:nvPr/>
            </p:nvSpPr>
            <p:spPr>
              <a:xfrm rot="5400000">
                <a:off x="4838700" y="4533900"/>
                <a:ext cx="457200" cy="1905000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noFill/>
              <a:ln w="9525" cap="flat" cmpd="sng">
                <a:solidFill>
                  <a:srgbClr val="1D9A7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endParaRPr sz="105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55"/>
              <p:cNvSpPr/>
              <p:nvPr/>
            </p:nvSpPr>
            <p:spPr>
              <a:xfrm rot="5400000">
                <a:off x="2019300" y="3619500"/>
                <a:ext cx="457200" cy="3733800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noFill/>
              <a:ln w="9525" cap="flat" cmpd="sng">
                <a:solidFill>
                  <a:srgbClr val="1D9A7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endParaRPr sz="105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55"/>
              <p:cNvSpPr/>
              <p:nvPr/>
            </p:nvSpPr>
            <p:spPr>
              <a:xfrm rot="5400000">
                <a:off x="6743700" y="4533900"/>
                <a:ext cx="457200" cy="1905000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noFill/>
              <a:ln w="9525" cap="flat" cmpd="sng">
                <a:solidFill>
                  <a:srgbClr val="1D9A7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endParaRPr sz="105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55"/>
              <p:cNvSpPr txBox="1"/>
              <p:nvPr/>
            </p:nvSpPr>
            <p:spPr>
              <a:xfrm>
                <a:off x="1973077" y="5168687"/>
                <a:ext cx="607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lang="en" sz="105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50%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55"/>
              <p:cNvSpPr txBox="1"/>
              <p:nvPr/>
            </p:nvSpPr>
            <p:spPr>
              <a:xfrm>
                <a:off x="4782636" y="5159455"/>
                <a:ext cx="607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lang="en" sz="105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25%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55"/>
              <p:cNvSpPr txBox="1"/>
              <p:nvPr/>
            </p:nvSpPr>
            <p:spPr>
              <a:xfrm>
                <a:off x="6744785" y="5134461"/>
                <a:ext cx="607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lang="en" sz="105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25%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79" name="Google Shape;679;p55"/>
          <p:cNvSpPr txBox="1"/>
          <p:nvPr/>
        </p:nvSpPr>
        <p:spPr>
          <a:xfrm>
            <a:off x="1696681" y="3251197"/>
            <a:ext cx="167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Fit the models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5"/>
          <p:cNvSpPr txBox="1"/>
          <p:nvPr/>
        </p:nvSpPr>
        <p:spPr>
          <a:xfrm>
            <a:off x="3882599" y="3251200"/>
            <a:ext cx="152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selection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5"/>
          <p:cNvSpPr txBox="1"/>
          <p:nvPr/>
        </p:nvSpPr>
        <p:spPr>
          <a:xfrm>
            <a:off x="5473874" y="3251200"/>
            <a:ext cx="167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assessment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5"/>
          <p:cNvSpPr txBox="1"/>
          <p:nvPr/>
        </p:nvSpPr>
        <p:spPr>
          <a:xfrm>
            <a:off x="-2225" y="3710000"/>
            <a:ext cx="5070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800" b="1" i="1" u="none" strike="noStrike" cap="none">
              <a:solidFill>
                <a:srgbClr val="1573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1800" b="0" i="1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Best Model in Practice? Need a Criterion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1" u="none" strike="noStrike" cap="none">
              <a:solidFill>
                <a:srgbClr val="1573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55"/>
          <p:cNvSpPr txBox="1"/>
          <p:nvPr/>
        </p:nvSpPr>
        <p:spPr>
          <a:xfrm>
            <a:off x="5409888" y="3848312"/>
            <a:ext cx="3755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Root Mean Square Error 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 commonly used Criterion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6"/>
          <p:cNvSpPr txBox="1">
            <a:spLocks noGrp="1"/>
          </p:cNvSpPr>
          <p:nvPr>
            <p:ph type="title"/>
          </p:nvPr>
        </p:nvSpPr>
        <p:spPr>
          <a:xfrm>
            <a:off x="174950" y="94475"/>
            <a:ext cx="7886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06451"/>
              <a:buFont typeface="Gill Sans"/>
              <a:buNone/>
            </a:pPr>
            <a:r>
              <a:rPr lang="en" sz="3100"/>
              <a:t>Illustration: Computing Root Mean Square</a:t>
            </a:r>
            <a:endParaRPr sz="31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06451"/>
              <a:buFont typeface="Gill Sans"/>
              <a:buNone/>
            </a:pPr>
            <a:r>
              <a:rPr lang="en" sz="3100"/>
              <a:t>Error(RMSE)</a:t>
            </a:r>
            <a:endParaRPr sz="3100"/>
          </a:p>
        </p:txBody>
      </p:sp>
      <p:graphicFrame>
        <p:nvGraphicFramePr>
          <p:cNvPr id="689" name="Google Shape;689;p56"/>
          <p:cNvGraphicFramePr/>
          <p:nvPr/>
        </p:nvGraphicFramePr>
        <p:xfrm>
          <a:off x="468847" y="896365"/>
          <a:ext cx="7787425" cy="3361750"/>
        </p:xfrm>
        <a:graphic>
          <a:graphicData uri="http://schemas.openxmlformats.org/drawingml/2006/table">
            <a:tbl>
              <a:tblPr firstRow="1" bandRow="1">
                <a:noFill/>
                <a:tableStyleId>{C6F916E4-D75B-46A1-92C1-0E86CC84C86C}</a:tableStyleId>
              </a:tblPr>
              <a:tblGrid>
                <a:gridCol w="131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0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Observation #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Actual Value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Predicted Value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Error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= (Predicted - Actual)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Squared Error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= (Predicted - Actual)</a:t>
                      </a:r>
                      <a:r>
                        <a:rPr lang="en" sz="1300" u="none" strike="noStrike" cap="none" baseline="300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90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-10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55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62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49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104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112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68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74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 = 5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Sum of Squared Error(SSE)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349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Mean Squared Error (MSE)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(SSE) / N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349/5 = 69.8 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Root Mean Squared Error(RMSE)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Sqrt (MSE)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8.35</a:t>
                      </a:r>
                      <a:endParaRPr sz="13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90" name="Google Shape;690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8650" y="4272225"/>
            <a:ext cx="2771100" cy="7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57"/>
          <p:cNvSpPr txBox="1">
            <a:spLocks noGrp="1"/>
          </p:cNvSpPr>
          <p:nvPr>
            <p:ph type="title"/>
          </p:nvPr>
        </p:nvSpPr>
        <p:spPr>
          <a:xfrm>
            <a:off x="68685" y="54779"/>
            <a:ext cx="78867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Suggestions on Books for Regression Analysis</a:t>
            </a:r>
            <a:endParaRPr/>
          </a:p>
        </p:txBody>
      </p:sp>
      <p:pic>
        <p:nvPicPr>
          <p:cNvPr id="696" name="Google Shape;696;p5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154835" y="789384"/>
            <a:ext cx="1185900" cy="15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338" y="789384"/>
            <a:ext cx="1200150" cy="1557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5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129" y="789384"/>
            <a:ext cx="1180116" cy="1549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5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0886" y="789384"/>
            <a:ext cx="1042987" cy="1567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5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9257" y="789384"/>
            <a:ext cx="1042988" cy="1557338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57"/>
          <p:cNvSpPr txBox="1"/>
          <p:nvPr/>
        </p:nvSpPr>
        <p:spPr>
          <a:xfrm>
            <a:off x="6752674" y="2510400"/>
            <a:ext cx="13782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Worth owning, not just for regression, but also for other learning topics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{Older edition is very affordable}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7"/>
          <p:cNvSpPr txBox="1"/>
          <p:nvPr/>
        </p:nvSpPr>
        <p:spPr>
          <a:xfrm>
            <a:off x="5247499" y="2510400"/>
            <a:ext cx="1378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Expensive, advanced treatment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57"/>
          <p:cNvSpPr txBox="1"/>
          <p:nvPr/>
        </p:nvSpPr>
        <p:spPr>
          <a:xfrm>
            <a:off x="659257" y="2534945"/>
            <a:ext cx="2681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Introductory, easy to follow, lots of examples, data sets available at publisher’s website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57"/>
          <p:cNvSpPr txBox="1"/>
          <p:nvPr/>
        </p:nvSpPr>
        <p:spPr>
          <a:xfrm>
            <a:off x="3674748" y="2510405"/>
            <a:ext cx="13164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Very thorough coverage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5" name="Google Shape;705;p5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70971" y="721047"/>
            <a:ext cx="1095087" cy="173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5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5540" y="3115582"/>
            <a:ext cx="1214438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5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342855" y="3110570"/>
            <a:ext cx="1185863" cy="1553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8"/>
          <p:cNvSpPr txBox="1">
            <a:spLocks noGrp="1"/>
          </p:cNvSpPr>
          <p:nvPr>
            <p:ph type="title"/>
          </p:nvPr>
        </p:nvSpPr>
        <p:spPr>
          <a:xfrm>
            <a:off x="148450" y="419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2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4480</Words>
  <Application>Microsoft Office PowerPoint</Application>
  <PresentationFormat>On-screen Show (16:9)</PresentationFormat>
  <Paragraphs>1423</Paragraphs>
  <Slides>58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69" baseType="lpstr">
      <vt:lpstr>Gill Sans</vt:lpstr>
      <vt:lpstr>Arial</vt:lpstr>
      <vt:lpstr>Times New Roman</vt:lpstr>
      <vt:lpstr>Montserrat</vt:lpstr>
      <vt:lpstr>Noto Sans</vt:lpstr>
      <vt:lpstr>Calibri</vt:lpstr>
      <vt:lpstr>Trebuchet MS</vt:lpstr>
      <vt:lpstr>Gill Sans MT</vt:lpstr>
      <vt:lpstr>Cambria Math</vt:lpstr>
      <vt:lpstr>Simple Light</vt:lpstr>
      <vt:lpstr>Office Theme</vt:lpstr>
      <vt:lpstr>Machine Learning  And  Regression </vt:lpstr>
      <vt:lpstr>Contents</vt:lpstr>
      <vt:lpstr>Machine Learning - Definition</vt:lpstr>
      <vt:lpstr>Machine Learning(Supervised) - Schema</vt:lpstr>
      <vt:lpstr>Machine Learning(Supervised) - Schema</vt:lpstr>
      <vt:lpstr>Machine Learning(UnSupervised) - Schema</vt:lpstr>
      <vt:lpstr>Machine Learning - Tasks</vt:lpstr>
      <vt:lpstr>Tasks -  Classification - Binary</vt:lpstr>
      <vt:lpstr>Tasks -  Classification - MultiClass</vt:lpstr>
      <vt:lpstr>Task -  Function Approximation</vt:lpstr>
      <vt:lpstr>Task -  Identifying Patterns - Grouping</vt:lpstr>
      <vt:lpstr>Task -  Identifying Patterns - Grouping</vt:lpstr>
      <vt:lpstr>Task -  Identifying Patterns - Dimensionality Reduction</vt:lpstr>
      <vt:lpstr>PowerPoint Presentation</vt:lpstr>
      <vt:lpstr>Regression Analysis - What is it?</vt:lpstr>
      <vt:lpstr>Regression Analysis - What is it?</vt:lpstr>
      <vt:lpstr>Regression Analysis - What is it?</vt:lpstr>
      <vt:lpstr>Regression Analysis - What is it?</vt:lpstr>
      <vt:lpstr>Regression Analysis - What is it?</vt:lpstr>
      <vt:lpstr>Regression Analysis - What is it?</vt:lpstr>
      <vt:lpstr>Regression Analysis - What is it?</vt:lpstr>
      <vt:lpstr>Regression Analysis - What is it?</vt:lpstr>
      <vt:lpstr>Regression Analysis - What is it?</vt:lpstr>
      <vt:lpstr>PowerPoint Presentation</vt:lpstr>
      <vt:lpstr>Regression Intuition</vt:lpstr>
      <vt:lpstr>Regression Intuition</vt:lpstr>
      <vt:lpstr>Regression Intuition</vt:lpstr>
      <vt:lpstr>Regression Intuition</vt:lpstr>
      <vt:lpstr>Regression Intuition</vt:lpstr>
      <vt:lpstr>Regression Intuition</vt:lpstr>
      <vt:lpstr>Regression Intuition</vt:lpstr>
      <vt:lpstr>Regression Intuition - How good is our Model?</vt:lpstr>
      <vt:lpstr>Regression Intuition - How good is our Model?</vt:lpstr>
      <vt:lpstr>Regression Intuition - How good is our Model?</vt:lpstr>
      <vt:lpstr>Statistical Tests on the model?</vt:lpstr>
      <vt:lpstr>Regression - Interpretation of Coefficients</vt:lpstr>
      <vt:lpstr>PowerPoint Presentation</vt:lpstr>
      <vt:lpstr>Multiple Linear Regression - Example</vt:lpstr>
      <vt:lpstr>Multiple Linear Regression - Model</vt:lpstr>
      <vt:lpstr>Multiple Linear Regression - Model</vt:lpstr>
      <vt:lpstr>Multiple Linear Regression - Model</vt:lpstr>
      <vt:lpstr>PowerPoint Presentation</vt:lpstr>
      <vt:lpstr>Regression Assumptions - Model - Linearity</vt:lpstr>
      <vt:lpstr>Regression Assumptions - Errors</vt:lpstr>
      <vt:lpstr>Regression Assumptions - Errors - Normality</vt:lpstr>
      <vt:lpstr>Regression Assumptions - Errors - Normality</vt:lpstr>
      <vt:lpstr>Regression Assumptions - Errors - Mean Error is zero</vt:lpstr>
      <vt:lpstr>Regression Assumptions - Errors -  Heteroskedasticity</vt:lpstr>
      <vt:lpstr>Regression Assumptions - Errors -  Heteroskedasticity</vt:lpstr>
      <vt:lpstr>Regression Assumptions - Predictor</vt:lpstr>
      <vt:lpstr>Regression Assumptions - Predictor</vt:lpstr>
      <vt:lpstr>Regression Assumptions - Predictor</vt:lpstr>
      <vt:lpstr>Regression Assumptions - Predictor</vt:lpstr>
      <vt:lpstr>Regression Process (Iterative)</vt:lpstr>
      <vt:lpstr>Model Assessment</vt:lpstr>
      <vt:lpstr>Illustration: Computing Root Mean Square Error(RMSE)</vt:lpstr>
      <vt:lpstr>Suggestions on Books for Regression Analysis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 And Regression</dc:title>
  <dc:creator>Raman</dc:creator>
  <cp:lastModifiedBy>GITAA</cp:lastModifiedBy>
  <cp:revision>35</cp:revision>
  <dcterms:modified xsi:type="dcterms:W3CDTF">2024-01-22T08:45:52Z</dcterms:modified>
</cp:coreProperties>
</file>