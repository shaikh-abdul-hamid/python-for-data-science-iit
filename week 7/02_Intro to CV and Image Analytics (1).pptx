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  <p:sldMasterId id="2147483662" r:id="rId2"/>
  </p:sldMasterIdLst>
  <p:notesMasterIdLst>
    <p:notesMasterId r:id="rId34"/>
  </p:notesMasterIdLst>
  <p:sldIdLst>
    <p:sldId id="256" r:id="rId3"/>
    <p:sldId id="360" r:id="rId4"/>
    <p:sldId id="487" r:id="rId5"/>
    <p:sldId id="464" r:id="rId6"/>
    <p:sldId id="465" r:id="rId7"/>
    <p:sldId id="466" r:id="rId8"/>
    <p:sldId id="488" r:id="rId9"/>
    <p:sldId id="379" r:id="rId10"/>
    <p:sldId id="490" r:id="rId11"/>
    <p:sldId id="489" r:id="rId12"/>
    <p:sldId id="491" r:id="rId13"/>
    <p:sldId id="456" r:id="rId14"/>
    <p:sldId id="480" r:id="rId15"/>
    <p:sldId id="481" r:id="rId16"/>
    <p:sldId id="482" r:id="rId17"/>
    <p:sldId id="483" r:id="rId18"/>
    <p:sldId id="369" r:id="rId19"/>
    <p:sldId id="370" r:id="rId20"/>
    <p:sldId id="371" r:id="rId21"/>
    <p:sldId id="484" r:id="rId22"/>
    <p:sldId id="384" r:id="rId23"/>
    <p:sldId id="375" r:id="rId24"/>
    <p:sldId id="372" r:id="rId25"/>
    <p:sldId id="373" r:id="rId26"/>
    <p:sldId id="374" r:id="rId27"/>
    <p:sldId id="376" r:id="rId28"/>
    <p:sldId id="485" r:id="rId29"/>
    <p:sldId id="270" r:id="rId30"/>
    <p:sldId id="290" r:id="rId31"/>
    <p:sldId id="471" r:id="rId32"/>
    <p:sldId id="297" r:id="rId33"/>
  </p:sldIdLst>
  <p:sldSz cx="12192000" cy="6858000"/>
  <p:notesSz cx="6858000" cy="9144000"/>
  <p:embeddedFontLst>
    <p:embeddedFont>
      <p:font typeface="Cambria Math" panose="02040503050406030204" pitchFamily="18" charset="0"/>
      <p:regular r:id="rId35"/>
    </p:embeddedFont>
    <p:embeddedFont>
      <p:font typeface="Gill Sans" panose="020B0604020202020204" charset="0"/>
      <p:regular r:id="rId36"/>
      <p:bold r:id="rId37"/>
    </p:embeddedFont>
    <p:embeddedFont>
      <p:font typeface="Montserrat" panose="00000500000000000000" pitchFamily="2" charset="0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jOTaGbNffGq71an2i6rlV/tm8b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CFFE94-10C1-41BB-BACE-F84C5C724260}">
  <a:tblStyle styleId="{7ECFFE94-10C1-41BB-BACE-F84C5C724260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tcBdr/>
        <a:fill>
          <a:solidFill>
            <a:srgbClr val="FFE2C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FE2C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17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68" Type="http://customschemas.google.com/relationships/presentationmetadata" Target="metadata"/><Relationship Id="rId7" Type="http://schemas.openxmlformats.org/officeDocument/2006/relationships/slide" Target="slides/slide5.xml"/><Relationship Id="rId71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69" Type="http://schemas.openxmlformats.org/officeDocument/2006/relationships/presProps" Target="presProps.xml"/><Relationship Id="rId8" Type="http://schemas.openxmlformats.org/officeDocument/2006/relationships/slide" Target="slides/slide6.xml"/><Relationship Id="rId72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7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8" name="Google Shape;108;p1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:notes"/>
          <p:cNvSpPr txBox="1">
            <a:spLocks noGrp="1"/>
          </p:cNvSpPr>
          <p:nvPr>
            <p:ph type="sldNum" idx="12"/>
          </p:nvPr>
        </p:nvSpPr>
        <p:spPr>
          <a:xfrm>
            <a:off x="4023992" y="9721106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00447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723726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59152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12564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2e6d1a2b9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a2e6d1a2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19093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064437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460456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631631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88446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043205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20445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81559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439659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80719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558538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861972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48778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98835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47948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892165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a2e6d1a2b9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ga2e6d1a2b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425354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407228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932502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42514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/>
          </a:p>
        </p:txBody>
      </p:sp>
      <p:sp>
        <p:nvSpPr>
          <p:cNvPr id="264" name="Google Shape;26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982044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a7509579c8_0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a7509579c8_0_1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9" name="Google Shape;529;ga7509579c8_0_1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1969619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2:notes"/>
          <p:cNvSpPr txBox="1">
            <a:spLocks noGrp="1"/>
          </p:cNvSpPr>
          <p:nvPr>
            <p:ph type="body" idx="1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50" tIns="48325" rIns="96650" bIns="483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441" name="Google Shape;44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4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6" name="Google Shape;16;p4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6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46"/>
          <p:cNvSpPr txBox="1">
            <a:spLocks noGrp="1"/>
          </p:cNvSpPr>
          <p:nvPr>
            <p:ph type="body" idx="1"/>
          </p:nvPr>
        </p:nvSpPr>
        <p:spPr>
          <a:xfrm>
            <a:off x="838200" y="158636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260"/>
              <a:buChar char="⚫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7"/>
          <p:cNvSpPr txBox="1">
            <a:spLocks noGrp="1"/>
          </p:cNvSpPr>
          <p:nvPr>
            <p:ph type="title"/>
          </p:nvPr>
        </p:nvSpPr>
        <p:spPr>
          <a:xfrm>
            <a:off x="301611" y="1365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Gill Sans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7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31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Font typeface="Arial"/>
              <a:buChar char="•"/>
              <a:defRPr/>
            </a:lvl1pPr>
            <a:lvl2pPr marL="914400" lvl="1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48991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43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5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  <a:defRPr sz="4300" b="0" i="0" u="none" strike="noStrike" cap="none">
                <a:solidFill>
                  <a:srgbClr val="0B5394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6" name="Google Shape;66;p45"/>
          <p:cNvSpPr txBox="1">
            <a:spLocks noGrp="1"/>
          </p:cNvSpPr>
          <p:nvPr>
            <p:ph type="body" idx="1"/>
          </p:nvPr>
        </p:nvSpPr>
        <p:spPr>
          <a:xfrm>
            <a:off x="261260" y="142961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708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224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2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45"/>
          <p:cNvSpPr txBox="1"/>
          <p:nvPr/>
        </p:nvSpPr>
        <p:spPr>
          <a:xfrm>
            <a:off x="1384663" y="6444476"/>
            <a:ext cx="2402146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D47"/>
              </a:buClr>
              <a:buSzPts val="1200"/>
              <a:buFont typeface="Arial"/>
              <a:buNone/>
            </a:pPr>
            <a:r>
              <a:rPr lang="en-US" sz="1200" b="1" i="0" u="none" strike="noStrike" cap="none" dirty="0">
                <a:solidFill>
                  <a:srgbClr val="232D47"/>
                </a:solidFill>
                <a:latin typeface="Arial"/>
                <a:ea typeface="Arial"/>
                <a:cs typeface="Arial"/>
                <a:sym typeface="Arial"/>
              </a:rPr>
              <a:t>Deep Learning</a:t>
            </a:r>
          </a:p>
        </p:txBody>
      </p:sp>
      <p:sp>
        <p:nvSpPr>
          <p:cNvPr id="69" name="Google Shape;69;p45"/>
          <p:cNvSpPr txBox="1"/>
          <p:nvPr/>
        </p:nvSpPr>
        <p:spPr>
          <a:xfrm>
            <a:off x="11279285" y="6413698"/>
            <a:ext cx="613955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232D47"/>
                </a:solidFill>
                <a:latin typeface="Gill Sans"/>
                <a:ea typeface="Gill Sans"/>
                <a:cs typeface="Gill Sans"/>
                <a:sym typeface="Gill Sans"/>
              </a:rPr>
              <a:t>‹#›</a:t>
            </a:fld>
            <a:endParaRPr sz="1200">
              <a:solidFill>
                <a:srgbClr val="232D47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3" r:id="rId1"/>
    <p:sldLayoutId id="2147483674" r:id="rId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towardsdatascience.com/a-comprehensive-guide-to-convolutional-neural-networks-the-eli5-way-3bd2b1164a53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13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12" Type="http://schemas.openxmlformats.org/officeDocument/2006/relationships/image" Target="NUL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NULL"/><Relationship Id="rId5" Type="http://schemas.openxmlformats.org/officeDocument/2006/relationships/image" Target="NULL"/><Relationship Id="rId10" Type="http://schemas.openxmlformats.org/officeDocument/2006/relationships/image" Target="NULL"/><Relationship Id="rId4" Type="http://schemas.openxmlformats.org/officeDocument/2006/relationships/image" Target="NULL"/><Relationship Id="rId9" Type="http://schemas.openxmlformats.org/officeDocument/2006/relationships/image" Target="NUL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1fXCRtSUWU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>
            <a:spLocks noGrp="1"/>
          </p:cNvSpPr>
          <p:nvPr>
            <p:ph type="ctrTitle" idx="4294967295"/>
          </p:nvPr>
        </p:nvSpPr>
        <p:spPr>
          <a:xfrm>
            <a:off x="0" y="2057133"/>
            <a:ext cx="12192000" cy="3524800"/>
          </a:xfrm>
          <a:prstGeom prst="rect">
            <a:avLst/>
          </a:prstGeom>
          <a:noFill/>
          <a:ln>
            <a:noFill/>
          </a:ln>
          <a:effectLst>
            <a:outerShdw dist="2540000" dir="21540000" sx="1000" sy="1000" algn="ctr" rotWithShape="0">
              <a:srgbClr val="000000"/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Deep Learning </a:t>
            </a:r>
            <a:b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on </a:t>
            </a:r>
            <a:b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IN" sz="5333" b="1" i="0" u="none" strike="noStrike" cap="none" dirty="0">
                <a:solidFill>
                  <a:schemeClr val="bg1"/>
                </a:solidFill>
                <a:latin typeface="Montserrat"/>
                <a:ea typeface="Montserrat"/>
                <a:cs typeface="Montserrat"/>
                <a:sym typeface="Montserrat"/>
              </a:rPr>
              <a:t>Images/Videos</a:t>
            </a:r>
            <a:endParaRPr sz="5333" b="1" i="0" u="none" strike="noStrike" cap="none" dirty="0">
              <a:solidFill>
                <a:schemeClr val="bg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Contents</a:t>
            </a:r>
            <a:endParaRPr dirty="0"/>
          </a:p>
        </p:txBody>
      </p:sp>
      <p:sp>
        <p:nvSpPr>
          <p:cNvPr id="117" name="Google Shape;117;p2"/>
          <p:cNvSpPr txBox="1">
            <a:spLocks noGrp="1"/>
          </p:cNvSpPr>
          <p:nvPr>
            <p:ph type="body" idx="1"/>
          </p:nvPr>
        </p:nvSpPr>
        <p:spPr>
          <a:xfrm>
            <a:off x="838200" y="1416550"/>
            <a:ext cx="10515600" cy="45211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Deep Learning on Images/Videos</a:t>
            </a:r>
          </a:p>
          <a:p>
            <a:pPr marL="342900" lvl="0" indent="-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Convolution Neural Networks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/>
              <a:t>Architecture of CNNs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/>
              <a:t>Convolution operation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400" dirty="0"/>
              <a:t>Pooling operation</a:t>
            </a:r>
          </a:p>
          <a:p>
            <a:pPr marL="342900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r>
              <a:rPr lang="en-IN" sz="2800" dirty="0"/>
              <a:t>Power of CNNs</a:t>
            </a:r>
          </a:p>
          <a:p>
            <a:pPr marL="800100" lvl="1">
              <a:lnSpc>
                <a:spcPct val="100000"/>
              </a:lnSpc>
              <a:spcBef>
                <a:spcPts val="0"/>
              </a:spcBef>
              <a:buSzPts val="1736"/>
              <a:buFont typeface="Wingdings" panose="05000000000000000000" pitchFamily="2" charset="2"/>
              <a:buChar char="Ø"/>
            </a:pPr>
            <a:endParaRPr lang="en-IN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Video is Collection of Multiple Images</a:t>
            </a:r>
            <a:endParaRPr dirty="0"/>
          </a:p>
        </p:txBody>
      </p:sp>
      <p:sp>
        <p:nvSpPr>
          <p:cNvPr id="2" name="Google Shape;167;p9">
            <a:extLst>
              <a:ext uri="{FF2B5EF4-FFF2-40B4-BE49-F238E27FC236}">
                <a16:creationId xmlns:a16="http://schemas.microsoft.com/office/drawing/2014/main" id="{DC9BDAC8-1B2B-27C2-40BF-35F271FD72AF}"/>
              </a:ext>
            </a:extLst>
          </p:cNvPr>
          <p:cNvSpPr txBox="1">
            <a:spLocks/>
          </p:cNvSpPr>
          <p:nvPr/>
        </p:nvSpPr>
        <p:spPr>
          <a:xfrm>
            <a:off x="853440" y="1100214"/>
            <a:ext cx="1017016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Video is a sequence of images (called frames)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Sequence of images are displayed at certain frequency (fps) to make it appear like a video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Analysis of a video can be carried out by taking frames out of it </a:t>
            </a:r>
          </a:p>
        </p:txBody>
      </p:sp>
    </p:spTree>
    <p:extLst>
      <p:ext uri="{BB962C8B-B14F-4D97-AF65-F5344CB8AC3E}">
        <p14:creationId xmlns:p14="http://schemas.microsoft.com/office/powerpoint/2010/main" val="828517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Making Deductions from an Image</a:t>
            </a:r>
            <a:endParaRPr dirty="0"/>
          </a:p>
        </p:txBody>
      </p:sp>
      <p:sp>
        <p:nvSpPr>
          <p:cNvPr id="9" name="Google Shape;167;p9">
            <a:extLst>
              <a:ext uri="{FF2B5EF4-FFF2-40B4-BE49-F238E27FC236}">
                <a16:creationId xmlns:a16="http://schemas.microsoft.com/office/drawing/2014/main" id="{2A9FFB6C-DAA4-4538-9F6E-AC0C8B074BF3}"/>
              </a:ext>
            </a:extLst>
          </p:cNvPr>
          <p:cNvSpPr txBox="1">
            <a:spLocks/>
          </p:cNvSpPr>
          <p:nvPr/>
        </p:nvSpPr>
        <p:spPr>
          <a:xfrm>
            <a:off x="853440" y="1100214"/>
            <a:ext cx="1017016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To perform a particular task on an image, some features of the image are required  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Filters are used to extract useful features from an image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Simply put, filter is a mathematical operation on the pixels of an image which transforms the image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Pixels of transformed image are used to perform the given task on the image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>
                <a:solidFill>
                  <a:srgbClr val="0070C0"/>
                </a:solidFill>
              </a:rPr>
              <a:t>Question:</a:t>
            </a:r>
            <a:r>
              <a:rPr lang="en-IN" sz="2800" dirty="0"/>
              <a:t> Where is learning here ?</a:t>
            </a:r>
          </a:p>
        </p:txBody>
      </p:sp>
      <p:pic>
        <p:nvPicPr>
          <p:cNvPr id="8" name="Google Shape;340;p15">
            <a:extLst>
              <a:ext uri="{FF2B5EF4-FFF2-40B4-BE49-F238E27FC236}">
                <a16:creationId xmlns:a16="http://schemas.microsoft.com/office/drawing/2014/main" id="{54C36540-A21F-7392-264F-811881D30B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96480" y="4520310"/>
            <a:ext cx="4572046" cy="19211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2448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dirty="0"/>
              <a:t>L</a:t>
            </a:r>
            <a:r>
              <a:rPr lang="en-US" dirty="0"/>
              <a:t>earning filters for Feature Extraction</a:t>
            </a:r>
            <a:endParaRPr dirty="0"/>
          </a:p>
        </p:txBody>
      </p:sp>
      <p:sp>
        <p:nvSpPr>
          <p:cNvPr id="9" name="Google Shape;167;p9">
            <a:extLst>
              <a:ext uri="{FF2B5EF4-FFF2-40B4-BE49-F238E27FC236}">
                <a16:creationId xmlns:a16="http://schemas.microsoft.com/office/drawing/2014/main" id="{2A9FFB6C-DAA4-4538-9F6E-AC0C8B074BF3}"/>
              </a:ext>
            </a:extLst>
          </p:cNvPr>
          <p:cNvSpPr txBox="1">
            <a:spLocks/>
          </p:cNvSpPr>
          <p:nvPr/>
        </p:nvSpPr>
        <p:spPr>
          <a:xfrm>
            <a:off x="853440" y="1100214"/>
            <a:ext cx="1017016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/>
              <a:t>In practice, it is not known which filter gives the features required for the task</a:t>
            </a:r>
          </a:p>
          <a:p>
            <a:pPr indent="-457200">
              <a:lnSpc>
                <a:spcPct val="10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rgbClr val="0070C0"/>
                </a:solidFill>
              </a:rPr>
              <a:t>Idea: </a:t>
            </a:r>
            <a:r>
              <a:rPr lang="en-IN" sz="2600" dirty="0">
                <a:solidFill>
                  <a:schemeClr val="tx1"/>
                </a:solidFill>
              </a:rPr>
              <a:t>To learn the required filter from data</a:t>
            </a:r>
          </a:p>
          <a:p>
            <a:pPr indent="-457200">
              <a:lnSpc>
                <a:spcPct val="10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rgbClr val="0070C0"/>
                </a:solidFill>
              </a:rPr>
              <a:t>Example: </a:t>
            </a:r>
            <a:r>
              <a:rPr lang="en-IN" sz="2600" dirty="0">
                <a:solidFill>
                  <a:schemeClr val="tx1"/>
                </a:solidFill>
              </a:rPr>
              <a:t>Learning to identify a batsman in an image</a:t>
            </a:r>
          </a:p>
          <a:p>
            <a:pPr indent="-457200">
              <a:lnSpc>
                <a:spcPct val="10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600" dirty="0">
                <a:solidFill>
                  <a:schemeClr val="tx1"/>
                </a:solidFill>
              </a:rPr>
              <a:t>Extract features from different images which will enable the computer to recognise a batsman in general</a:t>
            </a:r>
          </a:p>
        </p:txBody>
      </p:sp>
      <p:pic>
        <p:nvPicPr>
          <p:cNvPr id="2" name="Picture 4" descr="Know Some Unique Records Of Great Cricketer Sachin Tendulkar In Cricket  History No Other Player Is Near These Stats | Sachin Tendulkar Records:  क्रिकेट के महान खिलाड़ी सचिन तेंदुलकर के कुछ अनोखे">
            <a:extLst>
              <a:ext uri="{FF2B5EF4-FFF2-40B4-BE49-F238E27FC236}">
                <a16:creationId xmlns:a16="http://schemas.microsoft.com/office/drawing/2014/main" id="{C026DD6C-7890-32D0-F446-BA9312B8C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896" y="4257040"/>
            <a:ext cx="2365584" cy="214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8" name="Picture 2" descr="IND vs SL 2022 - 1st Test - The many versions of batting genius Virat Kohli  | ESPNcricinfo">
            <a:extLst>
              <a:ext uri="{FF2B5EF4-FFF2-40B4-BE49-F238E27FC236}">
                <a16:creationId xmlns:a16="http://schemas.microsoft.com/office/drawing/2014/main" id="{325FC630-2E2F-9830-42DE-A9C9B297D7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5274" y="4257040"/>
            <a:ext cx="3222255" cy="21475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5 cricketers with the most unusual batting stances">
            <a:extLst>
              <a:ext uri="{FF2B5EF4-FFF2-40B4-BE49-F238E27FC236}">
                <a16:creationId xmlns:a16="http://schemas.microsoft.com/office/drawing/2014/main" id="{84920A86-1F95-22BD-2020-F9836261C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8323" y="4213413"/>
            <a:ext cx="3222255" cy="2191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9190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2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dirty="0"/>
              <a:t>L</a:t>
            </a:r>
            <a:r>
              <a:rPr lang="en-US" dirty="0"/>
              <a:t>earning filters for Feature Extraction</a:t>
            </a:r>
            <a:endParaRPr dirty="0"/>
          </a:p>
        </p:txBody>
      </p:sp>
      <p:sp>
        <p:nvSpPr>
          <p:cNvPr id="9" name="Google Shape;167;p9">
            <a:extLst>
              <a:ext uri="{FF2B5EF4-FFF2-40B4-BE49-F238E27FC236}">
                <a16:creationId xmlns:a16="http://schemas.microsoft.com/office/drawing/2014/main" id="{2A9FFB6C-DAA4-4538-9F6E-AC0C8B074BF3}"/>
              </a:ext>
            </a:extLst>
          </p:cNvPr>
          <p:cNvSpPr txBox="1">
            <a:spLocks/>
          </p:cNvSpPr>
          <p:nvPr/>
        </p:nvSpPr>
        <p:spPr>
          <a:xfrm>
            <a:off x="782320" y="1090054"/>
            <a:ext cx="10393680" cy="5465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861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891A7"/>
              </a:buClr>
              <a:buSzPts val="1260"/>
              <a:buFont typeface="Noto Sans Symbols"/>
              <a:buChar char="⚫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891A7"/>
              </a:buClr>
              <a:buSzPts val="1800"/>
              <a:buFont typeface="Verdana"/>
              <a:buChar char="◦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C000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030A0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In general, multiple layers of filters are required to extract different levels of features for the task</a:t>
            </a:r>
          </a:p>
          <a:p>
            <a:pPr indent="-457200">
              <a:lnSpc>
                <a:spcPct val="110000"/>
              </a:lnSpc>
              <a:buSzPts val="2240"/>
              <a:buFont typeface="Courier New" panose="02070309020205020404" pitchFamily="49" charset="0"/>
              <a:buChar char="o"/>
            </a:pPr>
            <a:r>
              <a:rPr lang="en-IN" sz="2800" dirty="0"/>
              <a:t>Features at higher level depend on features at lower level</a:t>
            </a:r>
          </a:p>
          <a:p>
            <a:pPr marL="419100" lvl="0" indent="-457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rgbClr val="0070C0"/>
                </a:solidFill>
              </a:rPr>
              <a:t>An analogy:</a:t>
            </a:r>
          </a:p>
          <a:p>
            <a:pPr marL="876300" lvl="1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600" dirty="0"/>
              <a:t>Suppose we are reading a paragraph of text</a:t>
            </a:r>
          </a:p>
          <a:p>
            <a:pPr marL="876300" lvl="1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600" dirty="0"/>
              <a:t>Consists of lines, words and characters</a:t>
            </a:r>
          </a:p>
          <a:p>
            <a:pPr marL="876300" lvl="1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600" dirty="0"/>
              <a:t>Reading and understanding a paragraph involves:</a:t>
            </a:r>
          </a:p>
          <a:p>
            <a:pPr marL="1333500" lvl="2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Interpreting set of characters as a word</a:t>
            </a:r>
          </a:p>
          <a:p>
            <a:pPr marL="1333500" lvl="2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Interpreting the meaning conveyed by set of words in a line</a:t>
            </a:r>
          </a:p>
          <a:p>
            <a:pPr marL="1333500" lvl="2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Interpreting the overall context and meaning of a set of lines</a:t>
            </a:r>
          </a:p>
          <a:p>
            <a:pPr marL="876300" lvl="2" indent="0">
              <a:lnSpc>
                <a:spcPct val="110000"/>
              </a:lnSpc>
              <a:spcBef>
                <a:spcPts val="0"/>
              </a:spcBef>
              <a:buSzPts val="1720"/>
              <a:buNone/>
            </a:pPr>
            <a:endParaRPr lang="en-IN" sz="2800" dirty="0"/>
          </a:p>
          <a:p>
            <a:pPr marL="419100" indent="-457200">
              <a:lnSpc>
                <a:spcPct val="11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2800" dirty="0"/>
              <a:t>To perform this layered featured extraction using filters, a neural network called </a:t>
            </a:r>
            <a:r>
              <a:rPr lang="en-IN" sz="2800" dirty="0">
                <a:solidFill>
                  <a:srgbClr val="0070C0"/>
                </a:solidFill>
              </a:rPr>
              <a:t>Convolution Neural Network (CNN) </a:t>
            </a:r>
            <a:r>
              <a:rPr lang="en-IN" sz="2800" dirty="0"/>
              <a:t>is used in DL</a:t>
            </a:r>
          </a:p>
        </p:txBody>
      </p:sp>
    </p:spTree>
    <p:extLst>
      <p:ext uri="{BB962C8B-B14F-4D97-AF65-F5344CB8AC3E}">
        <p14:creationId xmlns:p14="http://schemas.microsoft.com/office/powerpoint/2010/main" val="43760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2720845" y="2543350"/>
            <a:ext cx="7122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dirty="0"/>
              <a:t>Convolution Neural Networks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8526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3"/>
          <p:cNvSpPr txBox="1">
            <a:spLocks noGrp="1"/>
          </p:cNvSpPr>
          <p:nvPr>
            <p:ph type="title"/>
          </p:nvPr>
        </p:nvSpPr>
        <p:spPr>
          <a:xfrm>
            <a:off x="312060" y="151948"/>
            <a:ext cx="10515600" cy="10084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CNN Architecture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D7AC7E-16FC-404B-B644-FDDB2966F4D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7961"/>
          <a:stretch/>
        </p:blipFill>
        <p:spPr>
          <a:xfrm>
            <a:off x="1069777" y="1387005"/>
            <a:ext cx="9384863" cy="349567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251A32F-573E-40BE-8DFF-016AC9838B8C}"/>
              </a:ext>
            </a:extLst>
          </p:cNvPr>
          <p:cNvSpPr txBox="1"/>
          <p:nvPr/>
        </p:nvSpPr>
        <p:spPr>
          <a:xfrm>
            <a:off x="205198" y="4813137"/>
            <a:ext cx="302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Input 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318A61-EC05-43B5-A666-6B1951C41544}"/>
              </a:ext>
            </a:extLst>
          </p:cNvPr>
          <p:cNvSpPr txBox="1"/>
          <p:nvPr/>
        </p:nvSpPr>
        <p:spPr>
          <a:xfrm>
            <a:off x="4626429" y="5963558"/>
            <a:ext cx="74347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Image Source: </a:t>
            </a:r>
            <a:r>
              <a:rPr lang="en-US" sz="1600" dirty="0">
                <a:hlinkClick r:id="rId4"/>
              </a:rPr>
              <a:t>A Comprehensive Guide to Convolutional Neural Networks — the ELI5 way | by </a:t>
            </a:r>
            <a:r>
              <a:rPr lang="en-US" sz="1600" dirty="0" err="1">
                <a:hlinkClick r:id="rId4"/>
              </a:rPr>
              <a:t>Sumit</a:t>
            </a:r>
            <a:r>
              <a:rPr lang="en-US" sz="1600" dirty="0">
                <a:hlinkClick r:id="rId4"/>
              </a:rPr>
              <a:t> </a:t>
            </a:r>
            <a:r>
              <a:rPr lang="en-US" sz="1600" dirty="0" err="1">
                <a:hlinkClick r:id="rId4"/>
              </a:rPr>
              <a:t>Saha</a:t>
            </a:r>
            <a:r>
              <a:rPr lang="en-US" sz="1600" dirty="0">
                <a:hlinkClick r:id="rId4"/>
              </a:rPr>
              <a:t> | Towards Data Science</a:t>
            </a:r>
            <a:endParaRPr lang="en-US" sz="16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13F1DE-56A4-4941-A9E2-C9DB97EDB381}"/>
              </a:ext>
            </a:extLst>
          </p:cNvPr>
          <p:cNvSpPr txBox="1"/>
          <p:nvPr/>
        </p:nvSpPr>
        <p:spPr>
          <a:xfrm>
            <a:off x="2457269" y="4158677"/>
            <a:ext cx="21715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 Layer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3444E3-8DFF-484F-8F78-D6AD71E5ED68}"/>
              </a:ext>
            </a:extLst>
          </p:cNvPr>
          <p:cNvSpPr txBox="1"/>
          <p:nvPr/>
        </p:nvSpPr>
        <p:spPr>
          <a:xfrm>
            <a:off x="3763797" y="4165721"/>
            <a:ext cx="30257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155A7A-992A-4DE3-B6B1-F4CB9E7F435A}"/>
              </a:ext>
            </a:extLst>
          </p:cNvPr>
          <p:cNvSpPr txBox="1"/>
          <p:nvPr/>
        </p:nvSpPr>
        <p:spPr>
          <a:xfrm>
            <a:off x="6054755" y="4112511"/>
            <a:ext cx="14695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Convolution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DD7BD94-A6EB-47ED-8B71-A1F37096DF6D}"/>
              </a:ext>
            </a:extLst>
          </p:cNvPr>
          <p:cNvSpPr txBox="1"/>
          <p:nvPr/>
        </p:nvSpPr>
        <p:spPr>
          <a:xfrm>
            <a:off x="7596172" y="4125407"/>
            <a:ext cx="11094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Pooling</a:t>
            </a:r>
          </a:p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layer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D4F8E7-A131-EC1A-7B4C-BAA6A3EE55A1}"/>
              </a:ext>
            </a:extLst>
          </p:cNvPr>
          <p:cNvSpPr txBox="1"/>
          <p:nvPr/>
        </p:nvSpPr>
        <p:spPr>
          <a:xfrm>
            <a:off x="9613756" y="4266398"/>
            <a:ext cx="13737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Flattening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239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5" grpId="0"/>
      <p:bldP spid="16" grpId="0"/>
      <p:bldP spid="17" grpId="0"/>
      <p:bldP spid="18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9122229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Activation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184845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9122229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Input layer </a:t>
            </a:r>
            <a:r>
              <a:rPr lang="en-IN" dirty="0">
                <a:solidFill>
                  <a:schemeClr val="tx1"/>
                </a:solidFill>
              </a:rPr>
              <a:t>– Image is fed in the form of pixel data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</a:t>
            </a:r>
            <a:r>
              <a:rPr lang="en-IN" dirty="0">
                <a:solidFill>
                  <a:srgbClr val="0070C0"/>
                </a:solidFill>
              </a:rPr>
              <a:t>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Activation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37425536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Image as Pixel Data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D4DA97-2CD1-4C20-A2D5-424FE726B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1934" y="1127760"/>
            <a:ext cx="7590066" cy="4846320"/>
          </a:xfrm>
          <a:prstGeom prst="rect">
            <a:avLst/>
          </a:prstGeom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A8D7CC72-24E0-C8DA-AC39-E2F9D0F6B6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17" y="1254760"/>
            <a:ext cx="3325180" cy="4592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62419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10515600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Convolution layers </a:t>
            </a:r>
            <a:r>
              <a:rPr lang="en-IN" dirty="0">
                <a:solidFill>
                  <a:schemeClr val="tx1"/>
                </a:solidFill>
              </a:rPr>
              <a:t>– Convolution filters are passed over pixel data of images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Activation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417041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8F8F13C-5419-46AE-8E80-9ECC3F80B86A}"/>
              </a:ext>
            </a:extLst>
          </p:cNvPr>
          <p:cNvGrpSpPr/>
          <p:nvPr/>
        </p:nvGrpSpPr>
        <p:grpSpPr>
          <a:xfrm>
            <a:off x="5595258" y="2211088"/>
            <a:ext cx="3657600" cy="1730828"/>
            <a:chOff x="5758543" y="1915886"/>
            <a:chExt cx="3657600" cy="173082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7C88DB9C-E3A1-41CB-BE3A-42343F73C826}"/>
                </a:ext>
              </a:extLst>
            </p:cNvPr>
            <p:cNvSpPr/>
            <p:nvPr/>
          </p:nvSpPr>
          <p:spPr>
            <a:xfrm>
              <a:off x="5758543" y="1915886"/>
              <a:ext cx="3657600" cy="1730828"/>
            </a:xfrm>
            <a:prstGeom prst="rect">
              <a:avLst/>
            </a:prstGeom>
            <a:solidFill>
              <a:srgbClr val="00B0F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758EA4-C65A-45B6-9B5C-54B034E52A47}"/>
                    </a:ext>
                  </a:extLst>
                </p:cNvPr>
                <p:cNvSpPr txBox="1"/>
                <p:nvPr/>
              </p:nvSpPr>
              <p:spPr>
                <a:xfrm>
                  <a:off x="6041090" y="2147149"/>
                  <a:ext cx="3203313" cy="11405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24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31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32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33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34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6758EA4-C65A-45B6-9B5C-54B034E52A4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41090" y="2147149"/>
                  <a:ext cx="3203313" cy="114056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5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6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703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7" grpId="0"/>
      <p:bldP spid="2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5877804" y="2349853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7745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6716001" y="2349853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/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blipFill>
                <a:blip r:embed="rId9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216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7532431" y="2349853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/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blipFill>
                <a:blip r:embed="rId9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/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blipFill>
                <a:blip r:embed="rId10"/>
                <a:stretch>
                  <a:fillRect l="-1749" r="-583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45687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5823376" y="2807058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/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blipFill>
                <a:blip r:embed="rId9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/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blipFill>
                <a:blip r:embed="rId10"/>
                <a:stretch>
                  <a:fillRect l="-1749" r="-583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/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blipFill>
                <a:blip r:embed="rId11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81984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6672462" y="2807058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/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blipFill>
                <a:blip r:embed="rId9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/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blipFill>
                <a:blip r:embed="rId10"/>
                <a:stretch>
                  <a:fillRect l="-1749" r="-583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/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blipFill>
                <a:blip r:embed="rId11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53DB88-283A-4DE1-92E6-6D24DC14CFB9}"/>
                  </a:ext>
                </a:extLst>
              </p:cNvPr>
              <p:cNvSpPr txBox="1"/>
              <p:nvPr/>
            </p:nvSpPr>
            <p:spPr>
              <a:xfrm>
                <a:off x="7662272" y="5326997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53DB88-283A-4DE1-92E6-6D24DC14C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72" y="5326997"/>
                <a:ext cx="2093085" cy="608436"/>
              </a:xfrm>
              <a:prstGeom prst="rect">
                <a:avLst/>
              </a:prstGeom>
              <a:blipFill>
                <a:blip r:embed="rId12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25573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Filters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425030" y="1776562"/>
            <a:ext cx="4887686" cy="3797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contains a set of weights arranged as an array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moves as a sliding window on the input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Corresponding values are multiplied and added to get an output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An output is obtained each time the filer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endParaRPr sz="28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C88DB9C-E3A1-41CB-BE3A-42343F73C826}"/>
              </a:ext>
            </a:extLst>
          </p:cNvPr>
          <p:cNvSpPr/>
          <p:nvPr/>
        </p:nvSpPr>
        <p:spPr>
          <a:xfrm>
            <a:off x="5595258" y="2211088"/>
            <a:ext cx="3657600" cy="173082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6491634-C89A-4391-A2B1-5257780C19C9}"/>
              </a:ext>
            </a:extLst>
          </p:cNvPr>
          <p:cNvGrpSpPr/>
          <p:nvPr/>
        </p:nvGrpSpPr>
        <p:grpSpPr>
          <a:xfrm>
            <a:off x="9698690" y="2349853"/>
            <a:ext cx="1706816" cy="1325563"/>
            <a:chOff x="9698690" y="2092720"/>
            <a:chExt cx="1706816" cy="1325563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9B75B4F-722C-4A20-AD7D-1F37C18A80BE}"/>
                </a:ext>
              </a:extLst>
            </p:cNvPr>
            <p:cNvSpPr/>
            <p:nvPr/>
          </p:nvSpPr>
          <p:spPr>
            <a:xfrm>
              <a:off x="9698690" y="2092720"/>
              <a:ext cx="1706816" cy="132556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/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8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12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latin typeface="Cambria Math" panose="02040503050406030204" pitchFamily="18" charset="0"/>
                                    </a:rPr>
                                    <m:t>22</m:t>
                                  </m:r>
                                </m:sub>
                              </m:sSub>
                            </m:e>
                          </m:mr>
                        </m:m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3AAB8C57-5050-49CC-84A8-68B24F5FC5A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75584" y="2357238"/>
                  <a:ext cx="1476302" cy="72039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1FBF517-56BC-4430-B788-B1F43567D147}"/>
              </a:ext>
            </a:extLst>
          </p:cNvPr>
          <p:cNvGrpSpPr/>
          <p:nvPr/>
        </p:nvGrpSpPr>
        <p:grpSpPr>
          <a:xfrm>
            <a:off x="5312716" y="4373230"/>
            <a:ext cx="6792198" cy="1730828"/>
            <a:chOff x="5617029" y="4431146"/>
            <a:chExt cx="5788477" cy="1730828"/>
          </a:xfrm>
          <a:solidFill>
            <a:schemeClr val="accent6">
              <a:lumMod val="40000"/>
              <a:lumOff val="60000"/>
            </a:schemeClr>
          </a:solidFill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4A105B3-A33A-439F-B21B-0617A12B4AFF}"/>
                </a:ext>
              </a:extLst>
            </p:cNvPr>
            <p:cNvGrpSpPr/>
            <p:nvPr/>
          </p:nvGrpSpPr>
          <p:grpSpPr>
            <a:xfrm>
              <a:off x="5617029" y="4431146"/>
              <a:ext cx="5788477" cy="1730828"/>
              <a:chOff x="5617029" y="4465548"/>
              <a:chExt cx="5788477" cy="1730828"/>
            </a:xfrm>
            <a:grpFill/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C859674-1A0B-4B78-813B-0AF77BA0F995}"/>
                  </a:ext>
                </a:extLst>
              </p:cNvPr>
              <p:cNvSpPr/>
              <p:nvPr/>
            </p:nvSpPr>
            <p:spPr>
              <a:xfrm>
                <a:off x="5617029" y="4465548"/>
                <a:ext cx="5788477" cy="1730828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712A2369-C66B-4197-B850-F089B0AAAFF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24058" y="4474075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85FA9308-7D3C-4B21-81C3-AAF664694F2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35401" y="4484961"/>
                <a:ext cx="0" cy="1711415"/>
              </a:xfrm>
              <a:prstGeom prst="line">
                <a:avLst/>
              </a:prstGeom>
              <a:grpFill/>
              <a:ln w="19050"/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1A23F8-0CAC-4C51-B7A6-A57F9F4649CD}"/>
                </a:ext>
              </a:extLst>
            </p:cNvPr>
            <p:cNvCxnSpPr>
              <a:cxnSpLocks/>
              <a:stCxn id="10" idx="1"/>
              <a:endCxn id="10" idx="3"/>
            </p:cNvCxnSpPr>
            <p:nvPr/>
          </p:nvCxnSpPr>
          <p:spPr>
            <a:xfrm>
              <a:off x="5617029" y="5296560"/>
              <a:ext cx="5788477" cy="0"/>
            </a:xfrm>
            <a:prstGeom prst="line">
              <a:avLst/>
            </a:prstGeom>
            <a:grpFill/>
            <a:ln w="190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D647F245-1ACD-47C3-A5C8-5214F0E3650F}"/>
              </a:ext>
            </a:extLst>
          </p:cNvPr>
          <p:cNvSpPr txBox="1"/>
          <p:nvPr/>
        </p:nvSpPr>
        <p:spPr>
          <a:xfrm>
            <a:off x="6558697" y="1465187"/>
            <a:ext cx="39934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 Simple Convolution Example</a:t>
            </a:r>
            <a:endParaRPr lang="en-US" sz="24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730482-E0B6-4FEC-BF3D-1D14C7DBF3CF}"/>
              </a:ext>
            </a:extLst>
          </p:cNvPr>
          <p:cNvSpPr/>
          <p:nvPr/>
        </p:nvSpPr>
        <p:spPr>
          <a:xfrm>
            <a:off x="7575980" y="2807058"/>
            <a:ext cx="1546253" cy="90497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/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Input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(3×4) 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2FA20EC-1072-4331-856F-1CC514097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8697" y="3950443"/>
                <a:ext cx="1943043" cy="461665"/>
              </a:xfrm>
              <a:prstGeom prst="rect">
                <a:avLst/>
              </a:prstGeom>
              <a:blipFill>
                <a:blip r:embed="rId4"/>
                <a:stretch>
                  <a:fillRect l="-5016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/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Filter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(2×2)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B03589-51A7-4A48-BA01-0B1AFD6F4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25914" y="3729130"/>
                <a:ext cx="1852367" cy="461665"/>
              </a:xfrm>
              <a:prstGeom prst="rect">
                <a:avLst/>
              </a:prstGeom>
              <a:blipFill>
                <a:blip r:embed="rId5"/>
                <a:stretch>
                  <a:fillRect l="-4934" t="-10667" r="-1974" b="-3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/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24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Output </a:t>
                </a:r>
                <a14:m>
                  <m:oMath xmlns:m="http://schemas.openxmlformats.org/officeDocument/2006/math">
                    <m:r>
                      <a:rPr lang="en-IN" sz="24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(2×3)</m:t>
                    </m:r>
                  </m:oMath>
                </a14:m>
                <a:endParaRPr lang="en-US" sz="2400" dirty="0">
                  <a:solidFill>
                    <a:srgbClr val="0070C0"/>
                  </a:solidFill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23B08CA-8CB7-4034-8AF5-5EE2D5E056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9461" y="6151088"/>
                <a:ext cx="2377942" cy="461665"/>
              </a:xfrm>
              <a:prstGeom prst="rect">
                <a:avLst/>
              </a:prstGeom>
              <a:blipFill>
                <a:blip r:embed="rId6"/>
                <a:stretch>
                  <a:fillRect l="-410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/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mcs>
                            <m:mc>
                              <m:mcPr>
                                <m:count m:val="4"/>
                                <m:mcJc m:val="center"/>
                              </m:mcPr>
                            </m:mc>
                          </m:mcs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m:rPr>
                                    <m:brk m:alnAt="7"/>
                                  </m:r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14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sub>
                            </m:sSub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sub>
                            </m:sSub>
                          </m:e>
                          <m:e>
                            <m:sSub>
                              <m:sSubPr>
                                <m:ctrlP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800" b="0" i="1" smtClean="0">
                                    <a:latin typeface="Cambria Math" panose="02040503050406030204" pitchFamily="18" charset="0"/>
                                  </a:rPr>
                                  <m:t>34</m:t>
                                </m:r>
                              </m:sub>
                            </m:sSub>
                          </m:e>
                        </m:mr>
                      </m:m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6758EA4-C65A-45B6-9B5C-54B034E52A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7805" y="2442351"/>
                <a:ext cx="3203313" cy="114056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/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396B05-2D94-4A05-BC0F-D0C298A0CF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0676" y="4511426"/>
                <a:ext cx="2093085" cy="608436"/>
              </a:xfrm>
              <a:prstGeom prst="rect">
                <a:avLst/>
              </a:prstGeom>
              <a:blipFill>
                <a:blip r:embed="rId8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/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2B17E3B-7E0B-4550-8E4F-6B62F24407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5605" y="4532341"/>
                <a:ext cx="2093085" cy="608436"/>
              </a:xfrm>
              <a:prstGeom prst="rect">
                <a:avLst/>
              </a:prstGeom>
              <a:blipFill>
                <a:blip r:embed="rId9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/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D55E602-BFEB-423B-BE30-604D2CC70C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7806" y="4521451"/>
                <a:ext cx="2093085" cy="608436"/>
              </a:xfrm>
              <a:prstGeom prst="rect">
                <a:avLst/>
              </a:prstGeom>
              <a:blipFill>
                <a:blip r:embed="rId10"/>
                <a:stretch>
                  <a:fillRect l="-1749" r="-583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/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31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9DB68F2-7A21-4A8E-B040-3595B43B14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9159" y="5326997"/>
                <a:ext cx="2093085" cy="608436"/>
              </a:xfrm>
              <a:prstGeom prst="rect">
                <a:avLst/>
              </a:prstGeom>
              <a:blipFill>
                <a:blip r:embed="rId11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53DB88-283A-4DE1-92E6-6D24DC14CFB9}"/>
                  </a:ext>
                </a:extLst>
              </p:cNvPr>
              <p:cNvSpPr txBox="1"/>
              <p:nvPr/>
            </p:nvSpPr>
            <p:spPr>
              <a:xfrm>
                <a:off x="7662272" y="5326997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F53DB88-283A-4DE1-92E6-6D24DC14CF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62272" y="5326997"/>
                <a:ext cx="2093085" cy="608436"/>
              </a:xfrm>
              <a:prstGeom prst="rect">
                <a:avLst/>
              </a:prstGeom>
              <a:blipFill>
                <a:blip r:embed="rId12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DA5A6F-D9BE-4776-BACB-B77E2A645AB5}"/>
                  </a:ext>
                </a:extLst>
              </p:cNvPr>
              <p:cNvSpPr txBox="1"/>
              <p:nvPr/>
            </p:nvSpPr>
            <p:spPr>
              <a:xfrm>
                <a:off x="9970046" y="5348770"/>
                <a:ext cx="2093085" cy="60843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34</m:t>
                          </m:r>
                        </m:sub>
                      </m:sSub>
                      <m:sSub>
                        <m:sSubPr>
                          <m:ctrlPr>
                            <a:rPr lang="en-IN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IN" sz="2000" b="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A1DA5A6F-D9BE-4776-BACB-B77E2A645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70046" y="5348770"/>
                <a:ext cx="2093085" cy="608436"/>
              </a:xfrm>
              <a:prstGeom prst="rect">
                <a:avLst/>
              </a:prstGeom>
              <a:blipFill>
                <a:blip r:embed="rId13"/>
                <a:stretch>
                  <a:fillRect l="-1749" r="-292" b="-13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76511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8"/>
            <a:ext cx="10515600" cy="1023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Convolution on an Image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234068" y="1114647"/>
            <a:ext cx="6327273" cy="523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Filter is </a:t>
            </a:r>
            <a:r>
              <a:rPr lang="en-IN" sz="2800" dirty="0" err="1">
                <a:solidFill>
                  <a:schemeClr val="tx1"/>
                </a:solidFill>
              </a:rPr>
              <a:t>slided</a:t>
            </a:r>
            <a:r>
              <a:rPr lang="en-IN" sz="2800" dirty="0">
                <a:solidFill>
                  <a:schemeClr val="tx1"/>
                </a:solidFill>
              </a:rPr>
              <a:t> on a matrix of pixel values of an image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Convolution filters are intelligent units which extract features from an image </a:t>
            </a:r>
          </a:p>
          <a:p>
            <a:pPr marL="4191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sz="2800" dirty="0">
                <a:solidFill>
                  <a:schemeClr val="tx1"/>
                </a:solidFill>
              </a:rPr>
              <a:t>Different features of the image can be extracted using appropriate filters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US" sz="2800" dirty="0"/>
              <a:t>Filters can be designed to detect various features like horizontal &amp; vertical edges, smoothness, texture etc.</a:t>
            </a:r>
            <a:endParaRPr lang="en-IN" sz="2800" dirty="0">
              <a:solidFill>
                <a:schemeClr val="tx1"/>
              </a:solidFill>
            </a:endParaRPr>
          </a:p>
        </p:txBody>
      </p:sp>
      <p:graphicFrame>
        <p:nvGraphicFramePr>
          <p:cNvPr id="17" name="Google Shape;337;p15">
            <a:extLst>
              <a:ext uri="{FF2B5EF4-FFF2-40B4-BE49-F238E27FC236}">
                <a16:creationId xmlns:a16="http://schemas.microsoft.com/office/drawing/2014/main" id="{8113D629-5D1C-49E9-AD94-9FA6B61514E4}"/>
              </a:ext>
            </a:extLst>
          </p:cNvPr>
          <p:cNvGraphicFramePr/>
          <p:nvPr/>
        </p:nvGraphicFramePr>
        <p:xfrm>
          <a:off x="7258569" y="1259410"/>
          <a:ext cx="1620000" cy="169583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-1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-1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-1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0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921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1</a:t>
                      </a:r>
                      <a:endParaRPr sz="1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337;p15">
            <a:extLst>
              <a:ext uri="{FF2B5EF4-FFF2-40B4-BE49-F238E27FC236}">
                <a16:creationId xmlns:a16="http://schemas.microsoft.com/office/drawing/2014/main" id="{75374660-B162-406A-A38C-329684042417}"/>
              </a:ext>
            </a:extLst>
          </p:cNvPr>
          <p:cNvGraphicFramePr/>
          <p:nvPr/>
        </p:nvGraphicFramePr>
        <p:xfrm>
          <a:off x="9877854" y="1222825"/>
          <a:ext cx="1620000" cy="17011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54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-1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r>
                        <a:rPr lang="en-US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-1</a:t>
                      </a:r>
                      <a:endParaRPr sz="1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47625" marR="47625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550737-8CF5-4F80-97AC-3298E33FC431}"/>
                  </a:ext>
                </a:extLst>
              </p:cNvPr>
              <p:cNvSpPr txBox="1"/>
              <p:nvPr/>
            </p:nvSpPr>
            <p:spPr>
              <a:xfrm>
                <a:off x="6577226" y="3035273"/>
                <a:ext cx="302574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×3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filter for horizontal edge detection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F550737-8CF5-4F80-97AC-3298E33FC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7226" y="3035273"/>
                <a:ext cx="3025744" cy="707886"/>
              </a:xfrm>
              <a:prstGeom prst="rect">
                <a:avLst/>
              </a:prstGeom>
              <a:blipFill>
                <a:blip r:embed="rId3"/>
                <a:stretch>
                  <a:fillRect t="-5172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C05358-4A23-4027-9C50-5F3D1C9A775E}"/>
                  </a:ext>
                </a:extLst>
              </p:cNvPr>
              <p:cNvSpPr txBox="1"/>
              <p:nvPr/>
            </p:nvSpPr>
            <p:spPr>
              <a:xfrm>
                <a:off x="9385798" y="3013501"/>
                <a:ext cx="260411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IN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</m:t>
                    </m:r>
                    <m:r>
                      <a:rPr lang="en-IN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×3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latin typeface="Calibri" panose="020F0502020204030204" pitchFamily="34" charset="0"/>
                    <a:cs typeface="Calibri" panose="020F0502020204030204" pitchFamily="34" charset="0"/>
                  </a:rPr>
                  <a:t> filter for vertical edge detection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C05358-4A23-4027-9C50-5F3D1C9A77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85798" y="3013501"/>
                <a:ext cx="2604111" cy="707886"/>
              </a:xfrm>
              <a:prstGeom prst="rect">
                <a:avLst/>
              </a:prstGeom>
              <a:blipFill>
                <a:blip r:embed="rId4"/>
                <a:stretch>
                  <a:fillRect t="-4310" r="-2108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9384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11059886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Activation layers </a:t>
            </a:r>
            <a:r>
              <a:rPr lang="en-IN" dirty="0">
                <a:solidFill>
                  <a:schemeClr val="tx1"/>
                </a:solidFill>
              </a:rPr>
              <a:t>- E</a:t>
            </a:r>
            <a:r>
              <a:rPr lang="en-IN" dirty="0"/>
              <a:t>ach of the values of output of convolution layer is passed through a function (activation function)</a:t>
            </a:r>
            <a:endParaRPr lang="en-IN" dirty="0">
              <a:solidFill>
                <a:srgbClr val="0070C0"/>
              </a:solidFill>
            </a:endParaRP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Fully Connected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84763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9122229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Activation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</a:p>
        </p:txBody>
      </p:sp>
    </p:spTree>
    <p:extLst>
      <p:ext uri="{BB962C8B-B14F-4D97-AF65-F5344CB8AC3E}">
        <p14:creationId xmlns:p14="http://schemas.microsoft.com/office/powerpoint/2010/main" val="2505880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>
            <a:spLocks noGrp="1"/>
          </p:cNvSpPr>
          <p:nvPr>
            <p:ph type="title"/>
          </p:nvPr>
        </p:nvSpPr>
        <p:spPr>
          <a:xfrm>
            <a:off x="2720845" y="2543350"/>
            <a:ext cx="7122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dirty="0"/>
              <a:t>Pooling Operation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76906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What is Pooling?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609600" y="1416550"/>
            <a:ext cx="9949543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>
                <a:solidFill>
                  <a:srgbClr val="0070C0"/>
                </a:solidFill>
              </a:rPr>
              <a:t>Intuition</a:t>
            </a:r>
            <a:r>
              <a:rPr lang="en-IN" dirty="0"/>
              <a:t>: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Pixels in an image mostly contain redundant information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Watch this video on YouTube: </a:t>
            </a:r>
            <a:r>
              <a:rPr lang="en-IN" dirty="0">
                <a:hlinkClick r:id="rId3"/>
              </a:rPr>
              <a:t>https://youtu.be/f1fXCRtSUWU</a:t>
            </a:r>
            <a:endParaRPr lang="en-IN" dirty="0"/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Object in the picture could be identified with a reduced image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Pooling operation is used on feature maps (after activation) to reduce the spatial size without loss of much information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Feature representation is made more compact with pooling</a:t>
            </a:r>
          </a:p>
        </p:txBody>
      </p:sp>
    </p:spTree>
    <p:extLst>
      <p:ext uri="{BB962C8B-B14F-4D97-AF65-F5344CB8AC3E}">
        <p14:creationId xmlns:p14="http://schemas.microsoft.com/office/powerpoint/2010/main" val="1993125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IN" b="1" dirty="0"/>
              <a:t>Pooling Filter and Types of Pooling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555172" y="1242378"/>
            <a:ext cx="7293429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Like convolution, pooling is performed using a filter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Pooling filter slides over the feature map such that there is no overlap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Output of each slide depends on the type of filter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Types of pooling:</a:t>
            </a:r>
          </a:p>
          <a:p>
            <a:pPr marL="933450" lvl="1" indent="-514350">
              <a:lnSpc>
                <a:spcPct val="100000"/>
              </a:lnSpc>
              <a:spcBef>
                <a:spcPts val="0"/>
              </a:spcBef>
              <a:buSzPts val="1720"/>
              <a:buFont typeface="+mj-lt"/>
              <a:buAutoNum type="arabicPeriod"/>
            </a:pPr>
            <a:r>
              <a:rPr lang="en-IN" dirty="0"/>
              <a:t>Max Pooling – most commonly used</a:t>
            </a:r>
          </a:p>
          <a:p>
            <a:pPr marL="933450" lvl="1" indent="-514350">
              <a:lnSpc>
                <a:spcPct val="100000"/>
              </a:lnSpc>
              <a:spcBef>
                <a:spcPts val="0"/>
              </a:spcBef>
              <a:buSzPts val="1720"/>
              <a:buFont typeface="+mj-lt"/>
              <a:buAutoNum type="arabicPeriod"/>
            </a:pPr>
            <a:r>
              <a:rPr lang="en-IN" dirty="0"/>
              <a:t>Average pooling</a:t>
            </a:r>
          </a:p>
          <a:p>
            <a:pPr marL="933450" lvl="1" indent="-514350">
              <a:lnSpc>
                <a:spcPct val="100000"/>
              </a:lnSpc>
              <a:spcBef>
                <a:spcPts val="0"/>
              </a:spcBef>
              <a:buSzPts val="1720"/>
              <a:buFont typeface="+mj-lt"/>
              <a:buAutoNum type="arabicPeriod"/>
            </a:pPr>
            <a:r>
              <a:rPr lang="en-IN" dirty="0"/>
              <a:t>Sum pooling</a:t>
            </a:r>
          </a:p>
          <a:p>
            <a:pPr marL="419100" lvl="1" indent="0">
              <a:lnSpc>
                <a:spcPct val="100000"/>
              </a:lnSpc>
              <a:spcBef>
                <a:spcPts val="0"/>
              </a:spcBef>
              <a:buSzPts val="1720"/>
              <a:buNone/>
            </a:pPr>
            <a:endParaRPr lang="en-IN" dirty="0"/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endParaRPr lang="en-IN" dirty="0"/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6F98A9-6256-483B-BE6F-B33E459199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0872" y="1784259"/>
            <a:ext cx="4038600" cy="36766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F5133D9-C4DC-4B3F-B763-13ECE5E92E1F}"/>
              </a:ext>
            </a:extLst>
          </p:cNvPr>
          <p:cNvSpPr txBox="1"/>
          <p:nvPr/>
        </p:nvSpPr>
        <p:spPr>
          <a:xfrm>
            <a:off x="9489866" y="1784259"/>
            <a:ext cx="302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Max Pooling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6E207-2D7F-4FDB-9394-5BB80E976781}"/>
              </a:ext>
            </a:extLst>
          </p:cNvPr>
          <p:cNvSpPr txBox="1"/>
          <p:nvPr/>
        </p:nvSpPr>
        <p:spPr>
          <a:xfrm>
            <a:off x="9489866" y="5260854"/>
            <a:ext cx="30257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Average Pooling</a:t>
            </a:r>
            <a:endParaRPr lang="en-US" sz="20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19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369459" y="1299164"/>
            <a:ext cx="7225470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Output layer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3000" dirty="0"/>
              <a:t>Output of pooling layers is flattened 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r>
              <a:rPr lang="en-IN" sz="3000" dirty="0"/>
              <a:t>Flattened vector contains consolidated features extracted from an image</a:t>
            </a:r>
          </a:p>
          <a:p>
            <a:pPr marL="419100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Ø"/>
            </a:pPr>
            <a:endParaRPr lang="en-IN" dirty="0"/>
          </a:p>
        </p:txBody>
      </p:sp>
      <p:graphicFrame>
        <p:nvGraphicFramePr>
          <p:cNvPr id="4" name="Table 7">
            <a:extLst>
              <a:ext uri="{FF2B5EF4-FFF2-40B4-BE49-F238E27FC236}">
                <a16:creationId xmlns:a16="http://schemas.microsoft.com/office/drawing/2014/main" id="{2A32108A-3310-47EA-BE77-0322BEB98DF1}"/>
              </a:ext>
            </a:extLst>
          </p:cNvPr>
          <p:cNvGraphicFramePr>
            <a:graphicFrameLocks noGrp="1"/>
          </p:cNvGraphicFramePr>
          <p:nvPr/>
        </p:nvGraphicFramePr>
        <p:xfrm>
          <a:off x="7736114" y="2742113"/>
          <a:ext cx="1620000" cy="162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297756192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084358691"/>
                    </a:ext>
                  </a:extLst>
                </a:gridCol>
                <a:gridCol w="540000">
                  <a:extLst>
                    <a:ext uri="{9D8B030D-6E8A-4147-A177-3AD203B41FA5}">
                      <a16:colId xmlns:a16="http://schemas.microsoft.com/office/drawing/2014/main" val="398226313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1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4691074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3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122829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0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4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200" dirty="0"/>
                        <a:t>2</a:t>
                      </a:r>
                      <a:endParaRPr lang="en-US" sz="22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255900"/>
                  </a:ext>
                </a:extLst>
              </a:tr>
            </a:tbl>
          </a:graphicData>
        </a:graphic>
      </p:graphicFrame>
      <p:sp>
        <p:nvSpPr>
          <p:cNvPr id="2" name="Arrow: Right 1">
            <a:extLst>
              <a:ext uri="{FF2B5EF4-FFF2-40B4-BE49-F238E27FC236}">
                <a16:creationId xmlns:a16="http://schemas.microsoft.com/office/drawing/2014/main" id="{BBE790EE-A0DF-465F-884E-77849A34F53B}"/>
              </a:ext>
            </a:extLst>
          </p:cNvPr>
          <p:cNvSpPr/>
          <p:nvPr/>
        </p:nvSpPr>
        <p:spPr>
          <a:xfrm>
            <a:off x="9633857" y="3429000"/>
            <a:ext cx="979714" cy="25037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Table 4">
            <a:extLst>
              <a:ext uri="{FF2B5EF4-FFF2-40B4-BE49-F238E27FC236}">
                <a16:creationId xmlns:a16="http://schemas.microsoft.com/office/drawing/2014/main" id="{5B2C99EC-E7C3-4135-8394-4FDADA650E75}"/>
              </a:ext>
            </a:extLst>
          </p:cNvPr>
          <p:cNvGraphicFramePr>
            <a:graphicFrameLocks noGrp="1"/>
          </p:cNvGraphicFramePr>
          <p:nvPr/>
        </p:nvGraphicFramePr>
        <p:xfrm>
          <a:off x="10918045" y="1316963"/>
          <a:ext cx="540000" cy="4860000"/>
        </p:xfrm>
        <a:graphic>
          <a:graphicData uri="http://schemas.openxmlformats.org/drawingml/2006/table">
            <a:tbl>
              <a:tblPr/>
              <a:tblGrid>
                <a:gridCol w="540000">
                  <a:extLst>
                    <a:ext uri="{9D8B030D-6E8A-4147-A177-3AD203B41FA5}">
                      <a16:colId xmlns:a16="http://schemas.microsoft.com/office/drawing/2014/main" val="4014556999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5944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1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69195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129027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1606126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3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7315337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005981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0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783281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4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0377043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IN" sz="2400" dirty="0"/>
                        <a:t>2</a:t>
                      </a:r>
                      <a:endParaRPr lang="en-US" sz="24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099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E805A4CA-43C2-45BC-9917-BDE4D90F5EF4}"/>
              </a:ext>
            </a:extLst>
          </p:cNvPr>
          <p:cNvSpPr txBox="1"/>
          <p:nvPr/>
        </p:nvSpPr>
        <p:spPr>
          <a:xfrm>
            <a:off x="8120985" y="5140927"/>
            <a:ext cx="30257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Flattening</a:t>
            </a:r>
            <a:endParaRPr lang="en-US" sz="280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291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0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b="1" dirty="0"/>
              <a:t>Components of CNN</a:t>
            </a:r>
            <a:endParaRPr dirty="0"/>
          </a:p>
        </p:txBody>
      </p:sp>
      <p:sp>
        <p:nvSpPr>
          <p:cNvPr id="267" name="Google Shape;267;p10"/>
          <p:cNvSpPr txBox="1">
            <a:spLocks noGrp="1"/>
          </p:cNvSpPr>
          <p:nvPr>
            <p:ph type="body" idx="1"/>
          </p:nvPr>
        </p:nvSpPr>
        <p:spPr>
          <a:xfrm>
            <a:off x="369459" y="1299164"/>
            <a:ext cx="10515600" cy="47604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191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20"/>
              <a:buFont typeface="Wingdings" panose="05000000000000000000" pitchFamily="2" charset="2"/>
              <a:buChar char="Ø"/>
            </a:pPr>
            <a:r>
              <a:rPr lang="en-IN" dirty="0"/>
              <a:t>Generally a CNN has the following components: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/>
              <a:t>Input layer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Convolution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Activation layers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Pooling layers 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chemeClr val="tx1"/>
                </a:solidFill>
              </a:rPr>
              <a:t>Flattening</a:t>
            </a:r>
          </a:p>
          <a:p>
            <a:pPr marL="876300" lvl="1" indent="-457200">
              <a:lnSpc>
                <a:spcPct val="100000"/>
              </a:lnSpc>
              <a:spcBef>
                <a:spcPts val="0"/>
              </a:spcBef>
              <a:buSzPts val="1720"/>
              <a:buFont typeface="Wingdings" panose="05000000000000000000" pitchFamily="2" charset="2"/>
              <a:buChar char="ü"/>
            </a:pPr>
            <a:r>
              <a:rPr lang="en-IN" dirty="0">
                <a:solidFill>
                  <a:srgbClr val="0070C0"/>
                </a:solidFill>
              </a:rPr>
              <a:t>Output layer </a:t>
            </a:r>
            <a:r>
              <a:rPr lang="en-IN" dirty="0">
                <a:solidFill>
                  <a:schemeClr val="tx1"/>
                </a:solidFill>
              </a:rPr>
              <a:t>– Using the features extracted from the image, necessary predictions are made in this layer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SzPts val="1720"/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9055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1"/>
          <p:cNvSpPr txBox="1">
            <a:spLocks noGrp="1"/>
          </p:cNvSpPr>
          <p:nvPr>
            <p:ph type="title"/>
          </p:nvPr>
        </p:nvSpPr>
        <p:spPr>
          <a:xfrm>
            <a:off x="370115" y="297815"/>
            <a:ext cx="8175171" cy="964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Feature Extraction using CNN</a:t>
            </a:r>
            <a:endParaRPr dirty="0"/>
          </a:p>
        </p:txBody>
      </p:sp>
      <p:sp>
        <p:nvSpPr>
          <p:cNvPr id="274" name="Google Shape;274;p11"/>
          <p:cNvSpPr txBox="1">
            <a:spLocks noGrp="1"/>
          </p:cNvSpPr>
          <p:nvPr>
            <p:ph type="body" idx="1"/>
          </p:nvPr>
        </p:nvSpPr>
        <p:spPr>
          <a:xfrm>
            <a:off x="513850" y="1262741"/>
            <a:ext cx="7421836" cy="4963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8"/>
              <a:buFont typeface="Courier New" panose="02070309020205020404" pitchFamily="49" charset="0"/>
              <a:buChar char="o"/>
            </a:pPr>
            <a:r>
              <a:rPr lang="en-IN" sz="2800" dirty="0"/>
              <a:t>CNN has many layers of convolution filters which extract features </a:t>
            </a:r>
          </a:p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8"/>
              <a:buFont typeface="Courier New" panose="02070309020205020404" pitchFamily="49" charset="0"/>
              <a:buChar char="o"/>
            </a:pPr>
            <a:r>
              <a:rPr lang="en-IN" sz="2800" dirty="0"/>
              <a:t>An illustration of how features are extracted when an image given to a CNN:</a:t>
            </a:r>
            <a:endParaRPr sz="2800" dirty="0"/>
          </a:p>
          <a:p>
            <a:pPr marL="800100" lvl="1">
              <a:lnSpc>
                <a:spcPct val="100000"/>
              </a:lnSpc>
              <a:spcBef>
                <a:spcPts val="1000"/>
              </a:spcBef>
              <a:buSzPts val="1568"/>
              <a:buFont typeface="Courier New" panose="02070309020205020404" pitchFamily="49" charset="0"/>
              <a:buChar char="o"/>
            </a:pPr>
            <a:r>
              <a:rPr lang="en-US" sz="2400" dirty="0"/>
              <a:t>First layer extracts low level features</a:t>
            </a:r>
            <a:endParaRPr sz="2400" dirty="0"/>
          </a:p>
          <a:p>
            <a:pPr marL="1272032" lvl="2">
              <a:lnSpc>
                <a:spcPct val="100000"/>
              </a:lnSpc>
              <a:spcBef>
                <a:spcPts val="1000"/>
              </a:spcBef>
              <a:buSzPts val="1568"/>
              <a:buFont typeface="Courier New" panose="02070309020205020404" pitchFamily="49" charset="0"/>
              <a:buChar char="o"/>
            </a:pPr>
            <a:r>
              <a:rPr lang="en-US" dirty="0"/>
              <a:t>E.g., Vertical and horizontal edges</a:t>
            </a:r>
            <a:endParaRPr dirty="0"/>
          </a:p>
          <a:p>
            <a:pPr marL="800100" lvl="1">
              <a:lnSpc>
                <a:spcPct val="100000"/>
              </a:lnSpc>
              <a:spcBef>
                <a:spcPts val="1000"/>
              </a:spcBef>
              <a:buSzPts val="1568"/>
              <a:buFont typeface="Courier New" panose="02070309020205020404" pitchFamily="49" charset="0"/>
              <a:buChar char="o"/>
            </a:pPr>
            <a:r>
              <a:rPr lang="en-US" sz="2400" dirty="0"/>
              <a:t>Second layer extracts little high level features such as skin, hair, nose, mouth etc. based on the textures.</a:t>
            </a:r>
            <a:endParaRPr sz="2400" dirty="0"/>
          </a:p>
          <a:p>
            <a:pPr marL="800100" lvl="1">
              <a:lnSpc>
                <a:spcPct val="100000"/>
              </a:lnSpc>
              <a:spcBef>
                <a:spcPts val="1000"/>
              </a:spcBef>
              <a:buSzPts val="1568"/>
              <a:buFont typeface="Courier New" panose="02070309020205020404" pitchFamily="49" charset="0"/>
              <a:buChar char="o"/>
            </a:pPr>
            <a:r>
              <a:rPr lang="en-US" sz="2400" dirty="0"/>
              <a:t>Layers further up may identify faces, limbs, </a:t>
            </a:r>
            <a:r>
              <a:rPr lang="en-US" sz="2400" dirty="0" err="1"/>
              <a:t>etc</a:t>
            </a:r>
            <a:endParaRPr sz="2400" dirty="0"/>
          </a:p>
        </p:txBody>
      </p:sp>
      <p:pic>
        <p:nvPicPr>
          <p:cNvPr id="275" name="Google Shape;275;p11" descr="Image result for facebook facial recognition CNN"/>
          <p:cNvPicPr preferRelativeResize="0"/>
          <p:nvPr/>
        </p:nvPicPr>
        <p:blipFill rotWithShape="1">
          <a:blip r:embed="rId3">
            <a:alphaModFix/>
          </a:blip>
          <a:srcRect r="48703"/>
          <a:stretch/>
        </p:blipFill>
        <p:spPr>
          <a:xfrm>
            <a:off x="7721601" y="1442721"/>
            <a:ext cx="4134726" cy="2063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75;p11" descr="Image result for facebook facial recognition CNN">
            <a:extLst>
              <a:ext uri="{FF2B5EF4-FFF2-40B4-BE49-F238E27FC236}">
                <a16:creationId xmlns:a16="http://schemas.microsoft.com/office/drawing/2014/main" id="{EF6D4C13-D4E9-45FB-A910-17026151FB7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0705"/>
          <a:stretch/>
        </p:blipFill>
        <p:spPr>
          <a:xfrm>
            <a:off x="7795324" y="3860119"/>
            <a:ext cx="4061003" cy="21989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7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7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27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27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4"/>
          <p:cNvSpPr txBox="1">
            <a:spLocks noGrp="1"/>
          </p:cNvSpPr>
          <p:nvPr>
            <p:ph type="title"/>
          </p:nvPr>
        </p:nvSpPr>
        <p:spPr>
          <a:xfrm>
            <a:off x="261260" y="90987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4300"/>
              <a:buFont typeface="Gill Sans"/>
              <a:buNone/>
            </a:pPr>
            <a:r>
              <a:rPr lang="en-US" dirty="0"/>
              <a:t>Power of CNNs: Image Net </a:t>
            </a:r>
            <a:r>
              <a:rPr lang="en-US" dirty="0" err="1"/>
              <a:t>Challeneg</a:t>
            </a:r>
            <a:endParaRPr dirty="0"/>
          </a:p>
        </p:txBody>
      </p:sp>
      <p:sp>
        <p:nvSpPr>
          <p:cNvPr id="467" name="Google Shape;467;p24"/>
          <p:cNvSpPr txBox="1">
            <a:spLocks noGrp="1"/>
          </p:cNvSpPr>
          <p:nvPr>
            <p:ph type="body" idx="1"/>
          </p:nvPr>
        </p:nvSpPr>
        <p:spPr>
          <a:xfrm>
            <a:off x="740229" y="1208314"/>
            <a:ext cx="10515600" cy="48114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US" sz="2800" dirty="0"/>
              <a:t>Image classification task with 1000 classes</a:t>
            </a:r>
            <a:endParaRPr sz="2800" dirty="0"/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IN" sz="2800" dirty="0"/>
              <a:t>Training data of 1.2 million images</a:t>
            </a:r>
          </a:p>
          <a:p>
            <a:pPr lvl="0" indent="-4572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072"/>
              <a:buFont typeface="Courier New" panose="02070309020205020404" pitchFamily="49" charset="0"/>
              <a:buChar char="o"/>
            </a:pPr>
            <a:r>
              <a:rPr lang="en-IN" sz="2800" dirty="0"/>
              <a:t>Humans had an error rate of around 5%</a:t>
            </a:r>
            <a:endParaRPr sz="2800" dirty="0"/>
          </a:p>
        </p:txBody>
      </p:sp>
      <p:pic>
        <p:nvPicPr>
          <p:cNvPr id="2" name="Google Shape;474;p25" descr="Image result for imagenet challenge">
            <a:extLst>
              <a:ext uri="{FF2B5EF4-FFF2-40B4-BE49-F238E27FC236}">
                <a16:creationId xmlns:a16="http://schemas.microsoft.com/office/drawing/2014/main" id="{1E5A848B-55E3-3F62-8FF2-E193D854740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730954" y="2971799"/>
            <a:ext cx="8524875" cy="34616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a7509579c8_0_158"/>
          <p:cNvSpPr txBox="1">
            <a:spLocks noGrp="1"/>
          </p:cNvSpPr>
          <p:nvPr>
            <p:ph type="title"/>
          </p:nvPr>
        </p:nvSpPr>
        <p:spPr>
          <a:xfrm>
            <a:off x="301611" y="177165"/>
            <a:ext cx="113607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Summary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1392938" y="2011362"/>
            <a:ext cx="553880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b="1" dirty="0"/>
          </a:p>
        </p:txBody>
      </p:sp>
      <p:sp>
        <p:nvSpPr>
          <p:cNvPr id="5" name="Google Shape;128;p4">
            <a:extLst>
              <a:ext uri="{FF2B5EF4-FFF2-40B4-BE49-F238E27FC236}">
                <a16:creationId xmlns:a16="http://schemas.microsoft.com/office/drawing/2014/main" id="{F7297FCA-73EE-4884-83FD-766905B7A3F8}"/>
              </a:ext>
            </a:extLst>
          </p:cNvPr>
          <p:cNvSpPr txBox="1">
            <a:spLocks/>
          </p:cNvSpPr>
          <p:nvPr/>
        </p:nvSpPr>
        <p:spPr>
          <a:xfrm>
            <a:off x="558800" y="1352550"/>
            <a:ext cx="10926553" cy="4621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31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891A7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3891A7"/>
              </a:buClr>
              <a:buSzPts val="1400"/>
              <a:buFont typeface="Verdana"/>
              <a:buChar char="○"/>
              <a:defRPr sz="2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FFC000"/>
              </a:buClr>
              <a:buSzPts val="1400"/>
              <a:buFont typeface="Arial"/>
              <a:buChar char="■"/>
              <a:defRPr sz="24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●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rgbClr val="7030A0"/>
              </a:buClr>
              <a:buSzPts val="1400"/>
              <a:buFont typeface="Arial"/>
              <a:buChar char="○"/>
              <a:defRPr sz="20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dk1"/>
              </a:buClr>
              <a:buSzPts val="1400"/>
              <a:buFont typeface="Arial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Learning useful information from Images and Videos requires a special types of neural network known Convolution Neural Networks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CNNs have been very effective in extracting information from images and videos for making inferences from them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Most important components of a CNN include convolution and pooling layers</a:t>
            </a:r>
          </a:p>
          <a:p>
            <a:pPr indent="-457200">
              <a:lnSpc>
                <a:spcPct val="100000"/>
              </a:lnSpc>
              <a:buSzPts val="2240"/>
              <a:buFont typeface="Wingdings" panose="05000000000000000000" pitchFamily="2" charset="2"/>
              <a:buChar char="ü"/>
            </a:pPr>
            <a:r>
              <a:rPr lang="en-IN" sz="2600" dirty="0">
                <a:solidFill>
                  <a:schemeClr val="tx1"/>
                </a:solidFill>
              </a:rPr>
              <a:t>Various CNN architectures with different numbers of layers have been developed to enable computers to analyse images and making predictions based on images</a:t>
            </a:r>
          </a:p>
        </p:txBody>
      </p:sp>
    </p:spTree>
    <p:extLst>
      <p:ext uri="{BB962C8B-B14F-4D97-AF65-F5344CB8AC3E}">
        <p14:creationId xmlns:p14="http://schemas.microsoft.com/office/powerpoint/2010/main" val="2174255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>
            <a:spLocks noGrp="1"/>
          </p:cNvSpPr>
          <p:nvPr>
            <p:ph type="title"/>
          </p:nvPr>
        </p:nvSpPr>
        <p:spPr>
          <a:xfrm>
            <a:off x="197933" y="5589933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3866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THANK YOU</a:t>
            </a:r>
            <a:endParaRPr sz="3866"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19991</TotalTime>
  <Words>1635</Words>
  <Application>Microsoft Office PowerPoint</Application>
  <PresentationFormat>Widescreen</PresentationFormat>
  <Paragraphs>284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Calibri</vt:lpstr>
      <vt:lpstr>Cambria Math</vt:lpstr>
      <vt:lpstr>Gill Sans</vt:lpstr>
      <vt:lpstr>Courier New</vt:lpstr>
      <vt:lpstr>Arial</vt:lpstr>
      <vt:lpstr>Montserrat</vt:lpstr>
      <vt:lpstr>Wingdings</vt:lpstr>
      <vt:lpstr>Noto Sans Symbols</vt:lpstr>
      <vt:lpstr>Simple Light</vt:lpstr>
      <vt:lpstr>Office Theme</vt:lpstr>
      <vt:lpstr>Deep Learning  on  Images/Videos</vt:lpstr>
      <vt:lpstr>Contents</vt:lpstr>
      <vt:lpstr>Video is Collection of Multiple Images</vt:lpstr>
      <vt:lpstr>Making Deductions from an Image</vt:lpstr>
      <vt:lpstr>Learning filters for Feature Extraction</vt:lpstr>
      <vt:lpstr>Learning filters for Feature Extraction</vt:lpstr>
      <vt:lpstr>Convolution Neural Networks</vt:lpstr>
      <vt:lpstr>CNN Architecture</vt:lpstr>
      <vt:lpstr>Components of CNN</vt:lpstr>
      <vt:lpstr>Components of CNN</vt:lpstr>
      <vt:lpstr>Image as Pixel Data</vt:lpstr>
      <vt:lpstr>Components of CNN</vt:lpstr>
      <vt:lpstr>Convolution Filters</vt:lpstr>
      <vt:lpstr>Convolution Filters</vt:lpstr>
      <vt:lpstr>Convolution Filters</vt:lpstr>
      <vt:lpstr>Convolution Filters</vt:lpstr>
      <vt:lpstr>Convolution Filters</vt:lpstr>
      <vt:lpstr>Convolution Filters</vt:lpstr>
      <vt:lpstr>Convolution Filters</vt:lpstr>
      <vt:lpstr>Convolution on an Image</vt:lpstr>
      <vt:lpstr>Components of CNN</vt:lpstr>
      <vt:lpstr>Components of CNN</vt:lpstr>
      <vt:lpstr>Pooling Operation</vt:lpstr>
      <vt:lpstr>What is Pooling?</vt:lpstr>
      <vt:lpstr>Pooling Filter and Types of Pooling</vt:lpstr>
      <vt:lpstr>Components of CNN</vt:lpstr>
      <vt:lpstr>Components of CNN</vt:lpstr>
      <vt:lpstr>Feature Extraction using CNN</vt:lpstr>
      <vt:lpstr>Power of CNNs: Image Net Challeneg</vt:lpstr>
      <vt:lpstr>Summary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 and  Image Understanding</dc:title>
  <dc:creator>Shweta Sridhar</dc:creator>
  <cp:lastModifiedBy>Satya J</cp:lastModifiedBy>
  <cp:revision>68</cp:revision>
  <dcterms:created xsi:type="dcterms:W3CDTF">2019-05-02T04:32:46Z</dcterms:created>
  <dcterms:modified xsi:type="dcterms:W3CDTF">2024-02-10T05:38:14Z</dcterms:modified>
</cp:coreProperties>
</file>