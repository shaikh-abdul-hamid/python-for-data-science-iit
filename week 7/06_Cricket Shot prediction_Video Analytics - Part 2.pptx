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80" r:id="rId2"/>
  </p:sldMasterIdLst>
  <p:notesMasterIdLst>
    <p:notesMasterId r:id="rId37"/>
  </p:notesMasterIdLst>
  <p:sldIdLst>
    <p:sldId id="447" r:id="rId3"/>
    <p:sldId id="469" r:id="rId4"/>
    <p:sldId id="470" r:id="rId5"/>
    <p:sldId id="471" r:id="rId6"/>
    <p:sldId id="488" r:id="rId7"/>
    <p:sldId id="492" r:id="rId8"/>
    <p:sldId id="279" r:id="rId9"/>
    <p:sldId id="489" r:id="rId10"/>
    <p:sldId id="494" r:id="rId11"/>
    <p:sldId id="354" r:id="rId12"/>
    <p:sldId id="495" r:id="rId13"/>
    <p:sldId id="496" r:id="rId14"/>
    <p:sldId id="497" r:id="rId15"/>
    <p:sldId id="491" r:id="rId16"/>
    <p:sldId id="493" r:id="rId17"/>
    <p:sldId id="490" r:id="rId18"/>
    <p:sldId id="498" r:id="rId19"/>
    <p:sldId id="499" r:id="rId20"/>
    <p:sldId id="501" r:id="rId21"/>
    <p:sldId id="458" r:id="rId22"/>
    <p:sldId id="500" r:id="rId23"/>
    <p:sldId id="461" r:id="rId24"/>
    <p:sldId id="281" r:id="rId25"/>
    <p:sldId id="282" r:id="rId26"/>
    <p:sldId id="462" r:id="rId27"/>
    <p:sldId id="285" r:id="rId28"/>
    <p:sldId id="286" r:id="rId29"/>
    <p:sldId id="463" r:id="rId30"/>
    <p:sldId id="465" r:id="rId31"/>
    <p:sldId id="466" r:id="rId32"/>
    <p:sldId id="467" r:id="rId33"/>
    <p:sldId id="503" r:id="rId34"/>
    <p:sldId id="502" r:id="rId35"/>
    <p:sldId id="293" r:id="rId36"/>
  </p:sldIdLst>
  <p:sldSz cx="12192000" cy="6858000"/>
  <p:notesSz cx="6858000" cy="9144000"/>
  <p:embeddedFontLst>
    <p:embeddedFont>
      <p:font typeface="Cabin" panose="020B0604020202020204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Gill Sans" panose="020B0604020202020204" charset="0"/>
      <p:regular r:id="rId43"/>
      <p:bold r:id="rId44"/>
    </p:embeddedFont>
    <p:embeddedFont>
      <p:font typeface="Montserrat" panose="00000500000000000000" pitchFamily="2" charset="0"/>
      <p:regular r:id="rId45"/>
      <p:bold r:id="rId46"/>
      <p:italic r:id="rId47"/>
      <p:boldItalic r:id="rId48"/>
    </p:embeddedFont>
    <p:embeddedFont>
      <p:font typeface="Noto Sans" panose="020B0502040504020204" pitchFamily="34" charset="0"/>
      <p:regular r:id="rId49"/>
    </p:embeddedFont>
    <p:embeddedFont>
      <p:font typeface="Verdana" panose="020B060403050404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iM5Tl54x7j9l4IykyUpB9Rrq5s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E48A7B-9E87-4D62-B251-134843940CCE}">
  <a:tblStyle styleId="{59E48A7B-9E87-4D62-B251-134843940C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412D91-092D-44FF-A22B-1379C6198B5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1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5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275CA6D-5B3B-4941-8AB1-4B3A9C020A40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90137100-63E2-4BBD-90FF-10691408F2E9}" type="par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D35C907-B7F5-4548-B1EF-CA666460D6D0}" type="sib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B7ACFE08-BEDA-4A47-859D-A11A0CACF79A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Train classifier by learning relation between input features and output classes</a:t>
          </a:r>
          <a:endParaRPr lang="en-US" dirty="0">
            <a:latin typeface="Gill Sans" panose="020B0604020202020204" charset="0"/>
          </a:endParaRPr>
        </a:p>
      </dgm:t>
    </dgm:pt>
    <dgm:pt modelId="{30BF0152-E4E8-44C0-B22D-2E71793009EC}" type="par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D504092-C6AB-4FCA-96C1-A69153DE184E}" type="sib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3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3">
        <dgm:presLayoutVars>
          <dgm:bulletEnabled val="1"/>
        </dgm:presLayoutVars>
      </dgm:prSet>
      <dgm:spPr/>
    </dgm:pt>
    <dgm:pt modelId="{A648B60D-71B7-415D-A796-84B53EAB51EF}" type="pres">
      <dgm:prSet presAssocID="{961A7312-1314-4B8C-B439-85278D68DD67}" presName="sp" presStyleCnt="0"/>
      <dgm:spPr/>
    </dgm:pt>
    <dgm:pt modelId="{A4EFD9A3-B07A-4FCE-ADBE-4C6799CD886F}" type="pres">
      <dgm:prSet presAssocID="{0275CA6D-5B3B-4941-8AB1-4B3A9C020A40}" presName="composite" presStyleCnt="0"/>
      <dgm:spPr/>
    </dgm:pt>
    <dgm:pt modelId="{9AC569D5-D34C-476D-9FCE-DC406E3764C4}" type="pres">
      <dgm:prSet presAssocID="{0275CA6D-5B3B-4941-8AB1-4B3A9C020A4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0B1F3FD-4A7B-4EB9-ABDB-620B0659A216}" type="pres">
      <dgm:prSet presAssocID="{0275CA6D-5B3B-4941-8AB1-4B3A9C020A4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FCFFEA3B-2B6C-462F-9E80-B49EB48B96CD}" type="presOf" srcId="{B7ACFE08-BEDA-4A47-859D-A11A0CACF79A}" destId="{E0B1F3FD-4A7B-4EB9-ABDB-620B0659A216}" srcOrd="0" destOrd="0" presId="urn:microsoft.com/office/officeart/2005/8/layout/chevron2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F1F73E79-6790-4021-8FFC-DEF525CA0B64}" type="presOf" srcId="{0275CA6D-5B3B-4941-8AB1-4B3A9C020A40}" destId="{9AC569D5-D34C-476D-9FCE-DC406E3764C4}" srcOrd="0" destOrd="0" presId="urn:microsoft.com/office/officeart/2005/8/layout/chevron2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6025FCCB-CA1F-4B07-8E70-F365B7340D05}" srcId="{0275CA6D-5B3B-4941-8AB1-4B3A9C020A40}" destId="{B7ACFE08-BEDA-4A47-859D-A11A0CACF79A}" srcOrd="0" destOrd="0" parTransId="{30BF0152-E4E8-44C0-B22D-2E71793009EC}" sibTransId="{AD504092-C6AB-4FCA-96C1-A69153DE184E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98C544E4-6649-4981-85D0-513AEAA8436D}" srcId="{CB673EE2-49F4-40CA-A99B-18C9DEA1CE59}" destId="{0275CA6D-5B3B-4941-8AB1-4B3A9C020A40}" srcOrd="2" destOrd="0" parTransId="{90137100-63E2-4BBD-90FF-10691408F2E9}" sibTransId="{1D35C907-B7F5-4548-B1EF-CA666460D6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  <dgm:cxn modelId="{B71BA9A6-4323-4760-AA4A-75B2B39BFE39}" type="presParOf" srcId="{092ADF19-79F0-4D05-BD89-B3F8B1D81509}" destId="{A648B60D-71B7-415D-A796-84B53EAB51EF}" srcOrd="3" destOrd="0" presId="urn:microsoft.com/office/officeart/2005/8/layout/chevron2"/>
    <dgm:cxn modelId="{CE206A51-29C7-4596-BC6B-EC4F7CC81E7B}" type="presParOf" srcId="{092ADF19-79F0-4D05-BD89-B3F8B1D81509}" destId="{A4EFD9A3-B07A-4FCE-ADBE-4C6799CD886F}" srcOrd="4" destOrd="0" presId="urn:microsoft.com/office/officeart/2005/8/layout/chevron2"/>
    <dgm:cxn modelId="{EBD93E2D-3BB1-450D-9AE3-68AB6168AA11}" type="presParOf" srcId="{A4EFD9A3-B07A-4FCE-ADBE-4C6799CD886F}" destId="{9AC569D5-D34C-476D-9FCE-DC406E3764C4}" srcOrd="0" destOrd="0" presId="urn:microsoft.com/office/officeart/2005/8/layout/chevron2"/>
    <dgm:cxn modelId="{3DB93A04-577C-4433-B0A3-926FAE02B85A}" type="presParOf" srcId="{A4EFD9A3-B07A-4FCE-ADBE-4C6799CD886F}" destId="{E0B1F3FD-4A7B-4EB9-ABDB-620B0659A2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275CA6D-5B3B-4941-8AB1-4B3A9C020A40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90137100-63E2-4BBD-90FF-10691408F2E9}" type="par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D35C907-B7F5-4548-B1EF-CA666460D6D0}" type="sib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B7ACFE08-BEDA-4A47-859D-A11A0CACF79A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Train classifier by learning relation between input features and output classes</a:t>
          </a:r>
          <a:endParaRPr lang="en-US" dirty="0">
            <a:latin typeface="Gill Sans" panose="020B0604020202020204" charset="0"/>
          </a:endParaRPr>
        </a:p>
      </dgm:t>
    </dgm:pt>
    <dgm:pt modelId="{30BF0152-E4E8-44C0-B22D-2E71793009EC}" type="par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D504092-C6AB-4FCA-96C1-A69153DE184E}" type="sib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D7D5784-A80C-4C03-9FE7-5F54256B0108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Test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A4308C22-A43B-443F-8EFB-089D3F70E684}" type="parTrans" cxnId="{7E4CA9D2-4739-476F-A2AA-6316AB0A42B2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C28B1DE2-EA64-43EF-8025-48BFA55A9DCD}" type="sibTrans" cxnId="{7E4CA9D2-4739-476F-A2AA-6316AB0A42B2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D6044E6C-19C7-4A1D-AF8C-7EE9C199B1F4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Assess the classifier performance</a:t>
          </a:r>
          <a:endParaRPr lang="en-US" dirty="0">
            <a:latin typeface="Gill Sans" panose="020B0604020202020204" charset="0"/>
          </a:endParaRPr>
        </a:p>
      </dgm:t>
    </dgm:pt>
    <dgm:pt modelId="{B3696F43-EBE8-42C6-99C2-8B156543CF5A}" type="parTrans" cxnId="{150E508A-E603-4EA5-A801-AC110BF2C6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F9885630-5D58-450D-9CA5-4D3A2C4CCF44}" type="sibTrans" cxnId="{150E508A-E603-4EA5-A801-AC110BF2C6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4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4">
        <dgm:presLayoutVars>
          <dgm:bulletEnabled val="1"/>
        </dgm:presLayoutVars>
      </dgm:prSet>
      <dgm:spPr/>
    </dgm:pt>
    <dgm:pt modelId="{A648B60D-71B7-415D-A796-84B53EAB51EF}" type="pres">
      <dgm:prSet presAssocID="{961A7312-1314-4B8C-B439-85278D68DD67}" presName="sp" presStyleCnt="0"/>
      <dgm:spPr/>
    </dgm:pt>
    <dgm:pt modelId="{A4EFD9A3-B07A-4FCE-ADBE-4C6799CD886F}" type="pres">
      <dgm:prSet presAssocID="{0275CA6D-5B3B-4941-8AB1-4B3A9C020A40}" presName="composite" presStyleCnt="0"/>
      <dgm:spPr/>
    </dgm:pt>
    <dgm:pt modelId="{9AC569D5-D34C-476D-9FCE-DC406E3764C4}" type="pres">
      <dgm:prSet presAssocID="{0275CA6D-5B3B-4941-8AB1-4B3A9C020A40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0B1F3FD-4A7B-4EB9-ABDB-620B0659A216}" type="pres">
      <dgm:prSet presAssocID="{0275CA6D-5B3B-4941-8AB1-4B3A9C020A40}" presName="descendantText" presStyleLbl="alignAcc1" presStyleIdx="2" presStyleCnt="4">
        <dgm:presLayoutVars>
          <dgm:bulletEnabled val="1"/>
        </dgm:presLayoutVars>
      </dgm:prSet>
      <dgm:spPr/>
    </dgm:pt>
    <dgm:pt modelId="{E0F7707E-948E-487D-966C-C549B04D35AD}" type="pres">
      <dgm:prSet presAssocID="{1D35C907-B7F5-4548-B1EF-CA666460D6D0}" presName="sp" presStyleCnt="0"/>
      <dgm:spPr/>
    </dgm:pt>
    <dgm:pt modelId="{1057C97F-ED74-452C-9D7B-01DF639F5E2E}" type="pres">
      <dgm:prSet presAssocID="{7D7D5784-A80C-4C03-9FE7-5F54256B0108}" presName="composite" presStyleCnt="0"/>
      <dgm:spPr/>
    </dgm:pt>
    <dgm:pt modelId="{77BE4FA9-3A8B-41B5-99FB-79C09630D259}" type="pres">
      <dgm:prSet presAssocID="{7D7D5784-A80C-4C03-9FE7-5F54256B010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B2CF5441-CAE3-4F01-9D6B-6A83BC70BFEF}" type="pres">
      <dgm:prSet presAssocID="{7D7D5784-A80C-4C03-9FE7-5F54256B010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FCFFEA3B-2B6C-462F-9E80-B49EB48B96CD}" type="presOf" srcId="{B7ACFE08-BEDA-4A47-859D-A11A0CACF79A}" destId="{E0B1F3FD-4A7B-4EB9-ABDB-620B0659A216}" srcOrd="0" destOrd="0" presId="urn:microsoft.com/office/officeart/2005/8/layout/chevron2"/>
    <dgm:cxn modelId="{0BD7343D-340C-42D6-93E9-11CC1BEF65D9}" type="presOf" srcId="{7D7D5784-A80C-4C03-9FE7-5F54256B0108}" destId="{77BE4FA9-3A8B-41B5-99FB-79C09630D259}" srcOrd="0" destOrd="0" presId="urn:microsoft.com/office/officeart/2005/8/layout/chevron2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E043E54B-B947-4B67-9463-3DCCCB9303F3}" type="presOf" srcId="{D6044E6C-19C7-4A1D-AF8C-7EE9C199B1F4}" destId="{B2CF5441-CAE3-4F01-9D6B-6A83BC70BFEF}" srcOrd="0" destOrd="0" presId="urn:microsoft.com/office/officeart/2005/8/layout/chevron2"/>
    <dgm:cxn modelId="{F1F73E79-6790-4021-8FFC-DEF525CA0B64}" type="presOf" srcId="{0275CA6D-5B3B-4941-8AB1-4B3A9C020A40}" destId="{9AC569D5-D34C-476D-9FCE-DC406E3764C4}" srcOrd="0" destOrd="0" presId="urn:microsoft.com/office/officeart/2005/8/layout/chevron2"/>
    <dgm:cxn modelId="{150E508A-E603-4EA5-A801-AC110BF2C605}" srcId="{7D7D5784-A80C-4C03-9FE7-5F54256B0108}" destId="{D6044E6C-19C7-4A1D-AF8C-7EE9C199B1F4}" srcOrd="0" destOrd="0" parTransId="{B3696F43-EBE8-42C6-99C2-8B156543CF5A}" sibTransId="{F9885630-5D58-450D-9CA5-4D3A2C4CCF44}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6025FCCB-CA1F-4B07-8E70-F365B7340D05}" srcId="{0275CA6D-5B3B-4941-8AB1-4B3A9C020A40}" destId="{B7ACFE08-BEDA-4A47-859D-A11A0CACF79A}" srcOrd="0" destOrd="0" parTransId="{30BF0152-E4E8-44C0-B22D-2E71793009EC}" sibTransId="{AD504092-C6AB-4FCA-96C1-A69153DE184E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7E4CA9D2-4739-476F-A2AA-6316AB0A42B2}" srcId="{CB673EE2-49F4-40CA-A99B-18C9DEA1CE59}" destId="{7D7D5784-A80C-4C03-9FE7-5F54256B0108}" srcOrd="3" destOrd="0" parTransId="{A4308C22-A43B-443F-8EFB-089D3F70E684}" sibTransId="{C28B1DE2-EA64-43EF-8025-48BFA55A9DCD}"/>
    <dgm:cxn modelId="{98C544E4-6649-4981-85D0-513AEAA8436D}" srcId="{CB673EE2-49F4-40CA-A99B-18C9DEA1CE59}" destId="{0275CA6D-5B3B-4941-8AB1-4B3A9C020A40}" srcOrd="2" destOrd="0" parTransId="{90137100-63E2-4BBD-90FF-10691408F2E9}" sibTransId="{1D35C907-B7F5-4548-B1EF-CA666460D6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  <dgm:cxn modelId="{B71BA9A6-4323-4760-AA4A-75B2B39BFE39}" type="presParOf" srcId="{092ADF19-79F0-4D05-BD89-B3F8B1D81509}" destId="{A648B60D-71B7-415D-A796-84B53EAB51EF}" srcOrd="3" destOrd="0" presId="urn:microsoft.com/office/officeart/2005/8/layout/chevron2"/>
    <dgm:cxn modelId="{CE206A51-29C7-4596-BC6B-EC4F7CC81E7B}" type="presParOf" srcId="{092ADF19-79F0-4D05-BD89-B3F8B1D81509}" destId="{A4EFD9A3-B07A-4FCE-ADBE-4C6799CD886F}" srcOrd="4" destOrd="0" presId="urn:microsoft.com/office/officeart/2005/8/layout/chevron2"/>
    <dgm:cxn modelId="{EBD93E2D-3BB1-450D-9AE3-68AB6168AA11}" type="presParOf" srcId="{A4EFD9A3-B07A-4FCE-ADBE-4C6799CD886F}" destId="{9AC569D5-D34C-476D-9FCE-DC406E3764C4}" srcOrd="0" destOrd="0" presId="urn:microsoft.com/office/officeart/2005/8/layout/chevron2"/>
    <dgm:cxn modelId="{3DB93A04-577C-4433-B0A3-926FAE02B85A}" type="presParOf" srcId="{A4EFD9A3-B07A-4FCE-ADBE-4C6799CD886F}" destId="{E0B1F3FD-4A7B-4EB9-ABDB-620B0659A216}" srcOrd="1" destOrd="0" presId="urn:microsoft.com/office/officeart/2005/8/layout/chevron2"/>
    <dgm:cxn modelId="{182B7C80-1AAD-4196-9AD7-272C6FD496D0}" type="presParOf" srcId="{092ADF19-79F0-4D05-BD89-B3F8B1D81509}" destId="{E0F7707E-948E-487D-966C-C549B04D35AD}" srcOrd="5" destOrd="0" presId="urn:microsoft.com/office/officeart/2005/8/layout/chevron2"/>
    <dgm:cxn modelId="{3CE37937-B3BC-4E8C-BA76-1C2FD6A6B820}" type="presParOf" srcId="{092ADF19-79F0-4D05-BD89-B3F8B1D81509}" destId="{1057C97F-ED74-452C-9D7B-01DF639F5E2E}" srcOrd="6" destOrd="0" presId="urn:microsoft.com/office/officeart/2005/8/layout/chevron2"/>
    <dgm:cxn modelId="{9BC959CF-680E-470D-BC3C-0906236C2A72}" type="presParOf" srcId="{1057C97F-ED74-452C-9D7B-01DF639F5E2E}" destId="{77BE4FA9-3A8B-41B5-99FB-79C09630D259}" srcOrd="0" destOrd="0" presId="urn:microsoft.com/office/officeart/2005/8/layout/chevron2"/>
    <dgm:cxn modelId="{EDD6F8A7-0E91-46C9-9306-62A92A1C0381}" type="presParOf" srcId="{1057C97F-ED74-452C-9D7B-01DF639F5E2E}" destId="{B2CF5441-CAE3-4F01-9D6B-6A83BC70BFE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39360" y="244000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63147"/>
        <a:ext cx="1117016" cy="478721"/>
      </dsp:txXfrm>
    </dsp:sp>
    <dsp:sp modelId="{E091D8E4-0696-4FA0-B591-806E15E2CA61}">
      <dsp:nvSpPr>
        <dsp:cNvPr id="0" name=""/>
        <dsp:cNvSpPr/>
      </dsp:nvSpPr>
      <dsp:spPr>
        <a:xfrm rot="5400000">
          <a:off x="5299234" y="-4177578"/>
          <a:ext cx="1037774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Collect relevant data along with class label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6" y="55300"/>
        <a:ext cx="9351551" cy="936454"/>
      </dsp:txXfrm>
    </dsp:sp>
    <dsp:sp modelId="{454B0165-B1F8-4114-9A68-6D50E0844D16}">
      <dsp:nvSpPr>
        <dsp:cNvPr id="0" name=""/>
        <dsp:cNvSpPr/>
      </dsp:nvSpPr>
      <dsp:spPr>
        <a:xfrm rot="5400000">
          <a:off x="-239360" y="1645848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64995"/>
        <a:ext cx="1117016" cy="478721"/>
      </dsp:txXfrm>
    </dsp:sp>
    <dsp:sp modelId="{59112E16-E603-4827-B531-8F3DF793E526}">
      <dsp:nvSpPr>
        <dsp:cNvPr id="0" name=""/>
        <dsp:cNvSpPr/>
      </dsp:nvSpPr>
      <dsp:spPr>
        <a:xfrm rot="5400000">
          <a:off x="5299507" y="-2776003"/>
          <a:ext cx="1037229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Clean the data and fill any missing values</a:t>
          </a:r>
          <a:endParaRPr lang="en-US" sz="2600" kern="1200" dirty="0">
            <a:latin typeface="Gill Sans" panose="020B060402020202020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Pre-process the data as necessary 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7" y="1457120"/>
        <a:ext cx="9351578" cy="935963"/>
      </dsp:txXfrm>
    </dsp:sp>
    <dsp:sp modelId="{9AC569D5-D34C-476D-9FCE-DC406E3764C4}">
      <dsp:nvSpPr>
        <dsp:cNvPr id="0" name=""/>
        <dsp:cNvSpPr/>
      </dsp:nvSpPr>
      <dsp:spPr>
        <a:xfrm rot="5400000">
          <a:off x="-239360" y="3047696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3366843"/>
        <a:ext cx="1117016" cy="478721"/>
      </dsp:txXfrm>
    </dsp:sp>
    <dsp:sp modelId="{E0B1F3FD-4A7B-4EB9-ABDB-620B0659A216}">
      <dsp:nvSpPr>
        <dsp:cNvPr id="0" name=""/>
        <dsp:cNvSpPr/>
      </dsp:nvSpPr>
      <dsp:spPr>
        <a:xfrm rot="5400000">
          <a:off x="5299507" y="-1374155"/>
          <a:ext cx="1037229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Train classifier by learning relation between input features and output classes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7" y="2858968"/>
        <a:ext cx="9351578" cy="9359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26625" y="231465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33634"/>
        <a:ext cx="1057587" cy="453251"/>
      </dsp:txXfrm>
    </dsp:sp>
    <dsp:sp modelId="{E091D8E4-0696-4FA0-B591-806E15E2CA61}">
      <dsp:nvSpPr>
        <dsp:cNvPr id="0" name=""/>
        <dsp:cNvSpPr/>
      </dsp:nvSpPr>
      <dsp:spPr>
        <a:xfrm rot="5400000">
          <a:off x="5297126" y="-4234700"/>
          <a:ext cx="982561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Collect relevant data along with class label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52804"/>
        <a:ext cx="9413675" cy="886631"/>
      </dsp:txXfrm>
    </dsp:sp>
    <dsp:sp modelId="{454B0165-B1F8-4114-9A68-6D50E0844D16}">
      <dsp:nvSpPr>
        <dsp:cNvPr id="0" name=""/>
        <dsp:cNvSpPr/>
      </dsp:nvSpPr>
      <dsp:spPr>
        <a:xfrm rot="5400000">
          <a:off x="-226625" y="1598323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00492"/>
        <a:ext cx="1057587" cy="453251"/>
      </dsp:txXfrm>
    </dsp:sp>
    <dsp:sp modelId="{59112E16-E603-4827-B531-8F3DF793E526}">
      <dsp:nvSpPr>
        <dsp:cNvPr id="0" name=""/>
        <dsp:cNvSpPr/>
      </dsp:nvSpPr>
      <dsp:spPr>
        <a:xfrm rot="5400000">
          <a:off x="5297384" y="-2868099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Clean the data and fill any missing values</a:t>
          </a:r>
          <a:endParaRPr lang="en-US" sz="2400" kern="1200" dirty="0">
            <a:latin typeface="Gill Sans" panose="020B060402020202020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Pre-process the data as necessary 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1419637"/>
        <a:ext cx="9413701" cy="886167"/>
      </dsp:txXfrm>
    </dsp:sp>
    <dsp:sp modelId="{9AC569D5-D34C-476D-9FCE-DC406E3764C4}">
      <dsp:nvSpPr>
        <dsp:cNvPr id="0" name=""/>
        <dsp:cNvSpPr/>
      </dsp:nvSpPr>
      <dsp:spPr>
        <a:xfrm rot="5400000">
          <a:off x="-226625" y="2965182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3267351"/>
        <a:ext cx="1057587" cy="453251"/>
      </dsp:txXfrm>
    </dsp:sp>
    <dsp:sp modelId="{E0B1F3FD-4A7B-4EB9-ABDB-620B0659A216}">
      <dsp:nvSpPr>
        <dsp:cNvPr id="0" name=""/>
        <dsp:cNvSpPr/>
      </dsp:nvSpPr>
      <dsp:spPr>
        <a:xfrm rot="5400000">
          <a:off x="5297384" y="-1501240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Train classifier by learning relation between input features and output classes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2786496"/>
        <a:ext cx="9413701" cy="886167"/>
      </dsp:txXfrm>
    </dsp:sp>
    <dsp:sp modelId="{77BE4FA9-3A8B-41B5-99FB-79C09630D259}">
      <dsp:nvSpPr>
        <dsp:cNvPr id="0" name=""/>
        <dsp:cNvSpPr/>
      </dsp:nvSpPr>
      <dsp:spPr>
        <a:xfrm rot="5400000">
          <a:off x="-226625" y="4332041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Test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4634210"/>
        <a:ext cx="1057587" cy="453251"/>
      </dsp:txXfrm>
    </dsp:sp>
    <dsp:sp modelId="{B2CF5441-CAE3-4F01-9D6B-6A83BC70BFEF}">
      <dsp:nvSpPr>
        <dsp:cNvPr id="0" name=""/>
        <dsp:cNvSpPr/>
      </dsp:nvSpPr>
      <dsp:spPr>
        <a:xfrm rot="5400000">
          <a:off x="5297384" y="-134382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Assess the classifier performance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4153354"/>
        <a:ext cx="9413701" cy="886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51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516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135507d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135507d2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g23135507d24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135507d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135507d2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g23135507d24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403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443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3646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7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893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0293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0945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220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5671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8766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2595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247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0791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218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283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7691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654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7431128cdc_0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7431128cdc_0_6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7431128cdc_0_6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245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e4c91af68a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e4c91af68a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1e4c91af68a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38232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4c91af68a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e4c91af68a_1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1e4c91af68a_1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5422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31333674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313336749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2313336749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6234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e4c91af68a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e4c91af68a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1e4c91af68a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67500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e4c91af68a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e4c91af68a_1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1e4c91af68a_1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8339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3135507d2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3135507d2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23135507d24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2866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e4c91af68a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e4c91af68a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1e4c91af68a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4539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3135507d2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3135507d24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23135507d24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8304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3135507d2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3135507d24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23135507d24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6286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96961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3135507d2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3135507d24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23135507d24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50283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48" name="Google Shape;4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subTitle" idx="1"/>
          </p:nvPr>
        </p:nvSpPr>
        <p:spPr>
          <a:xfrm>
            <a:off x="1910080" y="1850064"/>
            <a:ext cx="9875200" cy="17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"/>
              <a:buNone/>
              <a:defRPr sz="2667" b="0" i="0" u="none" strike="noStrike" cap="none">
                <a:solidFill>
                  <a:srgbClr val="2A310F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"/>
              <a:buNone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32D2E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AA33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7518400" y="6400999"/>
            <a:ext cx="38608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13309600" y="6305551"/>
            <a:ext cx="609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1913467" y="838200"/>
            <a:ext cx="9999200" cy="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344D6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756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88570" y="2313986"/>
            <a:ext cx="8857808" cy="16799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7"/>
          <p:cNvSpPr txBox="1">
            <a:spLocks noGrp="1"/>
          </p:cNvSpPr>
          <p:nvPr>
            <p:ph type="ctrTitle"/>
          </p:nvPr>
        </p:nvSpPr>
        <p:spPr>
          <a:xfrm>
            <a:off x="2304999" y="270525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000"/>
              <a:buFont typeface="Gill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8326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520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301611" y="13652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339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  <p:sldLayoutId id="214748367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body" idx="1"/>
          </p:nvPr>
        </p:nvSpPr>
        <p:spPr>
          <a:xfrm>
            <a:off x="261260" y="14296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45"/>
          <p:cNvSpPr txBox="1"/>
          <p:nvPr/>
        </p:nvSpPr>
        <p:spPr>
          <a:xfrm>
            <a:off x="1384663" y="6444476"/>
            <a:ext cx="24021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</a:p>
        </p:txBody>
      </p:sp>
      <p:sp>
        <p:nvSpPr>
          <p:cNvPr id="69" name="Google Shape;69;p45"/>
          <p:cNvSpPr txBox="1"/>
          <p:nvPr/>
        </p:nvSpPr>
        <p:spPr>
          <a:xfrm>
            <a:off x="11279285" y="6413698"/>
            <a:ext cx="6139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499259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6.png"/><Relationship Id="rId5" Type="http://schemas.openxmlformats.org/officeDocument/2006/relationships/image" Target="../media/image22.pn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iiit.ac.in/cdn/cvit.iiit.ac.in/images/ConferencePapers/2015/rahulacpr15.pdf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kaggle.com/competitions/dfl-bundesliga-data-shootout/discussion/347266" TargetMode="External"/><Relationship Id="rId4" Type="http://schemas.openxmlformats.org/officeDocument/2006/relationships/hyperlink" Target="https://gogulilango.com/software/image-classification-python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1">
            <a:extLst>
              <a:ext uri="{FF2B5EF4-FFF2-40B4-BE49-F238E27FC236}">
                <a16:creationId xmlns:a16="http://schemas.microsoft.com/office/drawing/2014/main" id="{135F844F-4D6E-02A7-B1BB-AB021D2F8429}"/>
              </a:ext>
            </a:extLst>
          </p:cNvPr>
          <p:cNvSpPr txBox="1">
            <a:spLocks/>
          </p:cNvSpPr>
          <p:nvPr/>
        </p:nvSpPr>
        <p:spPr>
          <a:xfrm>
            <a:off x="921914" y="1666650"/>
            <a:ext cx="10348171" cy="3524700"/>
          </a:xfrm>
          <a:prstGeom prst="rect">
            <a:avLst/>
          </a:prstGeom>
          <a:noFill/>
          <a:ln>
            <a:noFill/>
          </a:ln>
          <a:effectLst>
            <a:outerShdw dist="2540000" dir="21540000" sx="1000" sy="1000" algn="ctr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  <a:buSzPts val="1100"/>
            </a:pPr>
            <a:r>
              <a:rPr lang="en-US" sz="4800" b="1" dirty="0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Case Study in Video Analytics</a:t>
            </a:r>
          </a:p>
          <a:p>
            <a:pPr algn="ctr">
              <a:buClr>
                <a:srgbClr val="000000"/>
              </a:buClr>
              <a:buSzPts val="1100"/>
            </a:pPr>
            <a:r>
              <a:rPr lang="en-US" sz="4800" b="1" dirty="0">
                <a:solidFill>
                  <a:srgbClr val="002060"/>
                </a:solidFill>
                <a:latin typeface="Avenir"/>
                <a:ea typeface="Montserrat"/>
                <a:cs typeface="Montserrat"/>
                <a:sym typeface="Avenir"/>
              </a:rPr>
              <a:t>Cricket Shot Prediction</a:t>
            </a:r>
            <a:endParaRPr lang="en-US" sz="6000" b="1" dirty="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3406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24DDD-9F76-D646-86D5-9993D91E6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EBFDDB0-E094-C26E-1A37-7586852CD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Contents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Google Shape;117;p2">
            <a:extLst>
              <a:ext uri="{FF2B5EF4-FFF2-40B4-BE49-F238E27FC236}">
                <a16:creationId xmlns:a16="http://schemas.microsoft.com/office/drawing/2014/main" id="{E4ABDF2C-CBFD-968D-02E1-3F5AF60E6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6550"/>
            <a:ext cx="10515600" cy="452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Cricket Shot Prediction – Model Training and Testing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Approaches to building Classifiers from Video data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Approaches used for Cricket Shot Prediction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Cricket Shot Prediction - Model Deployment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6"/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41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135507d24_2_0"/>
          <p:cNvSpPr txBox="1">
            <a:spLocks noGrp="1"/>
          </p:cNvSpPr>
          <p:nvPr>
            <p:ph type="body" idx="1"/>
          </p:nvPr>
        </p:nvSpPr>
        <p:spPr>
          <a:xfrm>
            <a:off x="415600" y="1190202"/>
            <a:ext cx="6101261" cy="5152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In cricket, various types of shots played by a batsman are identified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Drive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Leg Glance or Flick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Sweep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Pull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Hook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Cut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endParaRPr lang="en-US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indent="-457200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Objective</a:t>
            </a:r>
            <a:r>
              <a:rPr lang="en-US" sz="2400" dirty="0">
                <a:solidFill>
                  <a:srgbClr val="000000"/>
                </a:solidFill>
                <a:latin typeface="Gill Sans" panose="020B0604020202020204" charset="0"/>
              </a:rPr>
              <a:t>: Developing a cricket shot prediction model using video analytics</a:t>
            </a:r>
          </a:p>
          <a:p>
            <a:pPr indent="-457200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Gill Sans" panose="020B0604020202020204" charset="0"/>
              </a:rPr>
              <a:t>Videos of the batsmen playing a shot are used as input</a:t>
            </a:r>
            <a:endParaRPr lang="en-US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285750" indent="-285750">
              <a:lnSpc>
                <a:spcPct val="100000"/>
              </a:lnSpc>
            </a:pPr>
            <a:endParaRPr lang="en-US"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49" name="Google Shape;149;g23135507d24_2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7" name="Google Shape;140;g276234fa0a8_0_0">
            <a:extLst>
              <a:ext uri="{FF2B5EF4-FFF2-40B4-BE49-F238E27FC236}">
                <a16:creationId xmlns:a16="http://schemas.microsoft.com/office/drawing/2014/main" id="{03157286-0D58-047B-0BE0-AAFD17F7C9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0550" y="1190202"/>
            <a:ext cx="5511450" cy="529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2E15AD-06EE-BFC5-EFCE-09D9EB134B76}"/>
              </a:ext>
            </a:extLst>
          </p:cNvPr>
          <p:cNvSpPr txBox="1"/>
          <p:nvPr/>
        </p:nvSpPr>
        <p:spPr>
          <a:xfrm>
            <a:off x="1964821" y="9972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Cricket Shot Prediction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135507d24_2_0"/>
          <p:cNvSpPr txBox="1">
            <a:spLocks noGrp="1"/>
          </p:cNvSpPr>
          <p:nvPr>
            <p:ph type="body" idx="1"/>
          </p:nvPr>
        </p:nvSpPr>
        <p:spPr>
          <a:xfrm>
            <a:off x="415600" y="1069076"/>
            <a:ext cx="11315863" cy="1507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Formulation: </a:t>
            </a: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Classification problem with each type of shot considered as a class </a:t>
            </a: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Relation between video and class of shot to be learnt from data</a:t>
            </a:r>
            <a:endParaRPr sz="2600" dirty="0">
              <a:solidFill>
                <a:srgbClr val="000000"/>
              </a:solidFill>
              <a:latin typeface="Gill Sans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rgbClr val="000000"/>
              </a:solidFill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</p:txBody>
      </p:sp>
      <p:sp>
        <p:nvSpPr>
          <p:cNvPr id="149" name="Google Shape;149;g23135507d24_2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721E5-24DB-1B1E-BDBD-3F4033EC747B}"/>
              </a:ext>
            </a:extLst>
          </p:cNvPr>
          <p:cNvSpPr txBox="1"/>
          <p:nvPr/>
        </p:nvSpPr>
        <p:spPr>
          <a:xfrm>
            <a:off x="1964821" y="9972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Formulation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C3294-6AA3-AD98-CD3B-7EFA0ECA766A}"/>
              </a:ext>
            </a:extLst>
          </p:cNvPr>
          <p:cNvSpPr txBox="1"/>
          <p:nvPr/>
        </p:nvSpPr>
        <p:spPr>
          <a:xfrm>
            <a:off x="1442958" y="3812147"/>
            <a:ext cx="2865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(Video of batsman playing cricket shot)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C83C4-97C7-9533-6625-1973BF4D0FF2}"/>
              </a:ext>
            </a:extLst>
          </p:cNvPr>
          <p:cNvSpPr txBox="1"/>
          <p:nvPr/>
        </p:nvSpPr>
        <p:spPr>
          <a:xfrm>
            <a:off x="8073261" y="3750527"/>
            <a:ext cx="2820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class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(Type of cricket shot)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8417B-A6DB-02D1-BC08-C234A0F7599B}"/>
              </a:ext>
            </a:extLst>
          </p:cNvPr>
          <p:cNvSpPr txBox="1"/>
          <p:nvPr/>
        </p:nvSpPr>
        <p:spPr>
          <a:xfrm>
            <a:off x="4672965" y="2449517"/>
            <a:ext cx="1677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5CF24-E4F2-FAA1-5844-356CDE331897}"/>
              </a:ext>
            </a:extLst>
          </p:cNvPr>
          <p:cNvSpPr/>
          <p:nvPr/>
        </p:nvSpPr>
        <p:spPr>
          <a:xfrm>
            <a:off x="4672965" y="3654052"/>
            <a:ext cx="1899920" cy="12395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Input-Output Relation</a:t>
            </a:r>
          </a:p>
          <a:p>
            <a:pPr algn="ctr"/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0D218B-B165-A1CB-D3FC-0789A3A3C62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01228" y="4269442"/>
            <a:ext cx="1071737" cy="4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2E77DC-C768-C821-6FCD-2424BCECA12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572885" y="4273812"/>
            <a:ext cx="1494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DA4F32-7CB9-840D-CCF8-BB9B8707C73C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622925" y="4893572"/>
            <a:ext cx="18871" cy="106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2B072B-0C1D-8A7C-A93E-1E1B8108E3FA}"/>
              </a:ext>
            </a:extLst>
          </p:cNvPr>
          <p:cNvSpPr txBox="1"/>
          <p:nvPr/>
        </p:nvSpPr>
        <p:spPr>
          <a:xfrm>
            <a:off x="5641796" y="5511779"/>
            <a:ext cx="2381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Feedback: Input-Output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68AF0D-6214-098F-93BA-7CA3A413CB0E}"/>
              </a:ext>
            </a:extLst>
          </p:cNvPr>
          <p:cNvSpPr/>
          <p:nvPr/>
        </p:nvSpPr>
        <p:spPr>
          <a:xfrm>
            <a:off x="1442958" y="3349599"/>
            <a:ext cx="9495241" cy="183968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2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3: Build Classifier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85498FD-6864-F496-2060-0E71ACC7E47A}"/>
              </a:ext>
            </a:extLst>
          </p:cNvPr>
          <p:cNvGraphicFramePr/>
          <p:nvPr/>
        </p:nvGraphicFramePr>
        <p:xfrm>
          <a:off x="649515" y="1121230"/>
          <a:ext cx="10519228" cy="440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35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399913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0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 on Videos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533400" y="1438446"/>
            <a:ext cx="10363200" cy="47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Frame Based Approaches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Sequences Based Approaches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3D CNN based Approaches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Attention Mechanism based Approaches</a:t>
            </a:r>
          </a:p>
          <a:p>
            <a:pPr marL="0" indent="0">
              <a:lnSpc>
                <a:spcPct val="80000"/>
              </a:lnSpc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Different architectures have been developed based on each of the above approaches to learn from videos</a:t>
            </a:r>
          </a:p>
          <a:p>
            <a:pPr marL="0" indent="0">
              <a:lnSpc>
                <a:spcPct val="80000"/>
              </a:lnSpc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9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399913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0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 on Videos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533400" y="1438446"/>
            <a:ext cx="10363200" cy="47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Frame Based Approach: 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Frames are extracted from videos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CNNs are used to extract useful features from each frame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Features across all frames are used to make final predictions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	Challenges:</a:t>
            </a:r>
          </a:p>
          <a:p>
            <a:pPr lvl="2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Treating each frame independently results in loss of temporal information</a:t>
            </a:r>
          </a:p>
          <a:p>
            <a:pPr lvl="2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Long term dependencies cannot be captured</a:t>
            </a:r>
          </a:p>
        </p:txBody>
      </p:sp>
    </p:spTree>
    <p:extLst>
      <p:ext uri="{BB962C8B-B14F-4D97-AF65-F5344CB8AC3E}">
        <p14:creationId xmlns:p14="http://schemas.microsoft.com/office/powerpoint/2010/main" val="207891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399913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0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 on Videos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838200" y="1416675"/>
            <a:ext cx="10515600" cy="47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eriod" startAt="2"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Sequences based Approaches: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Recurrent Neural Networks can capture temporal dependences by taking a sequences of frames as input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6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	</a:t>
            </a:r>
            <a:endParaRPr lang="en-IN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18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ctrTitle"/>
          </p:nvPr>
        </p:nvSpPr>
        <p:spPr>
          <a:xfrm>
            <a:off x="2304999" y="282717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dk1"/>
              </a:buClr>
              <a:buSzPts val="1100"/>
              <a:buFont typeface="Arial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Sequence Learning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98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421865" y="376235"/>
            <a:ext cx="9819415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Sequence Learning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32" name="Google Shape;532;ga7509579c8_0_158"/>
          <p:cNvSpPr txBox="1">
            <a:spLocks noGrp="1"/>
          </p:cNvSpPr>
          <p:nvPr>
            <p:ph type="body" idx="1"/>
          </p:nvPr>
        </p:nvSpPr>
        <p:spPr>
          <a:xfrm>
            <a:off x="805845" y="1298108"/>
            <a:ext cx="10580309" cy="46972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just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Sequence learning is where a computer needs to learn from a sequence of inputs and/or produce a sequence of outputs </a:t>
            </a:r>
          </a:p>
          <a:p>
            <a:pPr marL="800100" lvl="1" indent="-342900" algn="just">
              <a:lnSpc>
                <a:spcPct val="1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Successive inputs might be dependent on one another</a:t>
            </a:r>
          </a:p>
          <a:p>
            <a:pPr marL="800100" lvl="1" indent="-342900" algn="just">
              <a:lnSpc>
                <a:spcPct val="1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Size of the input sequence is not fixed</a:t>
            </a:r>
          </a:p>
          <a:p>
            <a:pPr indent="-457200" algn="just">
              <a:lnSpc>
                <a:spcPct val="100000"/>
              </a:lnSpc>
              <a:buSzTx/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Examples of Sequence Learning Tasks:</a:t>
            </a:r>
            <a:endParaRPr lang="en-US" sz="26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lvl="1" indent="-457200" algn="just">
              <a:lnSpc>
                <a:spcPct val="1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70C0"/>
                </a:solidFill>
                <a:latin typeface="Gill Sans" panose="020B0604020202020204" charset="0"/>
              </a:rPr>
              <a:t>Sentiment analysis - Input: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 Sequence of words | </a:t>
            </a:r>
            <a:r>
              <a:rPr lang="en-IN" sz="2400" dirty="0">
                <a:solidFill>
                  <a:srgbClr val="0070C0"/>
                </a:solidFill>
                <a:latin typeface="Gill Sans" panose="020B0604020202020204" charset="0"/>
              </a:rPr>
              <a:t>Output: 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positive/negative sentiment</a:t>
            </a:r>
          </a:p>
          <a:p>
            <a:pPr lvl="1" indent="-457200" algn="just">
              <a:lnSpc>
                <a:spcPct val="1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70C0"/>
                </a:solidFill>
                <a:latin typeface="Gill Sans" panose="020B0604020202020204" charset="0"/>
              </a:rPr>
              <a:t>Describing or Classifying a video - Input: 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Video (sequence of images) | </a:t>
            </a:r>
            <a:r>
              <a:rPr lang="en-IN" sz="2400" dirty="0">
                <a:solidFill>
                  <a:srgbClr val="0070C0"/>
                </a:solidFill>
                <a:latin typeface="Gill Sans" panose="020B0604020202020204" charset="0"/>
              </a:rPr>
              <a:t>Output: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 Class or Sequence of words</a:t>
            </a:r>
          </a:p>
          <a:p>
            <a:pPr lvl="1" indent="-457200" algn="just">
              <a:lnSpc>
                <a:spcPct val="1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70C0"/>
                </a:solidFill>
                <a:latin typeface="Gill Sans" panose="020B0604020202020204" charset="0"/>
              </a:rPr>
              <a:t>Machine Translation - Input: 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Sequence of words in one language | </a:t>
            </a:r>
            <a:r>
              <a:rPr lang="en-IN" sz="2400" dirty="0">
                <a:solidFill>
                  <a:srgbClr val="0070C0"/>
                </a:solidFill>
                <a:latin typeface="Gill Sans" panose="020B0604020202020204" charset="0"/>
              </a:rPr>
              <a:t>Output: 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Sequence of words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in another language</a:t>
            </a:r>
            <a:endParaRPr lang="en-IN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08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421865" y="404062"/>
            <a:ext cx="981941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Sequence Learning – Video Classification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284D616-EB27-61B8-724E-E7F7F0E661DA}"/>
              </a:ext>
            </a:extLst>
          </p:cNvPr>
          <p:cNvGrpSpPr/>
          <p:nvPr/>
        </p:nvGrpSpPr>
        <p:grpSpPr>
          <a:xfrm>
            <a:off x="283028" y="1480457"/>
            <a:ext cx="11912829" cy="4909586"/>
            <a:chOff x="283028" y="1480457"/>
            <a:chExt cx="11912829" cy="49095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A69E588-C5B4-A2BD-BD4A-8D108A25F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3028" y="1480457"/>
              <a:ext cx="3600000" cy="2025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5AB267-CFE9-770E-01E6-786C69F06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37514" y="1480457"/>
              <a:ext cx="3600000" cy="2025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9B1489-AA27-2AB2-F840-5BA8B3AA3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92000" y="1480457"/>
              <a:ext cx="3600000" cy="2025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305F19F-5B14-EFD1-D2B6-30B5D3FA4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205" y="4365043"/>
              <a:ext cx="3600000" cy="2025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AB436E3-4562-E0ED-3A39-A3EA49A36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37514" y="4365043"/>
              <a:ext cx="3600000" cy="2025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251510-F196-CA7A-DCF3-9BAF92DE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95857" y="4365043"/>
              <a:ext cx="3600000" cy="2025000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FC17011-3669-6C4B-E876-ED9FD8C2A80E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3883028" y="2492957"/>
              <a:ext cx="5544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D0CFA63-B7CC-F156-C050-5C4362399857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>
              <a:off x="8037514" y="2492957"/>
              <a:ext cx="5544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E8F71A3-F777-2528-BDE1-78E7C3503120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3885205" y="5377542"/>
              <a:ext cx="6759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C39E425-66D4-6957-AA78-57C97A7B98B6}"/>
                </a:ext>
              </a:extLst>
            </p:cNvPr>
            <p:cNvCxnSpPr>
              <a:cxnSpLocks/>
              <a:stCxn id="13" idx="3"/>
              <a:endCxn id="15" idx="1"/>
            </p:cNvCxnSpPr>
            <p:nvPr/>
          </p:nvCxnSpPr>
          <p:spPr>
            <a:xfrm>
              <a:off x="8037514" y="5377543"/>
              <a:ext cx="5583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9F18AB4A-3E42-A8FC-1C2F-EBE2A542149D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 rot="5400000">
              <a:off x="5808810" y="-218147"/>
              <a:ext cx="859586" cy="8306795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8998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421865" y="96286"/>
            <a:ext cx="981941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Sequence Learning – Recurrent Neural Networks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4C9118-03E5-30CA-218C-4B72C80651B8}"/>
              </a:ext>
            </a:extLst>
          </p:cNvPr>
          <p:cNvSpPr/>
          <p:nvPr/>
        </p:nvSpPr>
        <p:spPr>
          <a:xfrm>
            <a:off x="6313288" y="2532080"/>
            <a:ext cx="55388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17EE9E-81BB-0688-F828-0BBC3934B371}"/>
              </a:ext>
            </a:extLst>
          </p:cNvPr>
          <p:cNvGrpSpPr/>
          <p:nvPr/>
        </p:nvGrpSpPr>
        <p:grpSpPr>
          <a:xfrm>
            <a:off x="5613863" y="3167049"/>
            <a:ext cx="647718" cy="2941809"/>
            <a:chOff x="1404713" y="2753835"/>
            <a:chExt cx="647718" cy="294180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469DB89-4AEE-4FF7-352E-47DC8CB887D2}"/>
                </a:ext>
              </a:extLst>
            </p:cNvPr>
            <p:cNvGrpSpPr/>
            <p:nvPr/>
          </p:nvGrpSpPr>
          <p:grpSpPr>
            <a:xfrm>
              <a:off x="1404713" y="2753835"/>
              <a:ext cx="548640" cy="2438400"/>
              <a:chOff x="7950200" y="2667000"/>
              <a:chExt cx="548640" cy="24384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E75273-91C1-CD34-B326-1B5CFF203568}"/>
                  </a:ext>
                </a:extLst>
              </p:cNvPr>
              <p:cNvSpPr/>
              <p:nvPr/>
            </p:nvSpPr>
            <p:spPr>
              <a:xfrm>
                <a:off x="7950200" y="2667000"/>
                <a:ext cx="548640" cy="1524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0101E09-AD56-F635-942B-AD3D148ED6CE}"/>
                  </a:ext>
                </a:extLst>
              </p:cNvPr>
              <p:cNvCxnSpPr>
                <a:cxnSpLocks/>
                <a:endCxn id="16" idx="2"/>
              </p:cNvCxnSpPr>
              <p:nvPr/>
            </p:nvCxnSpPr>
            <p:spPr>
              <a:xfrm flipV="1">
                <a:off x="8224520" y="4191000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3210871-BA24-CA9D-EA32-EE4C7FF27D58}"/>
                    </a:ext>
                  </a:extLst>
                </p:cNvPr>
                <p:cNvSpPr txBox="1"/>
                <p:nvPr/>
              </p:nvSpPr>
              <p:spPr>
                <a:xfrm>
                  <a:off x="1422258" y="5172424"/>
                  <a:ext cx="63017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Gill Sans" panose="020B0604020202020204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2E82DE0-ADD4-4A09-AD02-9B60974D7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258" y="5172424"/>
                  <a:ext cx="63017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13BF1D6-22DC-33F4-F701-138E1B85C43F}"/>
              </a:ext>
            </a:extLst>
          </p:cNvPr>
          <p:cNvGrpSpPr/>
          <p:nvPr/>
        </p:nvGrpSpPr>
        <p:grpSpPr>
          <a:xfrm>
            <a:off x="7357433" y="3167049"/>
            <a:ext cx="655990" cy="2941809"/>
            <a:chOff x="1404713" y="2753835"/>
            <a:chExt cx="655990" cy="294180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1120AFC-990D-AAF3-8CCA-5A20E2601F66}"/>
                </a:ext>
              </a:extLst>
            </p:cNvPr>
            <p:cNvGrpSpPr/>
            <p:nvPr/>
          </p:nvGrpSpPr>
          <p:grpSpPr>
            <a:xfrm>
              <a:off x="1404713" y="2753835"/>
              <a:ext cx="548640" cy="2438400"/>
              <a:chOff x="7950200" y="2667000"/>
              <a:chExt cx="548640" cy="243840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66FECC8-AA81-8A2D-19F4-A165BD3FD1F4}"/>
                  </a:ext>
                </a:extLst>
              </p:cNvPr>
              <p:cNvSpPr/>
              <p:nvPr/>
            </p:nvSpPr>
            <p:spPr>
              <a:xfrm>
                <a:off x="7950200" y="2667000"/>
                <a:ext cx="548640" cy="1524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52B5174B-EF47-7495-8CFE-42B50A0E586F}"/>
                  </a:ext>
                </a:extLst>
              </p:cNvPr>
              <p:cNvCxnSpPr>
                <a:cxnSpLocks/>
                <a:endCxn id="31" idx="2"/>
              </p:cNvCxnSpPr>
              <p:nvPr/>
            </p:nvCxnSpPr>
            <p:spPr>
              <a:xfrm flipV="1">
                <a:off x="8224520" y="4191000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46F0F02-6F9C-9B6D-9D50-18054DEC2A8D}"/>
                    </a:ext>
                  </a:extLst>
                </p:cNvPr>
                <p:cNvSpPr txBox="1"/>
                <p:nvPr/>
              </p:nvSpPr>
              <p:spPr>
                <a:xfrm>
                  <a:off x="1422258" y="5172424"/>
                  <a:ext cx="63844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Gill Sans" panose="020B0604020202020204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33052DC-DA9C-4437-AA3A-87810E688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258" y="5172424"/>
                  <a:ext cx="638445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93FB92-97F2-E3EF-FCC6-F44F1C423084}"/>
              </a:ext>
            </a:extLst>
          </p:cNvPr>
          <p:cNvGrpSpPr/>
          <p:nvPr/>
        </p:nvGrpSpPr>
        <p:grpSpPr>
          <a:xfrm>
            <a:off x="9137734" y="3167049"/>
            <a:ext cx="655990" cy="2941809"/>
            <a:chOff x="1404713" y="2753835"/>
            <a:chExt cx="655990" cy="294180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1CFB4C0-3C89-C85A-6D66-813A7948FD00}"/>
                </a:ext>
              </a:extLst>
            </p:cNvPr>
            <p:cNvGrpSpPr/>
            <p:nvPr/>
          </p:nvGrpSpPr>
          <p:grpSpPr>
            <a:xfrm>
              <a:off x="1404713" y="2753835"/>
              <a:ext cx="548640" cy="2438400"/>
              <a:chOff x="7950200" y="2667000"/>
              <a:chExt cx="548640" cy="24384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0E73672-2DCD-9D9B-6179-59F1CE8E9CEB}"/>
                  </a:ext>
                </a:extLst>
              </p:cNvPr>
              <p:cNvSpPr/>
              <p:nvPr/>
            </p:nvSpPr>
            <p:spPr>
              <a:xfrm>
                <a:off x="7950200" y="2667000"/>
                <a:ext cx="548640" cy="1524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EC56B19-EB6D-D5B8-D493-F2E12D76FF57}"/>
                  </a:ext>
                </a:extLst>
              </p:cNvPr>
              <p:cNvCxnSpPr>
                <a:cxnSpLocks/>
                <a:endCxn id="41" idx="2"/>
              </p:cNvCxnSpPr>
              <p:nvPr/>
            </p:nvCxnSpPr>
            <p:spPr>
              <a:xfrm flipV="1">
                <a:off x="8224520" y="4191000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DEE71B4-1C73-498A-B4DE-B9F0E7F30F20}"/>
                    </a:ext>
                  </a:extLst>
                </p:cNvPr>
                <p:cNvSpPr txBox="1"/>
                <p:nvPr/>
              </p:nvSpPr>
              <p:spPr>
                <a:xfrm>
                  <a:off x="1422258" y="5172424"/>
                  <a:ext cx="63844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Gill Sans" panose="020B0604020202020204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0C75C4D-A9F9-4FBC-AE18-DF1658636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258" y="5172424"/>
                  <a:ext cx="638445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5445D77-B1A8-9BAA-6005-3F2C1B91D06F}"/>
              </a:ext>
            </a:extLst>
          </p:cNvPr>
          <p:cNvGrpSpPr/>
          <p:nvPr/>
        </p:nvGrpSpPr>
        <p:grpSpPr>
          <a:xfrm>
            <a:off x="11263156" y="1800685"/>
            <a:ext cx="689885" cy="4287504"/>
            <a:chOff x="1392938" y="1408140"/>
            <a:chExt cx="689885" cy="428750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9E33685-6ED6-8F1C-E90B-E3D55783E031}"/>
                </a:ext>
              </a:extLst>
            </p:cNvPr>
            <p:cNvGrpSpPr/>
            <p:nvPr/>
          </p:nvGrpSpPr>
          <p:grpSpPr>
            <a:xfrm>
              <a:off x="1404713" y="1986755"/>
              <a:ext cx="548640" cy="3205480"/>
              <a:chOff x="7950200" y="1899920"/>
              <a:chExt cx="548640" cy="320548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BB1DD26-44D2-71C2-B7B4-C07DFE449F16}"/>
                  </a:ext>
                </a:extLst>
              </p:cNvPr>
              <p:cNvSpPr/>
              <p:nvPr/>
            </p:nvSpPr>
            <p:spPr>
              <a:xfrm>
                <a:off x="7950200" y="2667000"/>
                <a:ext cx="548640" cy="1524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7E009778-940B-BB27-74F9-C8277D5B5EDC}"/>
                  </a:ext>
                </a:extLst>
              </p:cNvPr>
              <p:cNvCxnSpPr>
                <a:cxnSpLocks/>
                <a:stCxn id="51" idx="0"/>
              </p:cNvCxnSpPr>
              <p:nvPr/>
            </p:nvCxnSpPr>
            <p:spPr>
              <a:xfrm flipV="1">
                <a:off x="8224520" y="1899920"/>
                <a:ext cx="0" cy="7670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7591BCBE-8F1F-8104-D9E1-708346D1C7AA}"/>
                  </a:ext>
                </a:extLst>
              </p:cNvPr>
              <p:cNvCxnSpPr>
                <a:cxnSpLocks/>
                <a:endCxn id="51" idx="2"/>
              </p:cNvCxnSpPr>
              <p:nvPr/>
            </p:nvCxnSpPr>
            <p:spPr>
              <a:xfrm flipV="1">
                <a:off x="8224520" y="4191000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95DDE32-7925-79A6-6CF5-19670F387916}"/>
                    </a:ext>
                  </a:extLst>
                </p:cNvPr>
                <p:cNvSpPr txBox="1"/>
                <p:nvPr/>
              </p:nvSpPr>
              <p:spPr>
                <a:xfrm>
                  <a:off x="1422258" y="5172424"/>
                  <a:ext cx="66056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Gill Sans" panose="020B0604020202020204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C91859D-766C-4970-9C5C-66C04F9C8D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258" y="5172424"/>
                  <a:ext cx="660565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84CD6D1-5308-5C19-3FF4-0D99176F00BD}"/>
                    </a:ext>
                  </a:extLst>
                </p:cNvPr>
                <p:cNvSpPr txBox="1"/>
                <p:nvPr/>
              </p:nvSpPr>
              <p:spPr>
                <a:xfrm>
                  <a:off x="1392938" y="1408140"/>
                  <a:ext cx="49058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  <a:latin typeface="Gill Sans" panose="020B0604020202020204" charset="0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84CD6D1-5308-5C19-3FF4-0D99176F0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938" y="1408140"/>
                  <a:ext cx="490584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4F6FF10-5F4A-DF72-9B69-9DD049AA7100}"/>
                  </a:ext>
                </a:extLst>
              </p:cNvPr>
              <p:cNvSpPr txBox="1"/>
              <p:nvPr/>
            </p:nvSpPr>
            <p:spPr>
              <a:xfrm>
                <a:off x="10525347" y="3776370"/>
                <a:ext cx="63581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…..</m:t>
                      </m:r>
                    </m:oMath>
                  </m:oMathPara>
                </a14:m>
                <a:endParaRPr lang="en-IN" sz="2800" b="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4F6FF10-5F4A-DF72-9B69-9DD049AA7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5347" y="3776370"/>
                <a:ext cx="635815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6B3AFFA-7106-7A68-0B32-7949E19DAE27}"/>
              </a:ext>
            </a:extLst>
          </p:cNvPr>
          <p:cNvCxnSpPr>
            <a:stCxn id="16" idx="3"/>
            <a:endCxn id="31" idx="1"/>
          </p:cNvCxnSpPr>
          <p:nvPr/>
        </p:nvCxnSpPr>
        <p:spPr>
          <a:xfrm>
            <a:off x="6162503" y="3929049"/>
            <a:ext cx="119493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616E346-3BEA-596D-1F05-8B11F4966A1E}"/>
              </a:ext>
            </a:extLst>
          </p:cNvPr>
          <p:cNvCxnSpPr>
            <a:cxnSpLocks/>
            <a:stCxn id="31" idx="3"/>
            <a:endCxn id="41" idx="1"/>
          </p:cNvCxnSpPr>
          <p:nvPr/>
        </p:nvCxnSpPr>
        <p:spPr>
          <a:xfrm>
            <a:off x="7906073" y="3929049"/>
            <a:ext cx="123166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9DFF592-9D9D-6A3D-08D9-1B5973C7A7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686374" y="3929049"/>
            <a:ext cx="91192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7A05573-9733-D0B2-5CB6-93E3ED7F0C51}"/>
              </a:ext>
            </a:extLst>
          </p:cNvPr>
          <p:cNvSpPr txBox="1"/>
          <p:nvPr/>
        </p:nvSpPr>
        <p:spPr>
          <a:xfrm>
            <a:off x="5911133" y="6206617"/>
            <a:ext cx="6267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Encoded sequence of inputs (words or images)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F8548E1B-224A-6635-0C58-8BE1944C06A0}"/>
              </a:ext>
            </a:extLst>
          </p:cNvPr>
          <p:cNvSpPr txBox="1"/>
          <p:nvPr/>
        </p:nvSpPr>
        <p:spPr>
          <a:xfrm>
            <a:off x="8671722" y="1407604"/>
            <a:ext cx="3707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or Sequence of outputs</a:t>
            </a:r>
          </a:p>
        </p:txBody>
      </p:sp>
      <p:sp>
        <p:nvSpPr>
          <p:cNvPr id="513" name="Google Shape;349;g1e4c91af68a_1_25">
            <a:extLst>
              <a:ext uri="{FF2B5EF4-FFF2-40B4-BE49-F238E27FC236}">
                <a16:creationId xmlns:a16="http://schemas.microsoft.com/office/drawing/2014/main" id="{04FC8999-90E2-8629-3937-B31CDAC9B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6072" y="1600319"/>
            <a:ext cx="4917678" cy="481136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Sequence of simple networks are joined together to form a recurrent network</a:t>
            </a:r>
          </a:p>
          <a:p>
            <a:pPr marL="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Recurrent connection is added between them to capture dependency of inputs</a:t>
            </a:r>
          </a:p>
          <a:p>
            <a:pPr marL="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Information from multiple is encoded together and then decoded in necessary form</a:t>
            </a:r>
          </a:p>
          <a:p>
            <a:pPr marL="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Also known as encoder-decoder models 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C2E081F0-139A-F3A1-E65C-A17F1295E8C6}"/>
              </a:ext>
            </a:extLst>
          </p:cNvPr>
          <p:cNvSpPr txBox="1"/>
          <p:nvPr/>
        </p:nvSpPr>
        <p:spPr>
          <a:xfrm>
            <a:off x="5613863" y="3909746"/>
            <a:ext cx="219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Recurrent connection</a:t>
            </a:r>
          </a:p>
        </p:txBody>
      </p:sp>
    </p:spTree>
    <p:extLst>
      <p:ext uri="{BB962C8B-B14F-4D97-AF65-F5344CB8AC3E}">
        <p14:creationId xmlns:p14="http://schemas.microsoft.com/office/powerpoint/2010/main" val="136077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4" grpId="0"/>
      <p:bldP spid="63" grpId="0"/>
      <p:bldP spid="512" grpId="0"/>
      <p:bldP spid="5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421865" y="96286"/>
            <a:ext cx="981941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Sequence Learning – Recurrent Neural Networks (RNN)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13" name="Google Shape;349;g1e4c91af68a_1_25">
            <a:extLst>
              <a:ext uri="{FF2B5EF4-FFF2-40B4-BE49-F238E27FC236}">
                <a16:creationId xmlns:a16="http://schemas.microsoft.com/office/drawing/2014/main" id="{04FC8999-90E2-8629-3937-B31CDAC9B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6072" y="1600319"/>
            <a:ext cx="4917678" cy="43521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For a video, encoded values are obtained by passing frames of video through a CNN </a:t>
            </a:r>
          </a:p>
          <a:p>
            <a:pPr marL="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So the features extracted from CNN are given as inputs to RNN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D08FE9C-347A-023B-923B-51125832E4C5}"/>
              </a:ext>
            </a:extLst>
          </p:cNvPr>
          <p:cNvGrpSpPr/>
          <p:nvPr/>
        </p:nvGrpSpPr>
        <p:grpSpPr>
          <a:xfrm>
            <a:off x="5566703" y="1136548"/>
            <a:ext cx="6680042" cy="3691722"/>
            <a:chOff x="5613863" y="1800685"/>
            <a:chExt cx="6590221" cy="454411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44C9118-03E5-30CA-218C-4B72C80651B8}"/>
                </a:ext>
              </a:extLst>
            </p:cNvPr>
            <p:cNvSpPr/>
            <p:nvPr/>
          </p:nvSpPr>
          <p:spPr>
            <a:xfrm>
              <a:off x="6313288" y="2532080"/>
              <a:ext cx="553880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2800" b="1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E17EE9E-81BB-0688-F828-0BBC3934B371}"/>
                </a:ext>
              </a:extLst>
            </p:cNvPr>
            <p:cNvGrpSpPr/>
            <p:nvPr/>
          </p:nvGrpSpPr>
          <p:grpSpPr>
            <a:xfrm>
              <a:off x="5613863" y="3167049"/>
              <a:ext cx="874570" cy="3167703"/>
              <a:chOff x="1404713" y="2753835"/>
              <a:chExt cx="874570" cy="316770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469DB89-4AEE-4FF7-352E-47DC8CB887D2}"/>
                  </a:ext>
                </a:extLst>
              </p:cNvPr>
              <p:cNvGrpSpPr/>
              <p:nvPr/>
            </p:nvGrpSpPr>
            <p:grpSpPr>
              <a:xfrm>
                <a:off x="1404713" y="2753835"/>
                <a:ext cx="548640" cy="3167703"/>
                <a:chOff x="7950200" y="2667000"/>
                <a:chExt cx="548640" cy="3167703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0E75273-91C1-CD34-B326-1B5CFF203568}"/>
                    </a:ext>
                  </a:extLst>
                </p:cNvPr>
                <p:cNvSpPr/>
                <p:nvPr/>
              </p:nvSpPr>
              <p:spPr>
                <a:xfrm>
                  <a:off x="7950200" y="2667000"/>
                  <a:ext cx="548640" cy="1524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C0101E09-AD56-F635-942B-AD3D148ED6CE}"/>
                    </a:ext>
                  </a:extLst>
                </p:cNvPr>
                <p:cNvCxnSpPr>
                  <a:cxnSpLocks/>
                  <a:stCxn id="48" idx="0"/>
                  <a:endCxn id="16" idx="2"/>
                </p:cNvCxnSpPr>
                <p:nvPr/>
              </p:nvCxnSpPr>
              <p:spPr>
                <a:xfrm flipV="1">
                  <a:off x="8224520" y="4191000"/>
                  <a:ext cx="1" cy="16437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C3210871-BA24-CA9D-EA32-EE4C7FF27D58}"/>
                      </a:ext>
                    </a:extLst>
                  </p:cNvPr>
                  <p:cNvSpPr txBox="1"/>
                  <p:nvPr/>
                </p:nvSpPr>
                <p:spPr>
                  <a:xfrm>
                    <a:off x="1649110" y="5020532"/>
                    <a:ext cx="63017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Gill Sans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C3210871-BA24-CA9D-EA32-EE4C7FF27D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49110" y="5020532"/>
                    <a:ext cx="630173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2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13BF1D6-22DC-33F4-F701-138E1B85C43F}"/>
                </a:ext>
              </a:extLst>
            </p:cNvPr>
            <p:cNvGrpSpPr/>
            <p:nvPr/>
          </p:nvGrpSpPr>
          <p:grpSpPr>
            <a:xfrm>
              <a:off x="7357433" y="3167049"/>
              <a:ext cx="830397" cy="3167702"/>
              <a:chOff x="1404713" y="2753835"/>
              <a:chExt cx="830397" cy="3167702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1120AFC-990D-AAF3-8CCA-5A20E2601F66}"/>
                  </a:ext>
                </a:extLst>
              </p:cNvPr>
              <p:cNvGrpSpPr/>
              <p:nvPr/>
            </p:nvGrpSpPr>
            <p:grpSpPr>
              <a:xfrm>
                <a:off x="1404713" y="2753835"/>
                <a:ext cx="548640" cy="3167702"/>
                <a:chOff x="7950200" y="2667000"/>
                <a:chExt cx="548640" cy="3167702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966FECC8-AA81-8A2D-19F4-A165BD3FD1F4}"/>
                    </a:ext>
                  </a:extLst>
                </p:cNvPr>
                <p:cNvSpPr/>
                <p:nvPr/>
              </p:nvSpPr>
              <p:spPr>
                <a:xfrm>
                  <a:off x="7950200" y="2667000"/>
                  <a:ext cx="548640" cy="1524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52B5174B-EF47-7495-8CFE-42B50A0E586F}"/>
                    </a:ext>
                  </a:extLst>
                </p:cNvPr>
                <p:cNvCxnSpPr>
                  <a:cxnSpLocks/>
                  <a:stCxn id="60" idx="0"/>
                  <a:endCxn id="31" idx="2"/>
                </p:cNvCxnSpPr>
                <p:nvPr/>
              </p:nvCxnSpPr>
              <p:spPr>
                <a:xfrm flipH="1" flipV="1">
                  <a:off x="8224520" y="4191000"/>
                  <a:ext cx="21019" cy="16437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46F0F02-6F9C-9B6D-9D50-18054DEC2A8D}"/>
                      </a:ext>
                    </a:extLst>
                  </p:cNvPr>
                  <p:cNvSpPr txBox="1"/>
                  <p:nvPr/>
                </p:nvSpPr>
                <p:spPr>
                  <a:xfrm>
                    <a:off x="1596665" y="5185646"/>
                    <a:ext cx="638445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Gill Sans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46F0F02-6F9C-9B6D-9D50-18054DEC2A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6665" y="5185646"/>
                    <a:ext cx="638445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72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393FB92-97F2-E3EF-FCC6-F44F1C423084}"/>
                </a:ext>
              </a:extLst>
            </p:cNvPr>
            <p:cNvGrpSpPr/>
            <p:nvPr/>
          </p:nvGrpSpPr>
          <p:grpSpPr>
            <a:xfrm>
              <a:off x="9137734" y="3167049"/>
              <a:ext cx="843372" cy="3167702"/>
              <a:chOff x="1404713" y="2753835"/>
              <a:chExt cx="843372" cy="3167702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1CFB4C0-3C89-C85A-6D66-813A7948FD00}"/>
                  </a:ext>
                </a:extLst>
              </p:cNvPr>
              <p:cNvGrpSpPr/>
              <p:nvPr/>
            </p:nvGrpSpPr>
            <p:grpSpPr>
              <a:xfrm>
                <a:off x="1404713" y="2753835"/>
                <a:ext cx="548640" cy="3167702"/>
                <a:chOff x="7950200" y="2667000"/>
                <a:chExt cx="548640" cy="3167702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0E73672-2DCD-9D9B-6179-59F1CE8E9CEB}"/>
                    </a:ext>
                  </a:extLst>
                </p:cNvPr>
                <p:cNvSpPr/>
                <p:nvPr/>
              </p:nvSpPr>
              <p:spPr>
                <a:xfrm>
                  <a:off x="7950200" y="2667000"/>
                  <a:ext cx="548640" cy="1524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EC56B19-EB6D-D5B8-D493-F2E12D76FF57}"/>
                    </a:ext>
                  </a:extLst>
                </p:cNvPr>
                <p:cNvCxnSpPr>
                  <a:cxnSpLocks/>
                  <a:stCxn id="61" idx="0"/>
                  <a:endCxn id="41" idx="2"/>
                </p:cNvCxnSpPr>
                <p:nvPr/>
              </p:nvCxnSpPr>
              <p:spPr>
                <a:xfrm flipV="1">
                  <a:off x="8224520" y="4191000"/>
                  <a:ext cx="0" cy="16437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CDEE71B4-1C73-498A-B4DE-B9F0E7F3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609640" y="5118991"/>
                    <a:ext cx="638445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Gill Sans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CDEE71B4-1C73-498A-B4DE-B9F0E7F3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9640" y="5118991"/>
                    <a:ext cx="638445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2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5445D77-B1A8-9BAA-6005-3F2C1B91D06F}"/>
                </a:ext>
              </a:extLst>
            </p:cNvPr>
            <p:cNvGrpSpPr/>
            <p:nvPr/>
          </p:nvGrpSpPr>
          <p:grpSpPr>
            <a:xfrm>
              <a:off x="11263156" y="1800685"/>
              <a:ext cx="940928" cy="4544118"/>
              <a:chOff x="1392938" y="1408140"/>
              <a:chExt cx="940928" cy="454411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9E33685-6ED6-8F1C-E90B-E3D55783E031}"/>
                  </a:ext>
                </a:extLst>
              </p:cNvPr>
              <p:cNvGrpSpPr/>
              <p:nvPr/>
            </p:nvGrpSpPr>
            <p:grpSpPr>
              <a:xfrm>
                <a:off x="1404713" y="1986755"/>
                <a:ext cx="548640" cy="3965503"/>
                <a:chOff x="7950200" y="1899920"/>
                <a:chExt cx="548640" cy="3965503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5BB1DD26-44D2-71C2-B7B4-C07DFE449F16}"/>
                    </a:ext>
                  </a:extLst>
                </p:cNvPr>
                <p:cNvSpPr/>
                <p:nvPr/>
              </p:nvSpPr>
              <p:spPr>
                <a:xfrm>
                  <a:off x="7950200" y="2667000"/>
                  <a:ext cx="548640" cy="1524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7E009778-940B-BB27-74F9-C8277D5B5EDC}"/>
                    </a:ext>
                  </a:extLst>
                </p:cNvPr>
                <p:cNvCxnSpPr>
                  <a:cxnSpLocks/>
                  <a:stCxn id="51" idx="0"/>
                </p:cNvCxnSpPr>
                <p:nvPr/>
              </p:nvCxnSpPr>
              <p:spPr>
                <a:xfrm flipV="1">
                  <a:off x="8224520" y="1899920"/>
                  <a:ext cx="0" cy="7670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7591BCBE-8F1F-8104-D9E1-708346D1C7AA}"/>
                    </a:ext>
                  </a:extLst>
                </p:cNvPr>
                <p:cNvCxnSpPr>
                  <a:cxnSpLocks/>
                  <a:stCxn id="62" idx="0"/>
                  <a:endCxn id="51" idx="2"/>
                </p:cNvCxnSpPr>
                <p:nvPr/>
              </p:nvCxnSpPr>
              <p:spPr>
                <a:xfrm flipV="1">
                  <a:off x="8218789" y="4190999"/>
                  <a:ext cx="5732" cy="167442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95DDE32-7925-79A6-6CF5-19670F387916}"/>
                      </a:ext>
                    </a:extLst>
                  </p:cNvPr>
                  <p:cNvSpPr txBox="1"/>
                  <p:nvPr/>
                </p:nvSpPr>
                <p:spPr>
                  <a:xfrm>
                    <a:off x="1673301" y="5139659"/>
                    <a:ext cx="660565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Gill Sans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95DDE32-7925-79A6-6CF5-19670F3879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3301" y="5139659"/>
                    <a:ext cx="660565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2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084CD6D1-5308-5C19-3FF4-0D99176F00BD}"/>
                      </a:ext>
                    </a:extLst>
                  </p:cNvPr>
                  <p:cNvSpPr txBox="1"/>
                  <p:nvPr/>
                </p:nvSpPr>
                <p:spPr>
                  <a:xfrm>
                    <a:off x="1392938" y="1408140"/>
                    <a:ext cx="483988" cy="64402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Gill Sans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084CD6D1-5308-5C19-3FF4-0D99176F00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2938" y="1408140"/>
                    <a:ext cx="483988" cy="64402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4F6FF10-5F4A-DF72-9B69-9DD049AA7100}"/>
                    </a:ext>
                  </a:extLst>
                </p:cNvPr>
                <p:cNvSpPr txBox="1"/>
                <p:nvPr/>
              </p:nvSpPr>
              <p:spPr>
                <a:xfrm>
                  <a:off x="10525347" y="3776370"/>
                  <a:ext cx="63581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…..</m:t>
                        </m:r>
                      </m:oMath>
                    </m:oMathPara>
                  </a14:m>
                  <a:endParaRPr lang="en-IN" sz="2800" b="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4F6FF10-5F4A-DF72-9B69-9DD049AA7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5347" y="3776370"/>
                  <a:ext cx="635815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6B3AFFA-7106-7A68-0B32-7949E19DAE27}"/>
                </a:ext>
              </a:extLst>
            </p:cNvPr>
            <p:cNvCxnSpPr>
              <a:stCxn id="16" idx="3"/>
              <a:endCxn id="31" idx="1"/>
            </p:cNvCxnSpPr>
            <p:nvPr/>
          </p:nvCxnSpPr>
          <p:spPr>
            <a:xfrm>
              <a:off x="6162503" y="3929049"/>
              <a:ext cx="119493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616E346-3BEA-596D-1F05-8B11F4966A1E}"/>
                </a:ext>
              </a:extLst>
            </p:cNvPr>
            <p:cNvCxnSpPr>
              <a:cxnSpLocks/>
              <a:stCxn id="31" idx="3"/>
              <a:endCxn id="41" idx="1"/>
            </p:cNvCxnSpPr>
            <p:nvPr/>
          </p:nvCxnSpPr>
          <p:spPr>
            <a:xfrm>
              <a:off x="7906073" y="3929049"/>
              <a:ext cx="1231661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9DFF592-9D9D-6A3D-08D9-1B5973C7A7D8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9686374" y="3929049"/>
              <a:ext cx="91192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C2E081F0-139A-F3A1-E65C-A17F1295E8C6}"/>
                </a:ext>
              </a:extLst>
            </p:cNvPr>
            <p:cNvSpPr txBox="1"/>
            <p:nvPr/>
          </p:nvSpPr>
          <p:spPr>
            <a:xfrm>
              <a:off x="5613863" y="3909746"/>
              <a:ext cx="21904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Recurrent connection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FB38E73-C0A5-013E-29FB-AADC4C6AB6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5120" y="5904288"/>
            <a:ext cx="1240184" cy="718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248522-E772-9906-CB56-252CA543D9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252" y="5883375"/>
            <a:ext cx="1240184" cy="7183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6E1F52-A8B5-97FC-F7F4-01C8C7E2CB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5437" y="5924104"/>
            <a:ext cx="1240184" cy="7183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3CB553-7DDE-38F8-1B8F-B2E60DE34B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54330" y="5890521"/>
            <a:ext cx="1240184" cy="718385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6364255-9AED-6376-EA11-AECB0030F683}"/>
              </a:ext>
            </a:extLst>
          </p:cNvPr>
          <p:cNvSpPr/>
          <p:nvPr/>
        </p:nvSpPr>
        <p:spPr>
          <a:xfrm>
            <a:off x="5224668" y="4820104"/>
            <a:ext cx="1240184" cy="71838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CNN</a:t>
            </a:r>
            <a:endParaRPr lang="en-US" b="1" dirty="0">
              <a:solidFill>
                <a:srgbClr val="002060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ACEB748-F674-A180-197E-2632466F23ED}"/>
              </a:ext>
            </a:extLst>
          </p:cNvPr>
          <p:cNvCxnSpPr>
            <a:stCxn id="7" idx="0"/>
            <a:endCxn id="48" idx="2"/>
          </p:cNvCxnSpPr>
          <p:nvPr/>
        </p:nvCxnSpPr>
        <p:spPr>
          <a:xfrm flipH="1" flipV="1">
            <a:off x="5844760" y="5538489"/>
            <a:ext cx="452" cy="365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39D0F9A0-A957-8B3C-3130-B07B944598DD}"/>
              </a:ext>
            </a:extLst>
          </p:cNvPr>
          <p:cNvSpPr/>
          <p:nvPr/>
        </p:nvSpPr>
        <p:spPr>
          <a:xfrm>
            <a:off x="7013308" y="4820104"/>
            <a:ext cx="1240184" cy="71838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CNN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A938E9-2C96-6DD4-5540-5569D057A4BE}"/>
              </a:ext>
            </a:extLst>
          </p:cNvPr>
          <p:cNvSpPr/>
          <p:nvPr/>
        </p:nvSpPr>
        <p:spPr>
          <a:xfrm>
            <a:off x="8796568" y="4820104"/>
            <a:ext cx="1240184" cy="71838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CNN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8923A1C-5B77-4A51-8432-F4A8238B8303}"/>
              </a:ext>
            </a:extLst>
          </p:cNvPr>
          <p:cNvSpPr/>
          <p:nvPr/>
        </p:nvSpPr>
        <p:spPr>
          <a:xfrm>
            <a:off x="10957084" y="4828270"/>
            <a:ext cx="1240184" cy="71838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CNN</a:t>
            </a:r>
            <a:endParaRPr lang="en-US" b="1" dirty="0">
              <a:solidFill>
                <a:srgbClr val="002060"/>
              </a:solidFill>
            </a:endParaRPr>
          </a:p>
        </p:txBody>
      </p:sp>
      <p:cxnSp>
        <p:nvCxnSpPr>
          <p:cNvPr id="524" name="Straight Arrow Connector 523">
            <a:extLst>
              <a:ext uri="{FF2B5EF4-FFF2-40B4-BE49-F238E27FC236}">
                <a16:creationId xmlns:a16="http://schemas.microsoft.com/office/drawing/2014/main" id="{504AFAF5-2788-F755-D559-9D9DB9B21FB0}"/>
              </a:ext>
            </a:extLst>
          </p:cNvPr>
          <p:cNvCxnSpPr>
            <a:cxnSpLocks/>
            <a:stCxn id="9" idx="0"/>
            <a:endCxn id="60" idx="2"/>
          </p:cNvCxnSpPr>
          <p:nvPr/>
        </p:nvCxnSpPr>
        <p:spPr>
          <a:xfrm flipH="1" flipV="1">
            <a:off x="7633400" y="5538489"/>
            <a:ext cx="14944" cy="344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0" name="Straight Arrow Connector 529">
            <a:extLst>
              <a:ext uri="{FF2B5EF4-FFF2-40B4-BE49-F238E27FC236}">
                <a16:creationId xmlns:a16="http://schemas.microsoft.com/office/drawing/2014/main" id="{3A2FA1AA-966C-85F6-8F97-F7410FF32B30}"/>
              </a:ext>
            </a:extLst>
          </p:cNvPr>
          <p:cNvCxnSpPr>
            <a:cxnSpLocks/>
            <a:stCxn id="10" idx="0"/>
            <a:endCxn id="61" idx="2"/>
          </p:cNvCxnSpPr>
          <p:nvPr/>
        </p:nvCxnSpPr>
        <p:spPr>
          <a:xfrm flipH="1" flipV="1">
            <a:off x="9416660" y="5538489"/>
            <a:ext cx="8869" cy="38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4" name="Straight Arrow Connector 533">
            <a:extLst>
              <a:ext uri="{FF2B5EF4-FFF2-40B4-BE49-F238E27FC236}">
                <a16:creationId xmlns:a16="http://schemas.microsoft.com/office/drawing/2014/main" id="{7F481508-016E-B041-BA83-ABD1D909238D}"/>
              </a:ext>
            </a:extLst>
          </p:cNvPr>
          <p:cNvCxnSpPr>
            <a:cxnSpLocks/>
            <a:stCxn id="13" idx="0"/>
            <a:endCxn id="62" idx="2"/>
          </p:cNvCxnSpPr>
          <p:nvPr/>
        </p:nvCxnSpPr>
        <p:spPr>
          <a:xfrm flipV="1">
            <a:off x="11574422" y="5546655"/>
            <a:ext cx="2754" cy="343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57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60" grpId="0" animBg="1"/>
      <p:bldP spid="61" grpId="0" animBg="1"/>
      <p:bldP spid="6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399913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0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 on Videos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367448" y="1054805"/>
            <a:ext cx="7204566" cy="540328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Attention Mechanism over Sequence Learning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Sequence learning is more effective when used together with attention mechanism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Motivation for Attention Mechanism:</a:t>
            </a:r>
          </a:p>
          <a:p>
            <a:pPr marL="1428750" lvl="2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Consider the use case of machine translation</a:t>
            </a:r>
          </a:p>
          <a:p>
            <a:pPr marL="1428750" lvl="2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Encoder reads the sentence once and encodes it</a:t>
            </a:r>
          </a:p>
          <a:p>
            <a:pPr marL="1428750" lvl="2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Decoder uses this encoded information to produce a sequence of translated words</a:t>
            </a:r>
          </a:p>
          <a:p>
            <a:pPr marL="1428750" lvl="2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However, it would be helpful to focus on </a:t>
            </a:r>
            <a:r>
              <a:rPr lang="en-IN" sz="2400" dirty="0" err="1">
                <a:solidFill>
                  <a:schemeClr val="tx1"/>
                </a:solidFill>
                <a:latin typeface="Gill Sans" panose="020B0604020202020204" charset="0"/>
              </a:rPr>
              <a:t>on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 different words while producing output sequence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FB313C-C65B-A086-5865-96A7F8791265}"/>
              </a:ext>
            </a:extLst>
          </p:cNvPr>
          <p:cNvSpPr txBox="1"/>
          <p:nvPr/>
        </p:nvSpPr>
        <p:spPr>
          <a:xfrm>
            <a:off x="8244149" y="2088495"/>
            <a:ext cx="88471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What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5792C-0B9B-879D-A37F-E9DABA9C35B1}"/>
              </a:ext>
            </a:extLst>
          </p:cNvPr>
          <p:cNvSpPr txBox="1"/>
          <p:nvPr/>
        </p:nvSpPr>
        <p:spPr>
          <a:xfrm>
            <a:off x="11127459" y="2967334"/>
            <a:ext cx="697093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chemeClr val="tx1"/>
                </a:solidFill>
                <a:latin typeface="Gill Sans" panose="020B0604020202020204" charset="0"/>
              </a:rPr>
              <a:t>hai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FE8DA-44D6-DC58-AE7E-C09806C513EB}"/>
              </a:ext>
            </a:extLst>
          </p:cNvPr>
          <p:cNvSpPr txBox="1"/>
          <p:nvPr/>
        </p:nvSpPr>
        <p:spPr>
          <a:xfrm>
            <a:off x="10952134" y="2088495"/>
            <a:ext cx="87241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name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EB7E9-D208-F485-A9D1-15A013D70851}"/>
              </a:ext>
            </a:extLst>
          </p:cNvPr>
          <p:cNvSpPr txBox="1"/>
          <p:nvPr/>
        </p:nvSpPr>
        <p:spPr>
          <a:xfrm>
            <a:off x="10319607" y="2967335"/>
            <a:ext cx="632527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chemeClr val="tx1"/>
                </a:solidFill>
                <a:latin typeface="Gill Sans" panose="020B0604020202020204" charset="0"/>
              </a:rPr>
              <a:t>kya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2B2DD-31D8-B4D1-B3FA-C10144321EC3}"/>
              </a:ext>
            </a:extLst>
          </p:cNvPr>
          <p:cNvSpPr txBox="1"/>
          <p:nvPr/>
        </p:nvSpPr>
        <p:spPr>
          <a:xfrm>
            <a:off x="9241444" y="2967335"/>
            <a:ext cx="92113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naam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151CB-887E-CF0F-AEAA-19A88AC7B123}"/>
              </a:ext>
            </a:extLst>
          </p:cNvPr>
          <p:cNvSpPr txBox="1"/>
          <p:nvPr/>
        </p:nvSpPr>
        <p:spPr>
          <a:xfrm>
            <a:off x="8112867" y="2967335"/>
            <a:ext cx="1016001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chemeClr val="tx1"/>
                </a:solidFill>
                <a:latin typeface="Gill Sans" panose="020B0604020202020204" charset="0"/>
              </a:rPr>
              <a:t>Aapka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59683-0D61-1C1F-DAFC-42291F16756F}"/>
              </a:ext>
            </a:extLst>
          </p:cNvPr>
          <p:cNvSpPr txBox="1"/>
          <p:nvPr/>
        </p:nvSpPr>
        <p:spPr>
          <a:xfrm>
            <a:off x="10024724" y="2088495"/>
            <a:ext cx="77038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your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71C3E-4F66-9C9C-26D7-8B4132214674}"/>
              </a:ext>
            </a:extLst>
          </p:cNvPr>
          <p:cNvSpPr txBox="1"/>
          <p:nvPr/>
        </p:nvSpPr>
        <p:spPr>
          <a:xfrm>
            <a:off x="9241444" y="2088495"/>
            <a:ext cx="517343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is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38055-30ED-BBCF-0EC2-9A3F29A65276}"/>
              </a:ext>
            </a:extLst>
          </p:cNvPr>
          <p:cNvSpPr txBox="1"/>
          <p:nvPr/>
        </p:nvSpPr>
        <p:spPr>
          <a:xfrm>
            <a:off x="7808388" y="4705228"/>
            <a:ext cx="42203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Attention mechanism enables system to focus on parts of encoded information while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992C53-8BC4-42BC-77D8-3A5F85AFF5B1}"/>
              </a:ext>
            </a:extLst>
          </p:cNvPr>
          <p:cNvSpPr txBox="1"/>
          <p:nvPr/>
        </p:nvSpPr>
        <p:spPr>
          <a:xfrm>
            <a:off x="8064926" y="1524933"/>
            <a:ext cx="3707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sequence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31AB2-170D-802E-2245-03DF02C22FC4}"/>
              </a:ext>
            </a:extLst>
          </p:cNvPr>
          <p:cNvSpPr txBox="1"/>
          <p:nvPr/>
        </p:nvSpPr>
        <p:spPr>
          <a:xfrm>
            <a:off x="8064925" y="3525613"/>
            <a:ext cx="3707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sequence</a:t>
            </a:r>
          </a:p>
        </p:txBody>
      </p:sp>
    </p:spTree>
    <p:extLst>
      <p:ext uri="{BB962C8B-B14F-4D97-AF65-F5344CB8AC3E}">
        <p14:creationId xmlns:p14="http://schemas.microsoft.com/office/powerpoint/2010/main" val="106026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399913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0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 on Videos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838200" y="1416675"/>
            <a:ext cx="10515600" cy="47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eriod" startAt="2"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Sequences based Approaches: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Recurrent Neural Networks can capture temporal dependences by taking a sequences of frames as input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	Challenges:</a:t>
            </a:r>
          </a:p>
          <a:p>
            <a:pPr lvl="2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Learning is difficult due to high computation requirement </a:t>
            </a:r>
          </a:p>
          <a:p>
            <a:pPr lvl="2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Learning is very time consuming</a:t>
            </a:r>
          </a:p>
        </p:txBody>
      </p:sp>
    </p:spTree>
    <p:extLst>
      <p:ext uri="{BB962C8B-B14F-4D97-AF65-F5344CB8AC3E}">
        <p14:creationId xmlns:p14="http://schemas.microsoft.com/office/powerpoint/2010/main" val="1208193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399913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0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 on Videos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620485" y="1107759"/>
            <a:ext cx="11136086" cy="47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eriod" startAt="3"/>
            </a:pPr>
            <a:r>
              <a:rPr lang="en-IN" sz="2800" dirty="0">
                <a:solidFill>
                  <a:srgbClr val="0070C0"/>
                </a:solidFill>
                <a:latin typeface="Gill Sans" panose="020B0604020202020204" charset="0"/>
              </a:rPr>
              <a:t>3D Convolution Neural Networks: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3D CNNs consider both spatial and temporal information in videos simultaneously while learning</a:t>
            </a:r>
          </a:p>
          <a:p>
            <a:pPr marL="971550" lvl="1" indent="-514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Operate on </a:t>
            </a:r>
            <a:r>
              <a:rPr lang="en-IN" sz="2600" dirty="0" err="1">
                <a:solidFill>
                  <a:schemeClr val="tx1"/>
                </a:solidFill>
                <a:latin typeface="Gill Sans" panose="020B0604020202020204" charset="0"/>
              </a:rPr>
              <a:t>spacio</a:t>
            </a: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-temporal cubes of data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65BDCE-8CC1-9AD4-090B-EDC8E021B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664" y="3030033"/>
            <a:ext cx="10760653" cy="333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9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Transfer Learning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26" name="Google Shape;526;p31"/>
          <p:cNvSpPr txBox="1">
            <a:spLocks noGrp="1"/>
          </p:cNvSpPr>
          <p:nvPr>
            <p:ph type="body" idx="1"/>
          </p:nvPr>
        </p:nvSpPr>
        <p:spPr>
          <a:xfrm>
            <a:off x="424542" y="1449207"/>
            <a:ext cx="5823858" cy="444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US" sz="2600" b="1" dirty="0">
                <a:solidFill>
                  <a:schemeClr val="tx1"/>
                </a:solidFill>
                <a:latin typeface="Gill Sans" panose="020B0604020202020204" charset="0"/>
              </a:rPr>
              <a:t>Transfer learning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 </a:t>
            </a: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involves re-using a trained model </a:t>
            </a:r>
          </a:p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Model is then tuned to the task at hand</a:t>
            </a:r>
          </a:p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Transfer learning can also be used when training models on video data</a:t>
            </a:r>
          </a:p>
        </p:txBody>
      </p:sp>
      <p:pic>
        <p:nvPicPr>
          <p:cNvPr id="527" name="Google Shape;527;p31" descr="Image result for transfer learning CN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1915886"/>
            <a:ext cx="5823858" cy="3766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0123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ctrTitle"/>
          </p:nvPr>
        </p:nvSpPr>
        <p:spPr>
          <a:xfrm>
            <a:off x="2304999" y="282717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chemeClr val="dk1"/>
              </a:buClr>
              <a:buSzPts val="1100"/>
              <a:buFont typeface="Arial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Approaches Used for Cricket Shot Prediction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62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 txBox="1">
            <a:spLocks noGrp="1"/>
          </p:cNvSpPr>
          <p:nvPr>
            <p:ph type="title"/>
          </p:nvPr>
        </p:nvSpPr>
        <p:spPr>
          <a:xfrm>
            <a:off x="261260" y="399844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Approaches Used for Cricket Shot Prediction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26" name="Google Shape;526;p31"/>
          <p:cNvSpPr txBox="1">
            <a:spLocks noGrp="1"/>
          </p:cNvSpPr>
          <p:nvPr>
            <p:ph type="body" idx="1"/>
          </p:nvPr>
        </p:nvSpPr>
        <p:spPr>
          <a:xfrm>
            <a:off x="1121228" y="1590721"/>
            <a:ext cx="9949544" cy="444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260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To reduce computation load, only 10 frames from each video were used for training the classifiers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lang="en-IN" sz="26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8260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+mj-lt"/>
              <a:buAutoNum type="arabicParenR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Sequence Learning Based Approach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2D CNN + LSTM Network build from scratch 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CNN to extract spatial features from the frames of the video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LSTM to extract temporal features from the video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82600" indent="-514350">
              <a:lnSpc>
                <a:spcPct val="100000"/>
              </a:lnSpc>
              <a:spcBef>
                <a:spcPts val="0"/>
              </a:spcBef>
              <a:buSzPts val="1900"/>
              <a:buFont typeface="+mj-lt"/>
              <a:buAutoNum type="arabicParenR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Transfer Learning on Pre-trained model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VGG16 network (CNN+RNN) is used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Model is pre-trained to recognise actions or activities in videos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Some layers of this network are tuned using the cricket shot videos</a:t>
            </a:r>
          </a:p>
          <a:p>
            <a:pPr marL="939800" lvl="1" indent="-514350">
              <a:lnSpc>
                <a:spcPct val="100000"/>
              </a:lnSpc>
              <a:spcBef>
                <a:spcPts val="0"/>
              </a:spcBef>
              <a:buSzPts val="1900"/>
              <a:buFont typeface="Wingdings" panose="05000000000000000000" pitchFamily="2" charset="2"/>
              <a:buChar char="Ø"/>
            </a:pPr>
            <a:endParaRPr lang="en-IN" sz="22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12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4: Test Classifier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132A350-D924-7420-F3AF-D5907E407055}"/>
              </a:ext>
            </a:extLst>
          </p:cNvPr>
          <p:cNvGraphicFramePr/>
          <p:nvPr/>
        </p:nvGraphicFramePr>
        <p:xfrm>
          <a:off x="649515" y="1121230"/>
          <a:ext cx="10519228" cy="5621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8618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431128cdc_0_643"/>
          <p:cNvSpPr txBox="1">
            <a:spLocks noGrp="1"/>
          </p:cNvSpPr>
          <p:nvPr>
            <p:ph type="title"/>
          </p:nvPr>
        </p:nvSpPr>
        <p:spPr>
          <a:xfrm>
            <a:off x="261250" y="164500"/>
            <a:ext cx="10515600" cy="830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   Confusion matrix and Accuracy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88" name="Google Shape;288;g27431128cdc_0_643"/>
          <p:cNvSpPr txBox="1">
            <a:spLocks noGrp="1"/>
          </p:cNvSpPr>
          <p:nvPr>
            <p:ph type="body" idx="1"/>
          </p:nvPr>
        </p:nvSpPr>
        <p:spPr>
          <a:xfrm>
            <a:off x="838200" y="1187326"/>
            <a:ext cx="10515600" cy="130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A table or a matrix with different combinations of predicted and actual values for different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U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sed to track the number of correctly and wrongly predicted samples by the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graphicFrame>
        <p:nvGraphicFramePr>
          <p:cNvPr id="289" name="Google Shape;289;g27431128cdc_0_643"/>
          <p:cNvGraphicFramePr/>
          <p:nvPr/>
        </p:nvGraphicFramePr>
        <p:xfrm>
          <a:off x="3004457" y="3015343"/>
          <a:ext cx="5992332" cy="1978704"/>
        </p:xfrm>
        <a:graphic>
          <a:graphicData uri="http://schemas.openxmlformats.org/drawingml/2006/table">
            <a:tbl>
              <a:tblPr>
                <a:noFill/>
                <a:tableStyleId>{A2412D91-092D-44FF-A22B-1379C6198B58}</a:tableStyleId>
              </a:tblPr>
              <a:tblGrid>
                <a:gridCol w="199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Predicted Class 1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Predicted Class 2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Actual Class 1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Incorrectly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Actual Class 2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117E0F-7850-797B-49FB-F65B4EC58512}"/>
                  </a:ext>
                </a:extLst>
              </p:cNvPr>
              <p:cNvSpPr txBox="1"/>
              <p:nvPr/>
            </p:nvSpPr>
            <p:spPr>
              <a:xfrm>
                <a:off x="2612571" y="5521264"/>
                <a:ext cx="6966857" cy="935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SzPts val="224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𝐶𝑜𝑟𝑟𝑒𝑐𝑡𝑙𝑦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𝐶𝑙𝑎𝑠𝑠𝑖𝑓𝑖𝑒𝑑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𝐼𝑚𝑎𝑔𝑒𝑠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𝐼𝑚𝑎𝑔𝑒𝑠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Gill Sans" panose="020B060402020202020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117E0F-7850-797B-49FB-F65B4EC58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5521264"/>
                <a:ext cx="6966857" cy="935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101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e4c91af68a_1_49"/>
          <p:cNvSpPr txBox="1">
            <a:spLocks noGrp="1"/>
          </p:cNvSpPr>
          <p:nvPr>
            <p:ph type="title"/>
          </p:nvPr>
        </p:nvSpPr>
        <p:spPr>
          <a:xfrm>
            <a:off x="261250" y="222249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Confusion Matrix for 2D CNN+LSTM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4E587-5D93-63AC-C5C8-4C9D72489ABB}"/>
              </a:ext>
            </a:extLst>
          </p:cNvPr>
          <p:cNvSpPr txBox="1"/>
          <p:nvPr/>
        </p:nvSpPr>
        <p:spPr>
          <a:xfrm>
            <a:off x="9710058" y="3156857"/>
            <a:ext cx="198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Gill Sans" panose="020B0604020202020204" charset="0"/>
              </a:rPr>
              <a:t>On test set of 378 videos</a:t>
            </a:r>
            <a:endParaRPr lang="en-US" sz="2200" dirty="0">
              <a:latin typeface="Gill Sans" panose="020B0604020202020204" charset="0"/>
            </a:endParaRPr>
          </a:p>
        </p:txBody>
      </p:sp>
      <p:pic>
        <p:nvPicPr>
          <p:cNvPr id="3" name="Google Shape;314;g25d67e663e2_1_13">
            <a:extLst>
              <a:ext uri="{FF2B5EF4-FFF2-40B4-BE49-F238E27FC236}">
                <a16:creationId xmlns:a16="http://schemas.microsoft.com/office/drawing/2014/main" id="{A511FC35-3C4E-6CD3-A18D-BC48AF814F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50" y="1203923"/>
            <a:ext cx="9381224" cy="54447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8617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e4c91af68a_1_63"/>
          <p:cNvSpPr txBox="1">
            <a:spLocks noGrp="1"/>
          </p:cNvSpPr>
          <p:nvPr>
            <p:ph type="title"/>
          </p:nvPr>
        </p:nvSpPr>
        <p:spPr>
          <a:xfrm>
            <a:off x="261250" y="139151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     Videos Correctly Classified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2" name="Google Shape;332;g25d67e663e2_1_28">
            <a:extLst>
              <a:ext uri="{FF2B5EF4-FFF2-40B4-BE49-F238E27FC236}">
                <a16:creationId xmlns:a16="http://schemas.microsoft.com/office/drawing/2014/main" id="{99BE0128-2186-0AC5-255E-05C9FACE363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75" y="1208400"/>
            <a:ext cx="5866799" cy="26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33;g25d67e663e2_1_28">
            <a:extLst>
              <a:ext uri="{FF2B5EF4-FFF2-40B4-BE49-F238E27FC236}">
                <a16:creationId xmlns:a16="http://schemas.microsoft.com/office/drawing/2014/main" id="{52C8A0FE-B1A8-EDAF-F263-8E27BC6099B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250" y="1208404"/>
            <a:ext cx="5343199" cy="247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34;g25d67e663e2_1_28">
            <a:extLst>
              <a:ext uri="{FF2B5EF4-FFF2-40B4-BE49-F238E27FC236}">
                <a16:creationId xmlns:a16="http://schemas.microsoft.com/office/drawing/2014/main" id="{CA18311F-0309-2000-619C-631E4C507F0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675" y="3713150"/>
            <a:ext cx="5866799" cy="279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35;g25d67e663e2_1_28">
            <a:extLst>
              <a:ext uri="{FF2B5EF4-FFF2-40B4-BE49-F238E27FC236}">
                <a16:creationId xmlns:a16="http://schemas.microsoft.com/office/drawing/2014/main" id="{1A39AC0A-5C0B-0092-47E8-23526D2CA4F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0100" y="3769875"/>
            <a:ext cx="5489424" cy="2683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9466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313336749c_0_0"/>
          <p:cNvSpPr txBox="1">
            <a:spLocks noGrp="1"/>
          </p:cNvSpPr>
          <p:nvPr>
            <p:ph type="title"/>
          </p:nvPr>
        </p:nvSpPr>
        <p:spPr>
          <a:xfrm>
            <a:off x="261250" y="249549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   Videos Incorrectly Classified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2" name="Google Shape;321;g25d67e663e2_1_21">
            <a:extLst>
              <a:ext uri="{FF2B5EF4-FFF2-40B4-BE49-F238E27FC236}">
                <a16:creationId xmlns:a16="http://schemas.microsoft.com/office/drawing/2014/main" id="{2D337582-47A4-E27C-811E-576EF890078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475" y="1137675"/>
            <a:ext cx="5613874" cy="279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22;g25d67e663e2_1_21">
            <a:extLst>
              <a:ext uri="{FF2B5EF4-FFF2-40B4-BE49-F238E27FC236}">
                <a16:creationId xmlns:a16="http://schemas.microsoft.com/office/drawing/2014/main" id="{D07D45DB-555F-421F-5711-E7335838F75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0625" y="1054950"/>
            <a:ext cx="5343199" cy="279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23;g25d67e663e2_1_21">
            <a:extLst>
              <a:ext uri="{FF2B5EF4-FFF2-40B4-BE49-F238E27FC236}">
                <a16:creationId xmlns:a16="http://schemas.microsoft.com/office/drawing/2014/main" id="{45C30214-EBB4-0CB8-7255-FC898723B1B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-2051" r="-512"/>
          <a:stretch/>
        </p:blipFill>
        <p:spPr>
          <a:xfrm>
            <a:off x="595425" y="3936300"/>
            <a:ext cx="5613874" cy="25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24;g25d67e663e2_1_21">
            <a:extLst>
              <a:ext uri="{FF2B5EF4-FFF2-40B4-BE49-F238E27FC236}">
                <a16:creationId xmlns:a16="http://schemas.microsoft.com/office/drawing/2014/main" id="{35B9291B-0548-D72B-6EB6-77D00A65C84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50625" y="4028837"/>
            <a:ext cx="5343199" cy="2387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546411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e4c91af68a_1_49"/>
          <p:cNvSpPr txBox="1">
            <a:spLocks noGrp="1"/>
          </p:cNvSpPr>
          <p:nvPr>
            <p:ph type="title"/>
          </p:nvPr>
        </p:nvSpPr>
        <p:spPr>
          <a:xfrm>
            <a:off x="-1" y="283803"/>
            <a:ext cx="1114697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   Confusion Matrix for VGG16 (Transfer Learning)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A2E68-F798-68C2-1E6D-0AE61A52EAB3}"/>
              </a:ext>
            </a:extLst>
          </p:cNvPr>
          <p:cNvSpPr txBox="1"/>
          <p:nvPr/>
        </p:nvSpPr>
        <p:spPr>
          <a:xfrm>
            <a:off x="10156370" y="3178629"/>
            <a:ext cx="198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Gill Sans" panose="020B0604020202020204" charset="0"/>
              </a:rPr>
              <a:t>On test set of 378 videos</a:t>
            </a:r>
            <a:endParaRPr lang="en-US" sz="2200" dirty="0">
              <a:latin typeface="Gill Sans" panose="020B0604020202020204" charset="0"/>
            </a:endParaRPr>
          </a:p>
        </p:txBody>
      </p:sp>
      <p:pic>
        <p:nvPicPr>
          <p:cNvPr id="5" name="Google Shape;482;g1e4c91af68a_1_76">
            <a:extLst>
              <a:ext uri="{FF2B5EF4-FFF2-40B4-BE49-F238E27FC236}">
                <a16:creationId xmlns:a16="http://schemas.microsoft.com/office/drawing/2014/main" id="{B8CB9836-EEB8-DC1C-C29B-4A5B03CCBB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372" y="991649"/>
            <a:ext cx="9905998" cy="55825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2900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e4c91af68a_1_82"/>
          <p:cNvSpPr txBox="1">
            <a:spLocks noGrp="1"/>
          </p:cNvSpPr>
          <p:nvPr>
            <p:ph type="title"/>
          </p:nvPr>
        </p:nvSpPr>
        <p:spPr>
          <a:xfrm>
            <a:off x="261250" y="90975"/>
            <a:ext cx="10515600" cy="88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Videos Correctly Classified</a:t>
            </a:r>
            <a:endParaRPr dirty="0"/>
          </a:p>
        </p:txBody>
      </p:sp>
      <p:pic>
        <p:nvPicPr>
          <p:cNvPr id="2" name="Google Shape;489;g1e4c91af68a_1_82">
            <a:extLst>
              <a:ext uri="{FF2B5EF4-FFF2-40B4-BE49-F238E27FC236}">
                <a16:creationId xmlns:a16="http://schemas.microsoft.com/office/drawing/2014/main" id="{C1547F63-0E15-C7F6-1D48-67DCB5F690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700" y="979875"/>
            <a:ext cx="11067524" cy="25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490;g1e4c91af68a_1_82">
            <a:extLst>
              <a:ext uri="{FF2B5EF4-FFF2-40B4-BE49-F238E27FC236}">
                <a16:creationId xmlns:a16="http://schemas.microsoft.com/office/drawing/2014/main" id="{B9BBA1F7-21B1-CD85-21CD-99271B2511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400" y="3500925"/>
            <a:ext cx="11155199" cy="2964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225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3135507d24_0_4"/>
          <p:cNvSpPr txBox="1">
            <a:spLocks noGrp="1"/>
          </p:cNvSpPr>
          <p:nvPr>
            <p:ph type="title"/>
          </p:nvPr>
        </p:nvSpPr>
        <p:spPr>
          <a:xfrm>
            <a:off x="261250" y="90976"/>
            <a:ext cx="10515600" cy="119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 Videos Incorrectly Classified</a:t>
            </a:r>
            <a:endParaRPr sz="4300" dirty="0"/>
          </a:p>
        </p:txBody>
      </p:sp>
      <p:pic>
        <p:nvPicPr>
          <p:cNvPr id="2" name="Google Shape;523;g2313336749c_0_0">
            <a:extLst>
              <a:ext uri="{FF2B5EF4-FFF2-40B4-BE49-F238E27FC236}">
                <a16:creationId xmlns:a16="http://schemas.microsoft.com/office/drawing/2014/main" id="{A6269C1A-0BF5-D0BF-96BE-BB3C50521B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50001"/>
          <a:stretch/>
        </p:blipFill>
        <p:spPr>
          <a:xfrm>
            <a:off x="3146462" y="1080175"/>
            <a:ext cx="5770424" cy="26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24;g2313336749c_0_0">
            <a:extLst>
              <a:ext uri="{FF2B5EF4-FFF2-40B4-BE49-F238E27FC236}">
                <a16:creationId xmlns:a16="http://schemas.microsoft.com/office/drawing/2014/main" id="{F309E567-B01B-CB28-9170-AEB2996BD8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250" y="3743950"/>
            <a:ext cx="5770424" cy="29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525;g2313336749c_0_0">
            <a:extLst>
              <a:ext uri="{FF2B5EF4-FFF2-40B4-BE49-F238E27FC236}">
                <a16:creationId xmlns:a16="http://schemas.microsoft.com/office/drawing/2014/main" id="{E05DCE1B-8A10-4EF6-3C76-3CF6145DDB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4075" y="3726425"/>
            <a:ext cx="5618150" cy="2979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2787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4c91af68a_1_37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Comparison of Accuracy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409" name="Google Shape;409;g1e4c91af68a_1_37"/>
          <p:cNvGraphicFramePr/>
          <p:nvPr>
            <p:extLst>
              <p:ext uri="{D42A27DB-BD31-4B8C-83A1-F6EECF244321}">
                <p14:modId xmlns:p14="http://schemas.microsoft.com/office/powerpoint/2010/main" val="1298706387"/>
              </p:ext>
            </p:extLst>
          </p:nvPr>
        </p:nvGraphicFramePr>
        <p:xfrm>
          <a:off x="952500" y="1586425"/>
          <a:ext cx="9598775" cy="3095700"/>
        </p:xfrm>
        <a:graphic>
          <a:graphicData uri="http://schemas.openxmlformats.org/drawingml/2006/table">
            <a:tbl>
              <a:tblPr>
                <a:noFill/>
                <a:tableStyleId>{59E48A7B-9E87-4D62-B251-134843940CCE}</a:tableStyleId>
              </a:tblPr>
              <a:tblGrid>
                <a:gridCol w="49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8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0070C0"/>
                          </a:solidFill>
                          <a:latin typeface="Gill Sans" panose="020B0604020202020204" charset="0"/>
                        </a:rPr>
                        <a:t>Model</a:t>
                      </a:r>
                      <a:endParaRPr sz="2400" b="1">
                        <a:solidFill>
                          <a:srgbClr val="0070C0"/>
                        </a:solidFill>
                        <a:latin typeface="Gill Sans" panose="020B0604020202020204" charset="0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latin typeface="Gill Sans" panose="020B0604020202020204" charset="0"/>
                        </a:rPr>
                        <a:t>Test Accuracy</a:t>
                      </a:r>
                      <a:endParaRPr sz="2400" b="1" dirty="0">
                        <a:solidFill>
                          <a:srgbClr val="0070C0"/>
                        </a:solidFill>
                        <a:latin typeface="Gill Sans" panose="020B0604020202020204" charset="0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Gill Sans" panose="020B0604020202020204" charset="0"/>
                        </a:rPr>
                        <a:t>2D CNN + LSTM (From Scratch)</a:t>
                      </a:r>
                      <a:endParaRPr sz="24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Gill Sans" panose="020B0604020202020204" charset="0"/>
                        </a:rPr>
                        <a:t>        56.4 %</a:t>
                      </a:r>
                      <a:endParaRPr sz="24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Gill Sans" panose="020B0604020202020204" charset="0"/>
                        </a:rPr>
                        <a:t>VGG16 (Transfer Learning)</a:t>
                      </a:r>
                      <a:endParaRPr sz="24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Gill Sans" panose="020B0604020202020204" charset="0"/>
                        </a:rPr>
                        <a:t>        89.07 %</a:t>
                      </a:r>
                      <a:endParaRPr sz="24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806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ctrTitle"/>
          </p:nvPr>
        </p:nvSpPr>
        <p:spPr>
          <a:xfrm>
            <a:off x="2304999" y="282717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dk1"/>
              </a:buClr>
              <a:buSzPts val="1100"/>
              <a:buFont typeface="Arial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Model Deployment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3135507d24_0_18"/>
          <p:cNvSpPr txBox="1">
            <a:spLocks noGrp="1"/>
          </p:cNvSpPr>
          <p:nvPr>
            <p:ph type="title"/>
          </p:nvPr>
        </p:nvSpPr>
        <p:spPr>
          <a:xfrm>
            <a:off x="729336" y="0"/>
            <a:ext cx="10515600" cy="1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Model Deployment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Google Shape;288;g27431128cdc_0_643">
            <a:extLst>
              <a:ext uri="{FF2B5EF4-FFF2-40B4-BE49-F238E27FC236}">
                <a16:creationId xmlns:a16="http://schemas.microsoft.com/office/drawing/2014/main" id="{9796D61D-0CFA-0738-2856-1E1F5260D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87326"/>
            <a:ext cx="10515600" cy="55061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Simple UI is created to deploy the model</a:t>
            </a:r>
          </a:p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Videos of cricket shots can be uploaded to generate predictions</a:t>
            </a:r>
            <a:endParaRPr lang="en-US"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pic>
        <p:nvPicPr>
          <p:cNvPr id="3" name="Google Shape;579;g239eac1405b_0_40">
            <a:extLst>
              <a:ext uri="{FF2B5EF4-FFF2-40B4-BE49-F238E27FC236}">
                <a16:creationId xmlns:a16="http://schemas.microsoft.com/office/drawing/2014/main" id="{A703F545-68EA-AD19-9322-2B5919CB91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9161" y="2304726"/>
            <a:ext cx="9904639" cy="4388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2864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3135507d24_0_24"/>
          <p:cNvSpPr txBox="1">
            <a:spLocks noGrp="1"/>
          </p:cNvSpPr>
          <p:nvPr>
            <p:ph type="title"/>
          </p:nvPr>
        </p:nvSpPr>
        <p:spPr>
          <a:xfrm>
            <a:off x="240475" y="212152"/>
            <a:ext cx="10515600" cy="82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Sample Prediction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2" name="Google Shape;587;g239eac1405b_0_46">
            <a:extLst>
              <a:ext uri="{FF2B5EF4-FFF2-40B4-BE49-F238E27FC236}">
                <a16:creationId xmlns:a16="http://schemas.microsoft.com/office/drawing/2014/main" id="{EA058FAE-0050-6D44-9D53-9F34AA1989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6630" y="1034142"/>
            <a:ext cx="9858739" cy="56117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8694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301611" y="177165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392938" y="2011362"/>
            <a:ext cx="5538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F7297FCA-73EE-4884-83FD-766905B7A3F8}"/>
              </a:ext>
            </a:extLst>
          </p:cNvPr>
          <p:cNvSpPr txBox="1">
            <a:spLocks/>
          </p:cNvSpPr>
          <p:nvPr/>
        </p:nvSpPr>
        <p:spPr>
          <a:xfrm>
            <a:off x="558800" y="1352550"/>
            <a:ext cx="10926553" cy="462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891A7"/>
              </a:buClr>
              <a:buSzPts val="1400"/>
              <a:buFont typeface="Verdana"/>
              <a:buChar char="○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Frame based approaches</a:t>
            </a:r>
            <a:r>
              <a:rPr kumimoji="0" lang="en-IN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consider each frame of the video as independent image and extract features accordingly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lang="en-IN" sz="2600" baseline="0" dirty="0">
                <a:solidFill>
                  <a:srgbClr val="000000"/>
                </a:solidFill>
              </a:rPr>
              <a:t>Sequence based approaches factor</a:t>
            </a:r>
            <a:r>
              <a:rPr lang="en-IN" sz="2600" dirty="0">
                <a:solidFill>
                  <a:srgbClr val="000000"/>
                </a:solidFill>
              </a:rPr>
              <a:t> in the sequence effect by using a RNN along with a CNN to extract features from a video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lang="en-IN" sz="2600" dirty="0">
                <a:solidFill>
                  <a:srgbClr val="000000"/>
                </a:solidFill>
              </a:rPr>
              <a:t>3D CNNs consider a video as a 3D image and extract features from it using 3D convolution filters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lang="en-IN" sz="2600" dirty="0">
                <a:solidFill>
                  <a:srgbClr val="000000"/>
                </a:solidFill>
              </a:rPr>
              <a:t>Models from scratch as well as transfer learning based models were trained for the cricket shot prediction task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lang="en-IN" sz="2600" dirty="0">
                <a:solidFill>
                  <a:srgbClr val="000000"/>
                </a:solidFill>
              </a:rPr>
              <a:t>Transfer Learning proved to be more effective which is expected due to the complexity of the task involving videos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endParaRPr lang="en-IN" sz="2600" dirty="0">
              <a:solidFill>
                <a:srgbClr val="000000"/>
              </a:solidFill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endParaRPr kumimoji="0" lang="en-I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742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3135507d24_0_24"/>
          <p:cNvSpPr txBox="1">
            <a:spLocks noGrp="1"/>
          </p:cNvSpPr>
          <p:nvPr>
            <p:ph type="title"/>
          </p:nvPr>
        </p:nvSpPr>
        <p:spPr>
          <a:xfrm>
            <a:off x="240475" y="212152"/>
            <a:ext cx="10515600" cy="82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References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Google Shape;594;g258dc61268e_0_65">
            <a:extLst>
              <a:ext uri="{FF2B5EF4-FFF2-40B4-BE49-F238E27FC236}">
                <a16:creationId xmlns:a16="http://schemas.microsoft.com/office/drawing/2014/main" id="{A0C26EAA-FE33-1DD5-00B3-0960EFEE5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1250" y="1416675"/>
            <a:ext cx="11522100" cy="47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3500"/>
              <a:buFont typeface="Wingdings" panose="05000000000000000000" pitchFamily="2" charset="2"/>
              <a:buChar char="Ø"/>
            </a:pPr>
            <a:r>
              <a:rPr lang="en-US" sz="2800" u="sng" dirty="0">
                <a:solidFill>
                  <a:schemeClr val="tx1"/>
                </a:solidFill>
                <a:latin typeface="Gill Sans" panose="020B0604020202020204" charset="0"/>
              </a:rPr>
              <a:t>https://www.mdpi.com/1424-8220/21/8/2846</a:t>
            </a:r>
            <a:endParaRPr sz="2800" u="sng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6355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3500"/>
              <a:buFont typeface="Wingdings" panose="05000000000000000000" pitchFamily="2" charset="2"/>
              <a:buChar char="Ø"/>
            </a:pPr>
            <a:r>
              <a:rPr lang="en-US" sz="2800" u="sng" dirty="0">
                <a:solidFill>
                  <a:schemeClr val="tx1"/>
                </a:solidFill>
                <a:latin typeface="Gill Sans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https://cdn.iiit.ac.in/cdn/cvit.iiit.ac.in/images/ConferencePapers/2015/rahulacpr15.pdf</a:t>
            </a:r>
            <a:endParaRPr sz="28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6355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3500"/>
              <a:buFont typeface="Wingdings" panose="05000000000000000000" pitchFamily="2" charset="2"/>
              <a:buChar char="Ø"/>
            </a:pPr>
            <a:r>
              <a:rPr lang="en-US" sz="2800" u="sng" dirty="0">
                <a:solidFill>
                  <a:schemeClr val="tx1"/>
                </a:solidFill>
                <a:latin typeface="Gill Sans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https://gogulilango.com/software/image-classification-python</a:t>
            </a:r>
            <a:endParaRPr sz="28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6355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3500"/>
              <a:buFont typeface="Wingdings" panose="05000000000000000000" pitchFamily="2" charset="2"/>
              <a:buChar char="Ø"/>
            </a:pPr>
            <a:r>
              <a:rPr lang="en-US" sz="2800" u="sng" dirty="0">
                <a:solidFill>
                  <a:schemeClr val="tx1"/>
                </a:solidFill>
                <a:latin typeface="Gill Sans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https://www.kaggle.com/competitions/dfl-bundesliga-data-shootout/discussion/347266</a:t>
            </a:r>
            <a:endParaRPr sz="2800" u="sng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6355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3500"/>
              <a:buFont typeface="Wingdings" panose="05000000000000000000" pitchFamily="2" charset="2"/>
              <a:buChar char="Ø"/>
            </a:pPr>
            <a:r>
              <a:rPr lang="en-US" sz="2800" u="sng" dirty="0">
                <a:solidFill>
                  <a:schemeClr val="tx1"/>
                </a:solidFill>
                <a:latin typeface="Gill Sans" panose="020B0604020202020204" charset="0"/>
              </a:rPr>
              <a:t>https://towardsdatascience.com/long-term-recurrent-convolutional-network-for-video-regression-12138f8b4713</a:t>
            </a:r>
            <a:endParaRPr sz="2800" u="sng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13716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60"/>
              <a:buFont typeface="Wingdings" panose="05000000000000000000" pitchFamily="2" charset="2"/>
              <a:buChar char="Ø"/>
            </a:pPr>
            <a:endParaRPr sz="28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382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9"/>
          <p:cNvSpPr txBox="1">
            <a:spLocks noGrp="1"/>
          </p:cNvSpPr>
          <p:nvPr>
            <p:ph type="title"/>
          </p:nvPr>
        </p:nvSpPr>
        <p:spPr>
          <a:xfrm>
            <a:off x="197933" y="558993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66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866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FFAB40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2276</TotalTime>
  <Words>1213</Words>
  <Application>Microsoft Office PowerPoint</Application>
  <PresentationFormat>Widescreen</PresentationFormat>
  <Paragraphs>234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8" baseType="lpstr">
      <vt:lpstr>Calibri</vt:lpstr>
      <vt:lpstr>Verdana</vt:lpstr>
      <vt:lpstr>Avenir</vt:lpstr>
      <vt:lpstr>Arial</vt:lpstr>
      <vt:lpstr>Noto Sans</vt:lpstr>
      <vt:lpstr>Gill Sans</vt:lpstr>
      <vt:lpstr>Cambria Math</vt:lpstr>
      <vt:lpstr>Wingdings</vt:lpstr>
      <vt:lpstr>Noto Sans Symbols</vt:lpstr>
      <vt:lpstr>Montserrat</vt:lpstr>
      <vt:lpstr>Courier New</vt:lpstr>
      <vt:lpstr>Cabin</vt:lpstr>
      <vt:lpstr>Simple Light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Approaches to Building Classifier on Videos</vt:lpstr>
      <vt:lpstr>Approaches to Building Classifier on Videos</vt:lpstr>
      <vt:lpstr>Approaches to Building Classifier on Videos</vt:lpstr>
      <vt:lpstr>Sequence Learning</vt:lpstr>
      <vt:lpstr>Sequence Learning</vt:lpstr>
      <vt:lpstr>Sequence Learning – Video Classification</vt:lpstr>
      <vt:lpstr>Sequence Learning – Recurrent Neural Networks</vt:lpstr>
      <vt:lpstr>Sequence Learning – Recurrent Neural Networks (RNN)</vt:lpstr>
      <vt:lpstr>Approaches to Building Classifier on Videos</vt:lpstr>
      <vt:lpstr>Approaches to Building Classifier on Videos</vt:lpstr>
      <vt:lpstr>Approaches to Building Classifier on Videos</vt:lpstr>
      <vt:lpstr>Transfer Learning</vt:lpstr>
      <vt:lpstr>Approaches Used for Cricket Shot Prediction</vt:lpstr>
      <vt:lpstr>Approaches Used for Cricket Shot Prediction</vt:lpstr>
      <vt:lpstr>PowerPoint Presentation</vt:lpstr>
      <vt:lpstr>      Confusion matrix and Accuracy</vt:lpstr>
      <vt:lpstr>   Confusion Matrix for 2D CNN+LSTM</vt:lpstr>
      <vt:lpstr>        Videos Correctly Classified</vt:lpstr>
      <vt:lpstr>      Videos Incorrectly Classified</vt:lpstr>
      <vt:lpstr>   Confusion Matrix for VGG16 (Transfer Learning)</vt:lpstr>
      <vt:lpstr>Videos Correctly Classified</vt:lpstr>
      <vt:lpstr> Videos Incorrectly Classified</vt:lpstr>
      <vt:lpstr>Comparison of Accuracy</vt:lpstr>
      <vt:lpstr>Model Deployment</vt:lpstr>
      <vt:lpstr>Model Deployment</vt:lpstr>
      <vt:lpstr>Sample Prediction</vt:lpstr>
      <vt:lpstr>Summary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 Sridhar</dc:creator>
  <cp:lastModifiedBy>Satya J</cp:lastModifiedBy>
  <cp:revision>14</cp:revision>
  <dcterms:created xsi:type="dcterms:W3CDTF">2019-05-02T04:32:46Z</dcterms:created>
  <dcterms:modified xsi:type="dcterms:W3CDTF">2024-02-10T07:57:31Z</dcterms:modified>
</cp:coreProperties>
</file>