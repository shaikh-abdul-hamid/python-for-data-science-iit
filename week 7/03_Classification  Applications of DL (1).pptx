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80" r:id="rId2"/>
    <p:sldMasterId id="2147483682" r:id="rId3"/>
  </p:sldMasterIdLst>
  <p:notesMasterIdLst>
    <p:notesMasterId r:id="rId20"/>
  </p:notesMasterIdLst>
  <p:sldIdLst>
    <p:sldId id="480" r:id="rId4"/>
    <p:sldId id="469" r:id="rId5"/>
    <p:sldId id="470" r:id="rId6"/>
    <p:sldId id="471" r:id="rId7"/>
    <p:sldId id="260" r:id="rId8"/>
    <p:sldId id="481" r:id="rId9"/>
    <p:sldId id="474" r:id="rId10"/>
    <p:sldId id="496" r:id="rId11"/>
    <p:sldId id="259" r:id="rId12"/>
    <p:sldId id="498" r:id="rId13"/>
    <p:sldId id="460" r:id="rId14"/>
    <p:sldId id="472" r:id="rId15"/>
    <p:sldId id="363" r:id="rId16"/>
    <p:sldId id="364" r:id="rId17"/>
    <p:sldId id="499" r:id="rId18"/>
    <p:sldId id="293" r:id="rId19"/>
  </p:sldIdLst>
  <p:sldSz cx="12192000" cy="6858000"/>
  <p:notesSz cx="6858000" cy="9144000"/>
  <p:embeddedFontLst>
    <p:embeddedFont>
      <p:font typeface="Cabin" panose="020B0604020202020204" charset="0"/>
      <p:regular r:id="rId21"/>
      <p:bold r:id="rId22"/>
      <p:italic r:id="rId23"/>
      <p:boldItalic r:id="rId24"/>
    </p:embeddedFont>
    <p:embeddedFont>
      <p:font typeface="Cambria Math" panose="02040503050406030204" pitchFamily="18" charset="0"/>
      <p:regular r:id="rId25"/>
    </p:embeddedFont>
    <p:embeddedFont>
      <p:font typeface="Gill Sans" panose="020B0604020202020204" charset="0"/>
      <p:regular r:id="rId26"/>
      <p:bold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iM5Tl54x7j9l4IykyUpB9Rrq5s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E48A7B-9E87-4D62-B251-134843940CCE}">
  <a:tblStyle styleId="{59E48A7B-9E87-4D62-B251-134843940C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2412D91-092D-44FF-A22B-1379C6198B5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3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66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1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69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67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673EE2-49F4-40CA-A99B-18C9DEA1CE59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42D186-0047-4B17-A3F5-E59E3762A03A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E8C0E9C-E7E8-4D25-B8FD-7152F6E9EA35}" type="par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1664888C-C781-471F-A272-B3FD5D7D2BD0}" type="sib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8F633EAF-C35F-431F-853B-9BF31EF36FDF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Collect relevant data along with class label</a:t>
          </a:r>
          <a:endParaRPr lang="en-US" dirty="0">
            <a:latin typeface="Gill Sans" panose="020B0604020202020204" charset="0"/>
          </a:endParaRPr>
        </a:p>
      </dgm:t>
    </dgm:pt>
    <dgm:pt modelId="{957C3D87-9443-46B8-AF22-7C76A8C23D45}" type="par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E5CFB9CC-BF95-4D3C-8522-D4D1349A5B4D}" type="sib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C62AD73-5C88-4CC8-966D-CD4AA2AAE98D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Preparation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7460A73-92BA-40B7-A722-3CEC1FF0E9F0}" type="parTrans" cxnId="{8DF90501-DD54-4B48-9E0F-9BE38AA52C4E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961A7312-1314-4B8C-B439-85278D68DD67}" type="sibTrans" cxnId="{8DF90501-DD54-4B48-9E0F-9BE38AA52C4E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570825BC-3529-461E-BA9B-91A7A75254B3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Clean the data and fill any missing values</a:t>
          </a:r>
          <a:endParaRPr lang="en-US" dirty="0">
            <a:latin typeface="Gill Sans" panose="020B0604020202020204" charset="0"/>
          </a:endParaRPr>
        </a:p>
      </dgm:t>
    </dgm:pt>
    <dgm:pt modelId="{CC495178-7BE0-4847-A25E-29ED5AFB61EB}" type="parTrans" cxnId="{E9648E43-307A-462F-9825-91CC00237D17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5554DD8-AF9F-4E0F-A533-01FFF58CD95A}" type="sibTrans" cxnId="{E9648E43-307A-462F-9825-91CC00237D17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A7845D0D-FDFE-490F-B3B8-650A368537A0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Pre-process the data as necessary </a:t>
          </a:r>
          <a:endParaRPr lang="en-US" dirty="0">
            <a:latin typeface="Gill Sans" panose="020B0604020202020204" charset="0"/>
          </a:endParaRPr>
        </a:p>
      </dgm:t>
    </dgm:pt>
    <dgm:pt modelId="{7195D1D4-98A6-439A-96F5-9A3B891451DC}" type="parTrans" cxnId="{8D75506A-EB7F-44EC-B320-3B01FF708500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29DCAD12-D764-4927-9C39-876C050573A7}" type="sibTrans" cxnId="{8D75506A-EB7F-44EC-B320-3B01FF708500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0275CA6D-5B3B-4941-8AB1-4B3A9C020A40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Build Classifier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90137100-63E2-4BBD-90FF-10691408F2E9}" type="parTrans" cxnId="{98C544E4-6649-4981-85D0-513AEAA8436D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1D35C907-B7F5-4548-B1EF-CA666460D6D0}" type="sibTrans" cxnId="{98C544E4-6649-4981-85D0-513AEAA8436D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B7ACFE08-BEDA-4A47-859D-A11A0CACF79A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Train classifier by learning relation between input features and output classes</a:t>
          </a:r>
          <a:endParaRPr lang="en-US" dirty="0">
            <a:latin typeface="Gill Sans" panose="020B0604020202020204" charset="0"/>
          </a:endParaRPr>
        </a:p>
      </dgm:t>
    </dgm:pt>
    <dgm:pt modelId="{30BF0152-E4E8-44C0-B22D-2E71793009EC}" type="parTrans" cxnId="{6025FCCB-CA1F-4B07-8E70-F365B7340D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AD504092-C6AB-4FCA-96C1-A69153DE184E}" type="sibTrans" cxnId="{6025FCCB-CA1F-4B07-8E70-F365B7340D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D7D5784-A80C-4C03-9FE7-5F54256B0108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Test Classifier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A4308C22-A43B-443F-8EFB-089D3F70E684}" type="parTrans" cxnId="{7E4CA9D2-4739-476F-A2AA-6316AB0A42B2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C28B1DE2-EA64-43EF-8025-48BFA55A9DCD}" type="sibTrans" cxnId="{7E4CA9D2-4739-476F-A2AA-6316AB0A42B2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D6044E6C-19C7-4A1D-AF8C-7EE9C199B1F4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Assess the classifier performance</a:t>
          </a:r>
          <a:endParaRPr lang="en-US" dirty="0">
            <a:latin typeface="Gill Sans" panose="020B0604020202020204" charset="0"/>
          </a:endParaRPr>
        </a:p>
      </dgm:t>
    </dgm:pt>
    <dgm:pt modelId="{B3696F43-EBE8-42C6-99C2-8B156543CF5A}" type="parTrans" cxnId="{150E508A-E603-4EA5-A801-AC110BF2C6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F9885630-5D58-450D-9CA5-4D3A2C4CCF44}" type="sibTrans" cxnId="{150E508A-E603-4EA5-A801-AC110BF2C6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092ADF19-79F0-4D05-BD89-B3F8B1D81509}" type="pres">
      <dgm:prSet presAssocID="{CB673EE2-49F4-40CA-A99B-18C9DEA1CE59}" presName="linearFlow" presStyleCnt="0">
        <dgm:presLayoutVars>
          <dgm:dir/>
          <dgm:animLvl val="lvl"/>
          <dgm:resizeHandles val="exact"/>
        </dgm:presLayoutVars>
      </dgm:prSet>
      <dgm:spPr/>
    </dgm:pt>
    <dgm:pt modelId="{2A31E14B-2493-456B-AE4F-66F2F8DA3214}" type="pres">
      <dgm:prSet presAssocID="{5C42D186-0047-4B17-A3F5-E59E3762A03A}" presName="composite" presStyleCnt="0"/>
      <dgm:spPr/>
    </dgm:pt>
    <dgm:pt modelId="{A2857188-87C7-4B13-A9A0-6B4FC476C6B8}" type="pres">
      <dgm:prSet presAssocID="{5C42D186-0047-4B17-A3F5-E59E3762A03A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E091D8E4-0696-4FA0-B591-806E15E2CA61}" type="pres">
      <dgm:prSet presAssocID="{5C42D186-0047-4B17-A3F5-E59E3762A03A}" presName="descendantText" presStyleLbl="alignAcc1" presStyleIdx="0" presStyleCnt="4">
        <dgm:presLayoutVars>
          <dgm:bulletEnabled val="1"/>
        </dgm:presLayoutVars>
      </dgm:prSet>
      <dgm:spPr/>
    </dgm:pt>
    <dgm:pt modelId="{0AEDA78C-35DE-410C-8EA9-A2F0BDCB0203}" type="pres">
      <dgm:prSet presAssocID="{1664888C-C781-471F-A272-B3FD5D7D2BD0}" presName="sp" presStyleCnt="0"/>
      <dgm:spPr/>
    </dgm:pt>
    <dgm:pt modelId="{14C91F22-95EE-461C-B8AF-3D5DA9DAB41A}" type="pres">
      <dgm:prSet presAssocID="{7C62AD73-5C88-4CC8-966D-CD4AA2AAE98D}" presName="composite" presStyleCnt="0"/>
      <dgm:spPr/>
    </dgm:pt>
    <dgm:pt modelId="{454B0165-B1F8-4114-9A68-6D50E0844D16}" type="pres">
      <dgm:prSet presAssocID="{7C62AD73-5C88-4CC8-966D-CD4AA2AAE98D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59112E16-E603-4827-B531-8F3DF793E526}" type="pres">
      <dgm:prSet presAssocID="{7C62AD73-5C88-4CC8-966D-CD4AA2AAE98D}" presName="descendantText" presStyleLbl="alignAcc1" presStyleIdx="1" presStyleCnt="4">
        <dgm:presLayoutVars>
          <dgm:bulletEnabled val="1"/>
        </dgm:presLayoutVars>
      </dgm:prSet>
      <dgm:spPr/>
    </dgm:pt>
    <dgm:pt modelId="{A648B60D-71B7-415D-A796-84B53EAB51EF}" type="pres">
      <dgm:prSet presAssocID="{961A7312-1314-4B8C-B439-85278D68DD67}" presName="sp" presStyleCnt="0"/>
      <dgm:spPr/>
    </dgm:pt>
    <dgm:pt modelId="{A4EFD9A3-B07A-4FCE-ADBE-4C6799CD886F}" type="pres">
      <dgm:prSet presAssocID="{0275CA6D-5B3B-4941-8AB1-4B3A9C020A40}" presName="composite" presStyleCnt="0"/>
      <dgm:spPr/>
    </dgm:pt>
    <dgm:pt modelId="{9AC569D5-D34C-476D-9FCE-DC406E3764C4}" type="pres">
      <dgm:prSet presAssocID="{0275CA6D-5B3B-4941-8AB1-4B3A9C020A40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E0B1F3FD-4A7B-4EB9-ABDB-620B0659A216}" type="pres">
      <dgm:prSet presAssocID="{0275CA6D-5B3B-4941-8AB1-4B3A9C020A40}" presName="descendantText" presStyleLbl="alignAcc1" presStyleIdx="2" presStyleCnt="4">
        <dgm:presLayoutVars>
          <dgm:bulletEnabled val="1"/>
        </dgm:presLayoutVars>
      </dgm:prSet>
      <dgm:spPr/>
    </dgm:pt>
    <dgm:pt modelId="{E0F7707E-948E-487D-966C-C549B04D35AD}" type="pres">
      <dgm:prSet presAssocID="{1D35C907-B7F5-4548-B1EF-CA666460D6D0}" presName="sp" presStyleCnt="0"/>
      <dgm:spPr/>
    </dgm:pt>
    <dgm:pt modelId="{1057C97F-ED74-452C-9D7B-01DF639F5E2E}" type="pres">
      <dgm:prSet presAssocID="{7D7D5784-A80C-4C03-9FE7-5F54256B0108}" presName="composite" presStyleCnt="0"/>
      <dgm:spPr/>
    </dgm:pt>
    <dgm:pt modelId="{77BE4FA9-3A8B-41B5-99FB-79C09630D259}" type="pres">
      <dgm:prSet presAssocID="{7D7D5784-A80C-4C03-9FE7-5F54256B0108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B2CF5441-CAE3-4F01-9D6B-6A83BC70BFEF}" type="pres">
      <dgm:prSet presAssocID="{7D7D5784-A80C-4C03-9FE7-5F54256B0108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8DF90501-DD54-4B48-9E0F-9BE38AA52C4E}" srcId="{CB673EE2-49F4-40CA-A99B-18C9DEA1CE59}" destId="{7C62AD73-5C88-4CC8-966D-CD4AA2AAE98D}" srcOrd="1" destOrd="0" parTransId="{C7460A73-92BA-40B7-A722-3CEC1FF0E9F0}" sibTransId="{961A7312-1314-4B8C-B439-85278D68DD67}"/>
    <dgm:cxn modelId="{4E7C9A03-5249-42D5-9DEF-043B40038FD4}" type="presOf" srcId="{A7845D0D-FDFE-490F-B3B8-650A368537A0}" destId="{59112E16-E603-4827-B531-8F3DF793E526}" srcOrd="0" destOrd="1" presId="urn:microsoft.com/office/officeart/2005/8/layout/chevron2"/>
    <dgm:cxn modelId="{DBE0D203-DF6B-49A1-9097-F0000E9A6A78}" type="presOf" srcId="{570825BC-3529-461E-BA9B-91A7A75254B3}" destId="{59112E16-E603-4827-B531-8F3DF793E526}" srcOrd="0" destOrd="0" presId="urn:microsoft.com/office/officeart/2005/8/layout/chevron2"/>
    <dgm:cxn modelId="{44E7D203-E5B3-4CFE-A820-F2E27D696CA8}" srcId="{5C42D186-0047-4B17-A3F5-E59E3762A03A}" destId="{8F633EAF-C35F-431F-853B-9BF31EF36FDF}" srcOrd="0" destOrd="0" parTransId="{957C3D87-9443-46B8-AF22-7C76A8C23D45}" sibTransId="{E5CFB9CC-BF95-4D3C-8522-D4D1349A5B4D}"/>
    <dgm:cxn modelId="{FCFFEA3B-2B6C-462F-9E80-B49EB48B96CD}" type="presOf" srcId="{B7ACFE08-BEDA-4A47-859D-A11A0CACF79A}" destId="{E0B1F3FD-4A7B-4EB9-ABDB-620B0659A216}" srcOrd="0" destOrd="0" presId="urn:microsoft.com/office/officeart/2005/8/layout/chevron2"/>
    <dgm:cxn modelId="{0BD7343D-340C-42D6-93E9-11CC1BEF65D9}" type="presOf" srcId="{7D7D5784-A80C-4C03-9FE7-5F54256B0108}" destId="{77BE4FA9-3A8B-41B5-99FB-79C09630D259}" srcOrd="0" destOrd="0" presId="urn:microsoft.com/office/officeart/2005/8/layout/chevron2"/>
    <dgm:cxn modelId="{E9648E43-307A-462F-9825-91CC00237D17}" srcId="{7C62AD73-5C88-4CC8-966D-CD4AA2AAE98D}" destId="{570825BC-3529-461E-BA9B-91A7A75254B3}" srcOrd="0" destOrd="0" parTransId="{CC495178-7BE0-4847-A25E-29ED5AFB61EB}" sibTransId="{75554DD8-AF9F-4E0F-A533-01FFF58CD95A}"/>
    <dgm:cxn modelId="{8D75506A-EB7F-44EC-B320-3B01FF708500}" srcId="{7C62AD73-5C88-4CC8-966D-CD4AA2AAE98D}" destId="{A7845D0D-FDFE-490F-B3B8-650A368537A0}" srcOrd="1" destOrd="0" parTransId="{7195D1D4-98A6-439A-96F5-9A3B891451DC}" sibTransId="{29DCAD12-D764-4927-9C39-876C050573A7}"/>
    <dgm:cxn modelId="{E043E54B-B947-4B67-9463-3DCCCB9303F3}" type="presOf" srcId="{D6044E6C-19C7-4A1D-AF8C-7EE9C199B1F4}" destId="{B2CF5441-CAE3-4F01-9D6B-6A83BC70BFEF}" srcOrd="0" destOrd="0" presId="urn:microsoft.com/office/officeart/2005/8/layout/chevron2"/>
    <dgm:cxn modelId="{F1F73E79-6790-4021-8FFC-DEF525CA0B64}" type="presOf" srcId="{0275CA6D-5B3B-4941-8AB1-4B3A9C020A40}" destId="{9AC569D5-D34C-476D-9FCE-DC406E3764C4}" srcOrd="0" destOrd="0" presId="urn:microsoft.com/office/officeart/2005/8/layout/chevron2"/>
    <dgm:cxn modelId="{150E508A-E603-4EA5-A801-AC110BF2C605}" srcId="{7D7D5784-A80C-4C03-9FE7-5F54256B0108}" destId="{D6044E6C-19C7-4A1D-AF8C-7EE9C199B1F4}" srcOrd="0" destOrd="0" parTransId="{B3696F43-EBE8-42C6-99C2-8B156543CF5A}" sibTransId="{F9885630-5D58-450D-9CA5-4D3A2C4CCF44}"/>
    <dgm:cxn modelId="{4D61F48E-4D0B-4E57-A556-46FD91AE79C4}" type="presOf" srcId="{5C42D186-0047-4B17-A3F5-E59E3762A03A}" destId="{A2857188-87C7-4B13-A9A0-6B4FC476C6B8}" srcOrd="0" destOrd="0" presId="urn:microsoft.com/office/officeart/2005/8/layout/chevron2"/>
    <dgm:cxn modelId="{9ED919A1-9EE4-44A6-ADB0-995963B603EE}" type="presOf" srcId="{CB673EE2-49F4-40CA-A99B-18C9DEA1CE59}" destId="{092ADF19-79F0-4D05-BD89-B3F8B1D81509}" srcOrd="0" destOrd="0" presId="urn:microsoft.com/office/officeart/2005/8/layout/chevron2"/>
    <dgm:cxn modelId="{2170F3A5-BAA5-41D6-B81A-427FEC423105}" srcId="{CB673EE2-49F4-40CA-A99B-18C9DEA1CE59}" destId="{5C42D186-0047-4B17-A3F5-E59E3762A03A}" srcOrd="0" destOrd="0" parTransId="{CE8C0E9C-E7E8-4D25-B8FD-7152F6E9EA35}" sibTransId="{1664888C-C781-471F-A272-B3FD5D7D2BD0}"/>
    <dgm:cxn modelId="{6025FCCB-CA1F-4B07-8E70-F365B7340D05}" srcId="{0275CA6D-5B3B-4941-8AB1-4B3A9C020A40}" destId="{B7ACFE08-BEDA-4A47-859D-A11A0CACF79A}" srcOrd="0" destOrd="0" parTransId="{30BF0152-E4E8-44C0-B22D-2E71793009EC}" sibTransId="{AD504092-C6AB-4FCA-96C1-A69153DE184E}"/>
    <dgm:cxn modelId="{F38162D0-8DC2-44BC-9006-01C9349C6C8F}" type="presOf" srcId="{7C62AD73-5C88-4CC8-966D-CD4AA2AAE98D}" destId="{454B0165-B1F8-4114-9A68-6D50E0844D16}" srcOrd="0" destOrd="0" presId="urn:microsoft.com/office/officeart/2005/8/layout/chevron2"/>
    <dgm:cxn modelId="{7E4CA9D2-4739-476F-A2AA-6316AB0A42B2}" srcId="{CB673EE2-49F4-40CA-A99B-18C9DEA1CE59}" destId="{7D7D5784-A80C-4C03-9FE7-5F54256B0108}" srcOrd="3" destOrd="0" parTransId="{A4308C22-A43B-443F-8EFB-089D3F70E684}" sibTransId="{C28B1DE2-EA64-43EF-8025-48BFA55A9DCD}"/>
    <dgm:cxn modelId="{98C544E4-6649-4981-85D0-513AEAA8436D}" srcId="{CB673EE2-49F4-40CA-A99B-18C9DEA1CE59}" destId="{0275CA6D-5B3B-4941-8AB1-4B3A9C020A40}" srcOrd="2" destOrd="0" parTransId="{90137100-63E2-4BBD-90FF-10691408F2E9}" sibTransId="{1D35C907-B7F5-4548-B1EF-CA666460D6D0}"/>
    <dgm:cxn modelId="{F3E172F2-5234-4E12-95E7-DAE97A9A9AAD}" type="presOf" srcId="{8F633EAF-C35F-431F-853B-9BF31EF36FDF}" destId="{E091D8E4-0696-4FA0-B591-806E15E2CA61}" srcOrd="0" destOrd="0" presId="urn:microsoft.com/office/officeart/2005/8/layout/chevron2"/>
    <dgm:cxn modelId="{C071B943-117A-47B6-BD21-89F47A4BBB5F}" type="presParOf" srcId="{092ADF19-79F0-4D05-BD89-B3F8B1D81509}" destId="{2A31E14B-2493-456B-AE4F-66F2F8DA3214}" srcOrd="0" destOrd="0" presId="urn:microsoft.com/office/officeart/2005/8/layout/chevron2"/>
    <dgm:cxn modelId="{959641E0-3871-4BAE-9232-BDFF44219092}" type="presParOf" srcId="{2A31E14B-2493-456B-AE4F-66F2F8DA3214}" destId="{A2857188-87C7-4B13-A9A0-6B4FC476C6B8}" srcOrd="0" destOrd="0" presId="urn:microsoft.com/office/officeart/2005/8/layout/chevron2"/>
    <dgm:cxn modelId="{2B3D5823-B741-4349-ABC1-B8F5D3BF8E89}" type="presParOf" srcId="{2A31E14B-2493-456B-AE4F-66F2F8DA3214}" destId="{E091D8E4-0696-4FA0-B591-806E15E2CA61}" srcOrd="1" destOrd="0" presId="urn:microsoft.com/office/officeart/2005/8/layout/chevron2"/>
    <dgm:cxn modelId="{027A0B2C-E1CD-4405-BF59-1646310CF490}" type="presParOf" srcId="{092ADF19-79F0-4D05-BD89-B3F8B1D81509}" destId="{0AEDA78C-35DE-410C-8EA9-A2F0BDCB0203}" srcOrd="1" destOrd="0" presId="urn:microsoft.com/office/officeart/2005/8/layout/chevron2"/>
    <dgm:cxn modelId="{D893F802-0871-441C-801A-C08EE1366038}" type="presParOf" srcId="{092ADF19-79F0-4D05-BD89-B3F8B1D81509}" destId="{14C91F22-95EE-461C-B8AF-3D5DA9DAB41A}" srcOrd="2" destOrd="0" presId="urn:microsoft.com/office/officeart/2005/8/layout/chevron2"/>
    <dgm:cxn modelId="{DDCB3F7A-9AFA-4FB3-827F-649DCE171BBB}" type="presParOf" srcId="{14C91F22-95EE-461C-B8AF-3D5DA9DAB41A}" destId="{454B0165-B1F8-4114-9A68-6D50E0844D16}" srcOrd="0" destOrd="0" presId="urn:microsoft.com/office/officeart/2005/8/layout/chevron2"/>
    <dgm:cxn modelId="{8FB2C4CA-9CED-4A58-A6A4-DF08D27DFE73}" type="presParOf" srcId="{14C91F22-95EE-461C-B8AF-3D5DA9DAB41A}" destId="{59112E16-E603-4827-B531-8F3DF793E526}" srcOrd="1" destOrd="0" presId="urn:microsoft.com/office/officeart/2005/8/layout/chevron2"/>
    <dgm:cxn modelId="{B71BA9A6-4323-4760-AA4A-75B2B39BFE39}" type="presParOf" srcId="{092ADF19-79F0-4D05-BD89-B3F8B1D81509}" destId="{A648B60D-71B7-415D-A796-84B53EAB51EF}" srcOrd="3" destOrd="0" presId="urn:microsoft.com/office/officeart/2005/8/layout/chevron2"/>
    <dgm:cxn modelId="{CE206A51-29C7-4596-BC6B-EC4F7CC81E7B}" type="presParOf" srcId="{092ADF19-79F0-4D05-BD89-B3F8B1D81509}" destId="{A4EFD9A3-B07A-4FCE-ADBE-4C6799CD886F}" srcOrd="4" destOrd="0" presId="urn:microsoft.com/office/officeart/2005/8/layout/chevron2"/>
    <dgm:cxn modelId="{EBD93E2D-3BB1-450D-9AE3-68AB6168AA11}" type="presParOf" srcId="{A4EFD9A3-B07A-4FCE-ADBE-4C6799CD886F}" destId="{9AC569D5-D34C-476D-9FCE-DC406E3764C4}" srcOrd="0" destOrd="0" presId="urn:microsoft.com/office/officeart/2005/8/layout/chevron2"/>
    <dgm:cxn modelId="{3DB93A04-577C-4433-B0A3-926FAE02B85A}" type="presParOf" srcId="{A4EFD9A3-B07A-4FCE-ADBE-4C6799CD886F}" destId="{E0B1F3FD-4A7B-4EB9-ABDB-620B0659A216}" srcOrd="1" destOrd="0" presId="urn:microsoft.com/office/officeart/2005/8/layout/chevron2"/>
    <dgm:cxn modelId="{182B7C80-1AAD-4196-9AD7-272C6FD496D0}" type="presParOf" srcId="{092ADF19-79F0-4D05-BD89-B3F8B1D81509}" destId="{E0F7707E-948E-487D-966C-C549B04D35AD}" srcOrd="5" destOrd="0" presId="urn:microsoft.com/office/officeart/2005/8/layout/chevron2"/>
    <dgm:cxn modelId="{3CE37937-B3BC-4E8C-BA76-1C2FD6A6B820}" type="presParOf" srcId="{092ADF19-79F0-4D05-BD89-B3F8B1D81509}" destId="{1057C97F-ED74-452C-9D7B-01DF639F5E2E}" srcOrd="6" destOrd="0" presId="urn:microsoft.com/office/officeart/2005/8/layout/chevron2"/>
    <dgm:cxn modelId="{9BC959CF-680E-470D-BC3C-0906236C2A72}" type="presParOf" srcId="{1057C97F-ED74-452C-9D7B-01DF639F5E2E}" destId="{77BE4FA9-3A8B-41B5-99FB-79C09630D259}" srcOrd="0" destOrd="0" presId="urn:microsoft.com/office/officeart/2005/8/layout/chevron2"/>
    <dgm:cxn modelId="{EDD6F8A7-0E91-46C9-9306-62A92A1C0381}" type="presParOf" srcId="{1057C97F-ED74-452C-9D7B-01DF639F5E2E}" destId="{B2CF5441-CAE3-4F01-9D6B-6A83BC70BFE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57188-87C7-4B13-A9A0-6B4FC476C6B8}">
      <dsp:nvSpPr>
        <dsp:cNvPr id="0" name=""/>
        <dsp:cNvSpPr/>
      </dsp:nvSpPr>
      <dsp:spPr>
        <a:xfrm rot="5400000">
          <a:off x="-226625" y="231465"/>
          <a:ext cx="1510838" cy="1057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533634"/>
        <a:ext cx="1057587" cy="453251"/>
      </dsp:txXfrm>
    </dsp:sp>
    <dsp:sp modelId="{E091D8E4-0696-4FA0-B591-806E15E2CA61}">
      <dsp:nvSpPr>
        <dsp:cNvPr id="0" name=""/>
        <dsp:cNvSpPr/>
      </dsp:nvSpPr>
      <dsp:spPr>
        <a:xfrm rot="5400000">
          <a:off x="5297126" y="-4234700"/>
          <a:ext cx="982561" cy="9461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Gill Sans" panose="020B0604020202020204" charset="0"/>
            </a:rPr>
            <a:t>Collect relevant data along with class label</a:t>
          </a:r>
          <a:endParaRPr lang="en-US" sz="2400" kern="1200" dirty="0">
            <a:latin typeface="Gill Sans" panose="020B0604020202020204" charset="0"/>
          </a:endParaRPr>
        </a:p>
      </dsp:txBody>
      <dsp:txXfrm rot="-5400000">
        <a:off x="1057587" y="52804"/>
        <a:ext cx="9413675" cy="886631"/>
      </dsp:txXfrm>
    </dsp:sp>
    <dsp:sp modelId="{454B0165-B1F8-4114-9A68-6D50E0844D16}">
      <dsp:nvSpPr>
        <dsp:cNvPr id="0" name=""/>
        <dsp:cNvSpPr/>
      </dsp:nvSpPr>
      <dsp:spPr>
        <a:xfrm rot="5400000">
          <a:off x="-226625" y="1598323"/>
          <a:ext cx="1510838" cy="1057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Preparation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1900492"/>
        <a:ext cx="1057587" cy="453251"/>
      </dsp:txXfrm>
    </dsp:sp>
    <dsp:sp modelId="{59112E16-E603-4827-B531-8F3DF793E526}">
      <dsp:nvSpPr>
        <dsp:cNvPr id="0" name=""/>
        <dsp:cNvSpPr/>
      </dsp:nvSpPr>
      <dsp:spPr>
        <a:xfrm rot="5400000">
          <a:off x="5297384" y="-2868099"/>
          <a:ext cx="982045" cy="9461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Gill Sans" panose="020B0604020202020204" charset="0"/>
            </a:rPr>
            <a:t>Clean the data and fill any missing values</a:t>
          </a:r>
          <a:endParaRPr lang="en-US" sz="2400" kern="1200" dirty="0">
            <a:latin typeface="Gill Sans" panose="020B060402020202020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Gill Sans" panose="020B0604020202020204" charset="0"/>
            </a:rPr>
            <a:t>Pre-process the data as necessary </a:t>
          </a:r>
          <a:endParaRPr lang="en-US" sz="2400" kern="1200" dirty="0">
            <a:latin typeface="Gill Sans" panose="020B0604020202020204" charset="0"/>
          </a:endParaRPr>
        </a:p>
      </dsp:txBody>
      <dsp:txXfrm rot="-5400000">
        <a:off x="1057587" y="1419637"/>
        <a:ext cx="9413701" cy="886167"/>
      </dsp:txXfrm>
    </dsp:sp>
    <dsp:sp modelId="{9AC569D5-D34C-476D-9FCE-DC406E3764C4}">
      <dsp:nvSpPr>
        <dsp:cNvPr id="0" name=""/>
        <dsp:cNvSpPr/>
      </dsp:nvSpPr>
      <dsp:spPr>
        <a:xfrm rot="5400000">
          <a:off x="-226625" y="2965182"/>
          <a:ext cx="1510838" cy="1057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Build Classifier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3267351"/>
        <a:ext cx="1057587" cy="453251"/>
      </dsp:txXfrm>
    </dsp:sp>
    <dsp:sp modelId="{E0B1F3FD-4A7B-4EB9-ABDB-620B0659A216}">
      <dsp:nvSpPr>
        <dsp:cNvPr id="0" name=""/>
        <dsp:cNvSpPr/>
      </dsp:nvSpPr>
      <dsp:spPr>
        <a:xfrm rot="5400000">
          <a:off x="5297384" y="-1501240"/>
          <a:ext cx="982045" cy="9461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Gill Sans" panose="020B0604020202020204" charset="0"/>
            </a:rPr>
            <a:t>Train classifier by learning relation between input features and output classes</a:t>
          </a:r>
          <a:endParaRPr lang="en-US" sz="2400" kern="1200" dirty="0">
            <a:latin typeface="Gill Sans" panose="020B0604020202020204" charset="0"/>
          </a:endParaRPr>
        </a:p>
      </dsp:txBody>
      <dsp:txXfrm rot="-5400000">
        <a:off x="1057587" y="2786496"/>
        <a:ext cx="9413701" cy="886167"/>
      </dsp:txXfrm>
    </dsp:sp>
    <dsp:sp modelId="{77BE4FA9-3A8B-41B5-99FB-79C09630D259}">
      <dsp:nvSpPr>
        <dsp:cNvPr id="0" name=""/>
        <dsp:cNvSpPr/>
      </dsp:nvSpPr>
      <dsp:spPr>
        <a:xfrm rot="5400000">
          <a:off x="-226625" y="4332041"/>
          <a:ext cx="1510838" cy="1057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Test Classifier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4634210"/>
        <a:ext cx="1057587" cy="453251"/>
      </dsp:txXfrm>
    </dsp:sp>
    <dsp:sp modelId="{B2CF5441-CAE3-4F01-9D6B-6A83BC70BFEF}">
      <dsp:nvSpPr>
        <dsp:cNvPr id="0" name=""/>
        <dsp:cNvSpPr/>
      </dsp:nvSpPr>
      <dsp:spPr>
        <a:xfrm rot="5400000">
          <a:off x="5297384" y="-134382"/>
          <a:ext cx="982045" cy="9461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Gill Sans" panose="020B0604020202020204" charset="0"/>
            </a:rPr>
            <a:t>Assess the classifier performance</a:t>
          </a:r>
          <a:endParaRPr lang="en-US" sz="2400" kern="1200" dirty="0">
            <a:latin typeface="Gill Sans" panose="020B0604020202020204" charset="0"/>
          </a:endParaRPr>
        </a:p>
      </dsp:txBody>
      <dsp:txXfrm rot="-5400000">
        <a:off x="1057587" y="4153354"/>
        <a:ext cx="9413701" cy="8861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:notes"/>
          <p:cNvSpPr txBox="1">
            <a:spLocks noGrp="1"/>
          </p:cNvSpPr>
          <p:nvPr>
            <p:ph type="sldNum" idx="12"/>
          </p:nvPr>
        </p:nvSpPr>
        <p:spPr>
          <a:xfrm>
            <a:off x="4023992" y="9721106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:notes"/>
          <p:cNvSpPr txBox="1">
            <a:spLocks noGrp="1"/>
          </p:cNvSpPr>
          <p:nvPr>
            <p:ph type="sldNum" idx="12"/>
          </p:nvPr>
        </p:nvSpPr>
        <p:spPr>
          <a:xfrm>
            <a:off x="4023992" y="9721106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6516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76234fa0a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76234fa0a8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276234fa0a8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658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76234fa0a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76234fa0a8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276234fa0a8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6755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6234fa0a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76234fa0a8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276234fa0a8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4962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3D8A7AB5-CD54-AC47-D02B-5CE36E077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6234fa0a8_0_7:notes">
            <a:extLst>
              <a:ext uri="{FF2B5EF4-FFF2-40B4-BE49-F238E27FC236}">
                <a16:creationId xmlns:a16="http://schemas.microsoft.com/office/drawing/2014/main" id="{9A547A45-80BA-B68F-F99B-37530D0B6E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76234fa0a8_0_7:notes">
            <a:extLst>
              <a:ext uri="{FF2B5EF4-FFF2-40B4-BE49-F238E27FC236}">
                <a16:creationId xmlns:a16="http://schemas.microsoft.com/office/drawing/2014/main" id="{9FF7D2D1-CC32-75E3-EA69-AAEDBB62A5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276234fa0a8_0_7:notes">
            <a:extLst>
              <a:ext uri="{FF2B5EF4-FFF2-40B4-BE49-F238E27FC236}">
                <a16:creationId xmlns:a16="http://schemas.microsoft.com/office/drawing/2014/main" id="{15F6ED36-822F-FC74-5FDE-F18D47998B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5193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6234fa0a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76234fa0a8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276234fa0a8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8924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6417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8378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7431128cdc_0_6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7431128cdc_0_6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27431128cdc_0_6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0284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28319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a7509579c8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a7509579c8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9" name="Google Shape;529;ga7509579c8_0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96961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9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448" name="Google Shape;4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1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subTitle" idx="1"/>
          </p:nvPr>
        </p:nvSpPr>
        <p:spPr>
          <a:xfrm>
            <a:off x="1910080" y="1850064"/>
            <a:ext cx="9875200" cy="17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"/>
              <a:buNone/>
              <a:defRPr sz="2667" b="0" i="0" u="none" strike="noStrike" cap="none">
                <a:solidFill>
                  <a:srgbClr val="2A310F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Verdana"/>
              <a:buNone/>
              <a:defRPr sz="2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"/>
              <a:buNone/>
              <a:defRPr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32D2E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AA33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ftr" idx="11"/>
          </p:nvPr>
        </p:nvSpPr>
        <p:spPr>
          <a:xfrm>
            <a:off x="7518400" y="6400999"/>
            <a:ext cx="38608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sldNum" idx="12"/>
          </p:nvPr>
        </p:nvSpPr>
        <p:spPr>
          <a:xfrm>
            <a:off x="13309600" y="6305551"/>
            <a:ext cx="609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5"/>
          <p:cNvSpPr txBox="1">
            <a:spLocks noGrp="1"/>
          </p:cNvSpPr>
          <p:nvPr>
            <p:ph type="title"/>
          </p:nvPr>
        </p:nvSpPr>
        <p:spPr>
          <a:xfrm>
            <a:off x="1913467" y="838200"/>
            <a:ext cx="9999200" cy="5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344D6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6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body" idx="1"/>
          </p:nvPr>
        </p:nvSpPr>
        <p:spPr>
          <a:xfrm>
            <a:off x="838200" y="158636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60"/>
              <a:buChar char="⚫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27563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88570" y="2313986"/>
            <a:ext cx="8857808" cy="167993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7"/>
          <p:cNvSpPr txBox="1">
            <a:spLocks noGrp="1"/>
          </p:cNvSpPr>
          <p:nvPr>
            <p:ph type="ctrTitle"/>
          </p:nvPr>
        </p:nvSpPr>
        <p:spPr>
          <a:xfrm>
            <a:off x="2304999" y="2705259"/>
            <a:ext cx="8024949" cy="89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000"/>
              <a:buFont typeface="Gill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8326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2611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6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body" idx="1"/>
          </p:nvPr>
        </p:nvSpPr>
        <p:spPr>
          <a:xfrm>
            <a:off x="838200" y="158636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60"/>
              <a:buChar char="⚫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413025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Font typeface="Gill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8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75911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5" name="Google Shape;85;p5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60"/>
              <a:buChar char="⚫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5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7" name="Google Shape;87;p5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60"/>
              <a:buChar char="⚫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5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88654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0916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084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40"/>
              <a:buChar char="⚫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◦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5" name="Google Shape;95;p5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90342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2800"/>
              <a:buFont typeface="Verdana"/>
              <a:buNone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5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89973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5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5"/>
          <p:cNvSpPr txBox="1">
            <a:spLocks noGrp="1"/>
          </p:cNvSpPr>
          <p:nvPr>
            <p:ph type="body" idx="1"/>
          </p:nvPr>
        </p:nvSpPr>
        <p:spPr>
          <a:xfrm rot="5400000">
            <a:off x="3343391" y="-1652518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60"/>
              <a:buChar char="⚫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19031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60"/>
              <a:buChar char="⚫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4415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9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8" r:id="rId13"/>
    <p:sldLayoutId id="214748367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853141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5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  <a:defRPr sz="4300" b="0" i="0" u="none" strike="noStrike" cap="none">
                <a:solidFill>
                  <a:srgbClr val="0B53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body" idx="1"/>
          </p:nvPr>
        </p:nvSpPr>
        <p:spPr>
          <a:xfrm>
            <a:off x="261260" y="142961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08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45"/>
          <p:cNvSpPr txBox="1"/>
          <p:nvPr/>
        </p:nvSpPr>
        <p:spPr>
          <a:xfrm>
            <a:off x="1384662" y="6444476"/>
            <a:ext cx="30879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47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232D47"/>
                </a:solidFill>
                <a:latin typeface="Arial"/>
                <a:ea typeface="Arial"/>
                <a:cs typeface="Arial"/>
                <a:sym typeface="Arial"/>
              </a:rPr>
              <a:t>Performance Metrics for Classification</a:t>
            </a:r>
            <a:endParaRPr sz="1200" b="1" i="0" u="none" strike="noStrike" cap="none" dirty="0">
              <a:solidFill>
                <a:srgbClr val="232D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5"/>
          <p:cNvSpPr txBox="1"/>
          <p:nvPr/>
        </p:nvSpPr>
        <p:spPr>
          <a:xfrm>
            <a:off x="11279285" y="6413698"/>
            <a:ext cx="6139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232D47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rgbClr val="232D4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4097512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ctrTitle" idx="4294967295"/>
          </p:nvPr>
        </p:nvSpPr>
        <p:spPr>
          <a:xfrm>
            <a:off x="0" y="2057133"/>
            <a:ext cx="12192000" cy="3524800"/>
          </a:xfrm>
          <a:prstGeom prst="rect">
            <a:avLst/>
          </a:prstGeom>
          <a:noFill/>
          <a:ln>
            <a:noFill/>
          </a:ln>
          <a:effectLst>
            <a:outerShdw dist="2540000" dir="21540000" sx="1000" sy="1000" algn="ctr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Introduction </a:t>
            </a:r>
            <a:br>
              <a:rPr lang="en-IN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IN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to Classification </a:t>
            </a:r>
            <a:br>
              <a:rPr lang="en-IN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IN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br>
              <a:rPr lang="en-IN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IN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Applications of DL in CV</a:t>
            </a:r>
            <a:endParaRPr sz="5333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124DDD-9F76-D646-86D5-9993D91E63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FEBFDDB0-E094-C26E-1A37-7586852CD5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sz="4000" dirty="0">
                <a:solidFill>
                  <a:srgbClr val="002060"/>
                </a:solidFill>
                <a:latin typeface="Gill Sans" panose="020B0604020202020204" charset="0"/>
              </a:rPr>
              <a:t>Contents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5" name="Google Shape;117;p2">
            <a:extLst>
              <a:ext uri="{FF2B5EF4-FFF2-40B4-BE49-F238E27FC236}">
                <a16:creationId xmlns:a16="http://schemas.microsoft.com/office/drawing/2014/main" id="{E4ABDF2C-CBFD-968D-02E1-3F5AF60E6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6550"/>
            <a:ext cx="10515600" cy="452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36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Introduction to Classification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36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Classification Workflow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SzPts val="1736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Data Collection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SzPts val="1736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Data Preparation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SzPts val="1736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Building Classifier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SzPts val="1736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Assessing Classifier</a:t>
            </a:r>
          </a:p>
          <a:p>
            <a:pPr marL="342900" lvl="0">
              <a:lnSpc>
                <a:spcPct val="100000"/>
              </a:lnSpc>
              <a:buSzPts val="1736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Applications of DL in Computer Vision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36"/>
              <a:buNone/>
            </a:pPr>
            <a:endParaRPr lang="en-IN" sz="28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41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76234fa0a8_0_22"/>
          <p:cNvSpPr txBox="1">
            <a:spLocks noGrp="1"/>
          </p:cNvSpPr>
          <p:nvPr>
            <p:ph type="body" idx="1"/>
          </p:nvPr>
        </p:nvSpPr>
        <p:spPr>
          <a:xfrm>
            <a:off x="415600" y="2111828"/>
            <a:ext cx="6621637" cy="43954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Examples:</a:t>
            </a:r>
            <a:endParaRPr sz="2600" dirty="0">
              <a:solidFill>
                <a:srgbClr val="0070C0"/>
              </a:solidFill>
              <a:latin typeface="Gill Sans" panose="020B0604020202020204" charset="0"/>
            </a:endParaRPr>
          </a:p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Given batting stats, classifying whether a batsman is good or average or bad</a:t>
            </a:r>
          </a:p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Given subject and body of email, classifying it as a normal or spam</a:t>
            </a:r>
          </a:p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Given details of a financial transaction, classifying it to be genuine or fraudulent</a:t>
            </a:r>
          </a:p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Given the images of a tumour, classifying it to be benign or malignant </a:t>
            </a:r>
          </a:p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Given the parameters of a process in an industry, classifying whether there is fault in the process or not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SzPts val="2240"/>
              <a:buNone/>
            </a:pPr>
            <a:endParaRPr lang="en-IN" sz="22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  </a:t>
            </a:r>
            <a:endParaRPr sz="26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sp>
        <p:nvSpPr>
          <p:cNvPr id="158" name="Google Shape;158;g276234fa0a8_0_2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54D2B-6DE8-2857-4E27-BF294E8C39FC}"/>
              </a:ext>
            </a:extLst>
          </p:cNvPr>
          <p:cNvSpPr txBox="1"/>
          <p:nvPr/>
        </p:nvSpPr>
        <p:spPr>
          <a:xfrm>
            <a:off x="1834193" y="297695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Intro to Classification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B710D-663C-85E7-D2C9-384AA2DA9EBE}"/>
              </a:ext>
            </a:extLst>
          </p:cNvPr>
          <p:cNvSpPr txBox="1"/>
          <p:nvPr/>
        </p:nvSpPr>
        <p:spPr>
          <a:xfrm>
            <a:off x="7037237" y="3891547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2A4CAB-A9FC-D8DC-78D2-87F36F67AD16}"/>
              </a:ext>
            </a:extLst>
          </p:cNvPr>
          <p:cNvSpPr txBox="1"/>
          <p:nvPr/>
        </p:nvSpPr>
        <p:spPr>
          <a:xfrm>
            <a:off x="10433907" y="3844497"/>
            <a:ext cx="1736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 class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22048-F3CA-06C4-1F72-CB04796442E4}"/>
              </a:ext>
            </a:extLst>
          </p:cNvPr>
          <p:cNvSpPr txBox="1"/>
          <p:nvPr/>
        </p:nvSpPr>
        <p:spPr>
          <a:xfrm>
            <a:off x="8610146" y="2796397"/>
            <a:ext cx="1486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Classifier</a:t>
            </a:r>
            <a:endParaRPr lang="en-US" sz="28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491D8-0DC0-2B21-5F55-B4BAD0F5368D}"/>
              </a:ext>
            </a:extLst>
          </p:cNvPr>
          <p:cNvSpPr/>
          <p:nvPr/>
        </p:nvSpPr>
        <p:spPr>
          <a:xfrm>
            <a:off x="8426219" y="3733453"/>
            <a:ext cx="1899920" cy="12395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Input-Output Relation</a:t>
            </a:r>
          </a:p>
          <a:p>
            <a:pPr algn="ctr"/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B5C53B-168F-E6DA-05EF-D0716AF54924}"/>
              </a:ext>
            </a:extLst>
          </p:cNvPr>
          <p:cNvCxnSpPr>
            <a:stCxn id="5" idx="2"/>
            <a:endCxn id="8" idx="1"/>
          </p:cNvCxnSpPr>
          <p:nvPr/>
        </p:nvCxnSpPr>
        <p:spPr>
          <a:xfrm>
            <a:off x="7462194" y="4353212"/>
            <a:ext cx="96402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6285FDD-BA16-9B1F-651E-B1DCD1EB22CA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0326139" y="4353213"/>
            <a:ext cx="14941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A9461BA-2060-04C6-B052-DB80924CC685}"/>
              </a:ext>
            </a:extLst>
          </p:cNvPr>
          <p:cNvSpPr/>
          <p:nvPr/>
        </p:nvSpPr>
        <p:spPr>
          <a:xfrm>
            <a:off x="7037237" y="3429000"/>
            <a:ext cx="5154763" cy="183968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A38345-2512-977E-2765-B17B35F07EE9}"/>
              </a:ext>
            </a:extLst>
          </p:cNvPr>
          <p:cNvSpPr txBox="1"/>
          <p:nvPr/>
        </p:nvSpPr>
        <p:spPr>
          <a:xfrm>
            <a:off x="778739" y="1222530"/>
            <a:ext cx="106345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Gill Sans" panose="020B0604020202020204" charset="0"/>
              </a:rPr>
              <a:t>Classification is the process of identifying distinct groups or classes of data based on their features or characteristics.</a:t>
            </a:r>
          </a:p>
        </p:txBody>
      </p:sp>
    </p:spTree>
    <p:extLst>
      <p:ext uri="{BB962C8B-B14F-4D97-AF65-F5344CB8AC3E}">
        <p14:creationId xmlns:p14="http://schemas.microsoft.com/office/powerpoint/2010/main" val="65198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76234fa0a8_0_22"/>
          <p:cNvSpPr txBox="1">
            <a:spLocks noGrp="1"/>
          </p:cNvSpPr>
          <p:nvPr>
            <p:ph type="body" idx="1"/>
          </p:nvPr>
        </p:nvSpPr>
        <p:spPr>
          <a:xfrm>
            <a:off x="415600" y="1621971"/>
            <a:ext cx="6331983" cy="3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>
              <a:lnSpc>
                <a:spcPct val="100000"/>
              </a:lnSpc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Question: 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What is the need for learning?</a:t>
            </a:r>
          </a:p>
          <a:p>
            <a:pPr indent="-457200">
              <a:lnSpc>
                <a:spcPct val="100000"/>
              </a:lnSpc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Answer: 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Input-Output relation is not known in most of the cases</a:t>
            </a:r>
          </a:p>
          <a:p>
            <a:pPr indent="-457200">
              <a:lnSpc>
                <a:spcPct val="100000"/>
              </a:lnSpc>
            </a:pP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Learn input-output relation from input-output data</a:t>
            </a:r>
          </a:p>
          <a:p>
            <a:pPr indent="-457200">
              <a:lnSpc>
                <a:spcPct val="100000"/>
              </a:lnSpc>
            </a:pP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Having relevant input features and relevant data is important to learning a good classifier</a:t>
            </a:r>
          </a:p>
          <a:p>
            <a:pPr indent="-457200">
              <a:lnSpc>
                <a:spcPct val="100000"/>
              </a:lnSpc>
            </a:pPr>
            <a:endParaRPr lang="en-IN" sz="22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  </a:t>
            </a:r>
            <a:endParaRPr sz="26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sp>
        <p:nvSpPr>
          <p:cNvPr id="158" name="Google Shape;158;g276234fa0a8_0_2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54D2B-6DE8-2857-4E27-BF294E8C39FC}"/>
              </a:ext>
            </a:extLst>
          </p:cNvPr>
          <p:cNvSpPr txBox="1"/>
          <p:nvPr/>
        </p:nvSpPr>
        <p:spPr>
          <a:xfrm>
            <a:off x="1784574" y="230926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Learning for Classification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B710D-663C-85E7-D2C9-384AA2DA9EBE}"/>
              </a:ext>
            </a:extLst>
          </p:cNvPr>
          <p:cNvSpPr txBox="1"/>
          <p:nvPr/>
        </p:nvSpPr>
        <p:spPr>
          <a:xfrm>
            <a:off x="6747583" y="3271062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2A4CAB-A9FC-D8DC-78D2-87F36F67AD16}"/>
              </a:ext>
            </a:extLst>
          </p:cNvPr>
          <p:cNvSpPr txBox="1"/>
          <p:nvPr/>
        </p:nvSpPr>
        <p:spPr>
          <a:xfrm>
            <a:off x="10144253" y="3224012"/>
            <a:ext cx="1736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 class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22048-F3CA-06C4-1F72-CB04796442E4}"/>
              </a:ext>
            </a:extLst>
          </p:cNvPr>
          <p:cNvSpPr txBox="1"/>
          <p:nvPr/>
        </p:nvSpPr>
        <p:spPr>
          <a:xfrm>
            <a:off x="8136565" y="1908433"/>
            <a:ext cx="1677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Classifier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491D8-0DC0-2B21-5F55-B4BAD0F5368D}"/>
              </a:ext>
            </a:extLst>
          </p:cNvPr>
          <p:cNvSpPr/>
          <p:nvPr/>
        </p:nvSpPr>
        <p:spPr>
          <a:xfrm>
            <a:off x="8136565" y="3112968"/>
            <a:ext cx="1899920" cy="12395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Input-Output Relation</a:t>
            </a:r>
          </a:p>
          <a:p>
            <a:pPr algn="ctr"/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B5C53B-168F-E6DA-05EF-D0716AF54924}"/>
              </a:ext>
            </a:extLst>
          </p:cNvPr>
          <p:cNvCxnSpPr>
            <a:stCxn id="5" idx="2"/>
            <a:endCxn id="8" idx="1"/>
          </p:cNvCxnSpPr>
          <p:nvPr/>
        </p:nvCxnSpPr>
        <p:spPr>
          <a:xfrm>
            <a:off x="7172540" y="3732727"/>
            <a:ext cx="96402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6285FDD-BA16-9B1F-651E-B1DCD1EB22CA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0036485" y="3732728"/>
            <a:ext cx="14941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A1C45E6-DA69-C3D8-A2D6-7B642FFD70A6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9086525" y="4352488"/>
            <a:ext cx="18871" cy="1068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BC27AA5-C27D-94C6-0439-8E1CC80644DB}"/>
              </a:ext>
            </a:extLst>
          </p:cNvPr>
          <p:cNvSpPr txBox="1"/>
          <p:nvPr/>
        </p:nvSpPr>
        <p:spPr>
          <a:xfrm>
            <a:off x="9105396" y="4970695"/>
            <a:ext cx="2381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Feedback: Input-Output data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24F7FC-CB32-9657-8AC7-5187EB43F93C}"/>
              </a:ext>
            </a:extLst>
          </p:cNvPr>
          <p:cNvSpPr/>
          <p:nvPr/>
        </p:nvSpPr>
        <p:spPr>
          <a:xfrm>
            <a:off x="6747583" y="2808515"/>
            <a:ext cx="5154763" cy="183968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6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76234fa0a8_0_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7FFEC9-6DA3-7ADA-1C61-A0D5DEBB5F92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Classification Workflow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78AD3F6-AB0C-9DC1-9474-DAB66D7FA0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3870054"/>
              </p:ext>
            </p:extLst>
          </p:nvPr>
        </p:nvGraphicFramePr>
        <p:xfrm>
          <a:off x="649515" y="1121230"/>
          <a:ext cx="10519228" cy="5621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7068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2857188-87C7-4B13-A9A0-6B4FC476C6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A2857188-87C7-4B13-A9A0-6B4FC476C6B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091D8E4-0696-4FA0-B591-806E15E2CA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graphicEl>
                                              <a:dgm id="{E091D8E4-0696-4FA0-B591-806E15E2CA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54B0165-B1F8-4114-9A68-6D50E0844D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graphicEl>
                                              <a:dgm id="{454B0165-B1F8-4114-9A68-6D50E0844D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9112E16-E603-4827-B531-8F3DF793E5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graphicEl>
                                              <a:dgm id="{59112E16-E603-4827-B531-8F3DF793E5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AC569D5-D34C-476D-9FCE-DC406E3764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graphicEl>
                                              <a:dgm id="{9AC569D5-D34C-476D-9FCE-DC406E3764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0B1F3FD-4A7B-4EB9-ABDB-620B0659A2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graphicEl>
                                              <a:dgm id="{E0B1F3FD-4A7B-4EB9-ABDB-620B0659A2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7BE4FA9-3A8B-41B5-99FB-79C09630D2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graphicEl>
                                              <a:dgm id="{77BE4FA9-3A8B-41B5-99FB-79C09630D2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2CF5441-CAE3-4F01-9D6B-6A83BC70BF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graphicEl>
                                              <a:dgm id="{B2CF5441-CAE3-4F01-9D6B-6A83BC70BF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99586E68-1A80-A813-5502-7F044525E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76234fa0a8_0_7">
            <a:extLst>
              <a:ext uri="{FF2B5EF4-FFF2-40B4-BE49-F238E27FC236}">
                <a16:creationId xmlns:a16="http://schemas.microsoft.com/office/drawing/2014/main" id="{4096E154-6779-3EA0-0EB6-438818AB3B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99A3D-3BC3-1782-0A8D-D4C6978AC30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Data Collection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" name="Google Shape;128;p4">
            <a:extLst>
              <a:ext uri="{FF2B5EF4-FFF2-40B4-BE49-F238E27FC236}">
                <a16:creationId xmlns:a16="http://schemas.microsoft.com/office/drawing/2014/main" id="{90E59B14-52BD-D6DF-B56D-2EA54292B6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99456" y="1172710"/>
            <a:ext cx="9808029" cy="5004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46088" lvl="1" indent="-358775">
              <a:lnSpc>
                <a:spcPct val="100000"/>
              </a:lnSpc>
              <a:spcBef>
                <a:spcPts val="0"/>
              </a:spcBef>
              <a:buSzPts val="224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Data required for to build a classifier depends on what exactly is the classification problem</a:t>
            </a:r>
          </a:p>
          <a:p>
            <a:pPr marL="446088" lvl="1" indent="-358775">
              <a:lnSpc>
                <a:spcPct val="100000"/>
              </a:lnSpc>
              <a:spcBef>
                <a:spcPts val="0"/>
              </a:spcBef>
              <a:buSzPts val="2240"/>
              <a:buFont typeface="Wingdings" panose="05000000000000000000" pitchFamily="2" charset="2"/>
              <a:buChar char="Ø"/>
            </a:pPr>
            <a:endParaRPr sz="24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7C9E2E-14E1-822D-AA26-2B962F5F0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839934"/>
              </p:ext>
            </p:extLst>
          </p:nvPr>
        </p:nvGraphicFramePr>
        <p:xfrm>
          <a:off x="1485851" y="2165531"/>
          <a:ext cx="9421635" cy="4052092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3140545">
                  <a:extLst>
                    <a:ext uri="{9D8B030D-6E8A-4147-A177-3AD203B41FA5}">
                      <a16:colId xmlns:a16="http://schemas.microsoft.com/office/drawing/2014/main" val="453595662"/>
                    </a:ext>
                  </a:extLst>
                </a:gridCol>
                <a:gridCol w="3140545">
                  <a:extLst>
                    <a:ext uri="{9D8B030D-6E8A-4147-A177-3AD203B41FA5}">
                      <a16:colId xmlns:a16="http://schemas.microsoft.com/office/drawing/2014/main" val="775131937"/>
                    </a:ext>
                  </a:extLst>
                </a:gridCol>
                <a:gridCol w="3140545">
                  <a:extLst>
                    <a:ext uri="{9D8B030D-6E8A-4147-A177-3AD203B41FA5}">
                      <a16:colId xmlns:a16="http://schemas.microsoft.com/office/drawing/2014/main" val="3866722813"/>
                    </a:ext>
                  </a:extLst>
                </a:gridCol>
              </a:tblGrid>
              <a:tr h="435004"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70C0"/>
                          </a:solidFill>
                        </a:rPr>
                        <a:t>Classification Problem</a:t>
                      </a:r>
                      <a:endParaRPr lang="en-US" sz="16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0070C0"/>
                          </a:solidFill>
                        </a:rPr>
                        <a:t>Data to be Collected/Sampled</a:t>
                      </a:r>
                      <a:endParaRPr lang="en-US" sz="16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278146"/>
                  </a:ext>
                </a:extLst>
              </a:tr>
              <a:tr h="43500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Input </a:t>
                      </a:r>
                      <a:endParaRPr lang="en-US" sz="1600" b="1" i="0" u="none" strike="noStrike" cap="none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92D05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u="none" strike="noStrike" cap="none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Output</a:t>
                      </a:r>
                      <a:endParaRPr lang="en-US" sz="1600" b="1" i="0" u="none" strike="noStrike" cap="none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92D05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351626"/>
                  </a:ext>
                </a:extLst>
              </a:tr>
              <a:tr h="858090">
                <a:tc>
                  <a:txBody>
                    <a:bodyPr/>
                    <a:lstStyle/>
                    <a:p>
                      <a:r>
                        <a:rPr lang="en-IN" sz="1600" dirty="0"/>
                        <a:t>Classifying whether a batsman is good, average, bad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Batting stats such as average, strike rate, number of 50s and 100s, etc. of many batsmen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Whether batsman is good, average or bad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512723"/>
                  </a:ext>
                </a:extLst>
              </a:tr>
              <a:tr h="607814">
                <a:tc>
                  <a:txBody>
                    <a:bodyPr/>
                    <a:lstStyle/>
                    <a:p>
                      <a:r>
                        <a:rPr lang="en-IN" sz="1600" dirty="0"/>
                        <a:t>Classification of email as spam or not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Subject and body of the email of many emails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Whether email is spam or not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08653"/>
                  </a:ext>
                </a:extLst>
              </a:tr>
              <a:tr h="858090">
                <a:tc>
                  <a:txBody>
                    <a:bodyPr/>
                    <a:lstStyle/>
                    <a:p>
                      <a:r>
                        <a:rPr lang="en-IN" sz="1600" dirty="0"/>
                        <a:t>Classification of financial transactions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Transaction amount, time of transaction, date of transaction, place of transaction, etc.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Whether transaction is fraud or genuine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30071"/>
                  </a:ext>
                </a:extLst>
              </a:tr>
              <a:tr h="858090">
                <a:tc>
                  <a:txBody>
                    <a:bodyPr/>
                    <a:lstStyle/>
                    <a:p>
                      <a:r>
                        <a:rPr lang="en-IN" sz="1600" dirty="0"/>
                        <a:t>Classification of tumours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Size and Colour of tumour, symptoms, other medical conditions, etc.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Whether tumour is malignant or benign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396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852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76234fa0a8_0_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3" name="Google Shape;127;p4">
            <a:extLst>
              <a:ext uri="{FF2B5EF4-FFF2-40B4-BE49-F238E27FC236}">
                <a16:creationId xmlns:a16="http://schemas.microsoft.com/office/drawing/2014/main" id="{1C98C9AE-95C4-155D-C226-78A129418F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</a:pPr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Soft vs Hard Predictions in Classification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5" name="Google Shape;128;p4">
            <a:extLst>
              <a:ext uri="{FF2B5EF4-FFF2-40B4-BE49-F238E27FC236}">
                <a16:creationId xmlns:a16="http://schemas.microsoft.com/office/drawing/2014/main" id="{1538211A-583E-DEE8-9F23-ED6771B7C1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7680" y="1172710"/>
            <a:ext cx="6392091" cy="5004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lnSpc>
                <a:spcPct val="100000"/>
              </a:lnSpc>
              <a:spcBef>
                <a:spcPts val="0"/>
              </a:spcBef>
              <a:buSzPts val="2240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rgbClr val="0070C0"/>
                </a:solidFill>
                <a:latin typeface="Gill Sans" panose="020B0604020202020204" charset="0"/>
              </a:rPr>
              <a:t>Soft Prediction: </a:t>
            </a: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Classifier predicts the probability of a data point belonging to a each of the target classes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2240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rgbClr val="0070C0"/>
                </a:solidFill>
                <a:latin typeface="Gill Sans" panose="020B0604020202020204" charset="0"/>
              </a:rPr>
              <a:t>Hard Prediction: </a:t>
            </a: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Classifier predicts the class that the data point might belong to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2240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Soft prediction gives more information on the confidence of the classifier in the prediction made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2240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Soft prediction can be turned into a hard prediction by setting a probability threshold</a:t>
            </a:r>
            <a:endParaRPr sz="26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09C280-1F19-4CBC-E232-99A1A69C38E1}"/>
                  </a:ext>
                </a:extLst>
              </p:cNvPr>
              <p:cNvSpPr txBox="1"/>
              <p:nvPr/>
            </p:nvSpPr>
            <p:spPr>
              <a:xfrm>
                <a:off x="7338420" y="1388279"/>
                <a:ext cx="4554580" cy="45734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2000" dirty="0">
                    <a:solidFill>
                      <a:srgbClr val="002060"/>
                    </a:solidFill>
                    <a:latin typeface="Gill Sans" panose="020B0604020202020204" charset="0"/>
                    <a:cs typeface="Calibri" panose="020F0502020204030204" pitchFamily="34" charset="0"/>
                  </a:rPr>
                  <a:t>Eg: Predicting whether a transaction is fraud or genuine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:</m:t>
                    </m:r>
                  </m:oMath>
                </a14:m>
                <a:r>
                  <a:rPr lang="en-IN" sz="2000" dirty="0">
                    <a:solidFill>
                      <a:srgbClr val="002060"/>
                    </a:solidFill>
                    <a:latin typeface="Gill Sans" panose="020B0604020202020204" charset="0"/>
                    <a:cs typeface="Calibri" panose="020F0502020204030204" pitchFamily="34" charset="0"/>
                  </a:rPr>
                  <a:t> Probability that transaction is genuine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:</m:t>
                    </m:r>
                  </m:oMath>
                </a14:m>
                <a:r>
                  <a:rPr lang="en-IN" sz="2000" dirty="0">
                    <a:solidFill>
                      <a:srgbClr val="002060"/>
                    </a:solidFill>
                    <a:latin typeface="Gill Sans" panose="020B0604020202020204" charset="0"/>
                    <a:cs typeface="Calibri" panose="020F0502020204030204" pitchFamily="34" charset="0"/>
                  </a:rPr>
                  <a:t> Probability that transaction is fraud</a:t>
                </a:r>
              </a:p>
              <a:p>
                <a:r>
                  <a:rPr lang="en-IN" sz="2000" dirty="0">
                    <a:solidFill>
                      <a:srgbClr val="002060"/>
                    </a:solidFill>
                    <a:latin typeface="Gill Sans" panose="020B0604020202020204" charset="0"/>
                    <a:cs typeface="Calibri" panose="020F0502020204030204" pitchFamily="34" charset="0"/>
                  </a:rPr>
                  <a:t>Soft predictions: </a:t>
                </a:r>
              </a:p>
              <a:p>
                <a:r>
                  <a:rPr lang="en-IN" sz="2000" dirty="0">
                    <a:solidFill>
                      <a:srgbClr val="002060"/>
                    </a:solidFill>
                    <a:latin typeface="Gill Sans" panose="020B0604020202020204" charset="0"/>
                    <a:cs typeface="Calibri" panose="020F0502020204030204" pitchFamily="34" charset="0"/>
                  </a:rPr>
                  <a:t>Sample 1: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IN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0</m:t>
                              </m:r>
                              <m:r>
                                <a:rPr lang="en-IN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.9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0.1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000" dirty="0">
                  <a:solidFill>
                    <a:srgbClr val="002060"/>
                  </a:solidFill>
                  <a:latin typeface="Gill Sans" panose="020B0604020202020204" charset="0"/>
                  <a:cs typeface="Calibri" panose="020F0502020204030204" pitchFamily="34" charset="0"/>
                </a:endParaRPr>
              </a:p>
              <a:p>
                <a:r>
                  <a:rPr lang="en-IN" sz="2000" dirty="0">
                    <a:solidFill>
                      <a:srgbClr val="002060"/>
                    </a:solidFill>
                    <a:latin typeface="Gill Sans" panose="020B0604020202020204" charset="0"/>
                    <a:cs typeface="Calibri" panose="020F0502020204030204" pitchFamily="34" charset="0"/>
                  </a:rPr>
                  <a:t>Sample 2: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IN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0</m:t>
                              </m:r>
                              <m:r>
                                <a:rPr lang="en-IN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.55</m:t>
                              </m:r>
                            </m:e>
                          </m:mr>
                          <m:mr>
                            <m:e>
                              <m:r>
                                <a:rPr lang="en-IN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0.45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000" dirty="0">
                  <a:solidFill>
                    <a:srgbClr val="002060"/>
                  </a:solidFill>
                  <a:latin typeface="Gill Sans" panose="020B0604020202020204" charset="0"/>
                  <a:cs typeface="Calibri" panose="020F0502020204030204" pitchFamily="34" charset="0"/>
                </a:endParaRPr>
              </a:p>
              <a:p>
                <a:r>
                  <a:rPr lang="en-IN" sz="2000" dirty="0">
                    <a:solidFill>
                      <a:srgbClr val="002060"/>
                    </a:solidFill>
                    <a:latin typeface="Gill Sans" panose="020B0604020202020204" charset="0"/>
                    <a:cs typeface="Calibri" panose="020F0502020204030204" pitchFamily="34" charset="0"/>
                  </a:rPr>
                  <a:t>Hard predictions with Threshold = 0.5: Sample 1 – Genuine</a:t>
                </a:r>
              </a:p>
              <a:p>
                <a:r>
                  <a:rPr lang="en-IN" sz="2000" dirty="0">
                    <a:solidFill>
                      <a:srgbClr val="002060"/>
                    </a:solidFill>
                    <a:latin typeface="Gill Sans" panose="020B0604020202020204" charset="0"/>
                    <a:cs typeface="Calibri" panose="020F0502020204030204" pitchFamily="34" charset="0"/>
                  </a:rPr>
                  <a:t>Sample 2 -  Genuine</a:t>
                </a:r>
              </a:p>
              <a:p>
                <a:r>
                  <a:rPr lang="en-IN" sz="2000" dirty="0">
                    <a:solidFill>
                      <a:srgbClr val="002060"/>
                    </a:solidFill>
                    <a:latin typeface="Gill Sans" panose="020B0604020202020204" charset="0"/>
                    <a:cs typeface="Calibri" panose="020F0502020204030204" pitchFamily="34" charset="0"/>
                  </a:rPr>
                  <a:t> Hard predictions with Threshold = 0.6: Sample 1 – Genuine</a:t>
                </a:r>
              </a:p>
              <a:p>
                <a:r>
                  <a:rPr lang="en-IN" sz="2000" dirty="0">
                    <a:solidFill>
                      <a:srgbClr val="002060"/>
                    </a:solidFill>
                    <a:latin typeface="Gill Sans" panose="020B0604020202020204" charset="0"/>
                    <a:cs typeface="Calibri" panose="020F0502020204030204" pitchFamily="34" charset="0"/>
                  </a:rPr>
                  <a:t>Sample 2 -  Fraud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09C280-1F19-4CBC-E232-99A1A69C3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8420" y="1388279"/>
                <a:ext cx="4554580" cy="4573431"/>
              </a:xfrm>
              <a:prstGeom prst="rect">
                <a:avLst/>
              </a:prstGeom>
              <a:blipFill>
                <a:blip r:embed="rId3"/>
                <a:stretch>
                  <a:fillRect l="-1335" t="-665" b="-13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715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dirty="0"/>
              <a:t>Assess Classifier Performance</a:t>
            </a:r>
            <a:endParaRPr dirty="0"/>
          </a:p>
        </p:txBody>
      </p:sp>
      <p:sp>
        <p:nvSpPr>
          <p:cNvPr id="128" name="Google Shape;128;p4"/>
          <p:cNvSpPr txBox="1">
            <a:spLocks noGrp="1"/>
          </p:cNvSpPr>
          <p:nvPr>
            <p:ph type="body" idx="1"/>
          </p:nvPr>
        </p:nvSpPr>
        <p:spPr>
          <a:xfrm>
            <a:off x="579120" y="1524000"/>
            <a:ext cx="9834880" cy="44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lnSpc>
                <a:spcPct val="11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</a:rPr>
              <a:t>Ideally, the classifier should predict the class labels of all the samples without any errors</a:t>
            </a:r>
          </a:p>
          <a:p>
            <a:pPr indent="-457200">
              <a:lnSpc>
                <a:spcPct val="11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</a:rPr>
              <a:t>Since errors are inevitable, one needs to track for how many samples, the class labels are predicted correctly and for how many the predicted labels are erroneous </a:t>
            </a:r>
          </a:p>
          <a:p>
            <a:pPr indent="-457200">
              <a:lnSpc>
                <a:spcPct val="11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</a:rPr>
              <a:t>Error tracking is done using </a:t>
            </a:r>
            <a:r>
              <a:rPr lang="en-IN" sz="2600" dirty="0">
                <a:solidFill>
                  <a:srgbClr val="0070C0"/>
                </a:solidFill>
              </a:rPr>
              <a:t>Confusion Matrix</a:t>
            </a:r>
          </a:p>
          <a:p>
            <a:pPr indent="-457200">
              <a:lnSpc>
                <a:spcPct val="11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endParaRPr sz="2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23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dirty="0"/>
              <a:t>Confusion Matrix</a:t>
            </a:r>
            <a:endParaRPr dirty="0"/>
          </a:p>
        </p:txBody>
      </p:sp>
      <p:sp>
        <p:nvSpPr>
          <p:cNvPr id="128" name="Google Shape;128;p4"/>
          <p:cNvSpPr txBox="1">
            <a:spLocks noGrp="1"/>
          </p:cNvSpPr>
          <p:nvPr>
            <p:ph type="body" idx="1"/>
          </p:nvPr>
        </p:nvSpPr>
        <p:spPr>
          <a:xfrm>
            <a:off x="579120" y="1524000"/>
            <a:ext cx="9834880" cy="136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457200">
              <a:lnSpc>
                <a:spcPct val="11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</a:rPr>
              <a:t>A table or a matrix with different combinations of predicted and actual values for different classes for a given probability threshold</a:t>
            </a:r>
          </a:p>
          <a:p>
            <a:pPr indent="-457200">
              <a:lnSpc>
                <a:spcPct val="11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</a:rPr>
              <a:t>For a binary classification task, the confusion matrix is: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SzPts val="2240"/>
              <a:buNone/>
            </a:pPr>
            <a:endParaRPr lang="en-IN" sz="2600" dirty="0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SzPts val="2240"/>
              <a:buNone/>
            </a:pPr>
            <a:endParaRPr sz="2600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AC0E82-7CF2-4DF3-AF7B-CB1E241F82F5}"/>
              </a:ext>
            </a:extLst>
          </p:cNvPr>
          <p:cNvGrpSpPr/>
          <p:nvPr/>
        </p:nvGrpSpPr>
        <p:grpSpPr>
          <a:xfrm>
            <a:off x="4393107" y="3781222"/>
            <a:ext cx="5633045" cy="2396333"/>
            <a:chOff x="4243388" y="3677420"/>
            <a:chExt cx="4724400" cy="15697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989D39-A14B-408D-A459-FC57378F284D}"/>
                </a:ext>
              </a:extLst>
            </p:cNvPr>
            <p:cNvSpPr/>
            <p:nvPr/>
          </p:nvSpPr>
          <p:spPr>
            <a:xfrm>
              <a:off x="4243388" y="3677420"/>
              <a:ext cx="4724400" cy="156972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62BF575-ED0F-46CF-9D3E-D3F8E3FBB0EB}"/>
                </a:ext>
              </a:extLst>
            </p:cNvPr>
            <p:cNvCxnSpPr>
              <a:cxnSpLocks/>
              <a:stCxn id="3" idx="0"/>
              <a:endCxn id="3" idx="2"/>
            </p:cNvCxnSpPr>
            <p:nvPr/>
          </p:nvCxnSpPr>
          <p:spPr>
            <a:xfrm>
              <a:off x="6605588" y="3677420"/>
              <a:ext cx="0" cy="15697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D447E43-87A5-4D2F-B81F-889E9AFC13A5}"/>
                </a:ext>
              </a:extLst>
            </p:cNvPr>
            <p:cNvCxnSpPr>
              <a:cxnSpLocks/>
              <a:stCxn id="3" idx="1"/>
              <a:endCxn id="3" idx="3"/>
            </p:cNvCxnSpPr>
            <p:nvPr/>
          </p:nvCxnSpPr>
          <p:spPr>
            <a:xfrm>
              <a:off x="4243388" y="4462280"/>
              <a:ext cx="47244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5D614B-5699-4D11-8B52-6260A6279F22}"/>
                </a:ext>
              </a:extLst>
            </p:cNvPr>
            <p:cNvSpPr txBox="1"/>
            <p:nvPr/>
          </p:nvSpPr>
          <p:spPr>
            <a:xfrm>
              <a:off x="4517389" y="3838892"/>
              <a:ext cx="1784325" cy="423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# Samples Correctly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Classified as Class 0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7D563BE-005C-466E-AA56-E16F0C5B8887}"/>
                </a:ext>
              </a:extLst>
            </p:cNvPr>
            <p:cNvSpPr txBox="1"/>
            <p:nvPr/>
          </p:nvSpPr>
          <p:spPr>
            <a:xfrm>
              <a:off x="6876960" y="4640898"/>
              <a:ext cx="1784325" cy="423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# Samples Correctly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Classified as Class 1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620DDDE-3472-48F1-B8A2-E83124171209}"/>
                </a:ext>
              </a:extLst>
            </p:cNvPr>
            <p:cNvSpPr txBox="1"/>
            <p:nvPr/>
          </p:nvSpPr>
          <p:spPr>
            <a:xfrm>
              <a:off x="6935167" y="3860284"/>
              <a:ext cx="1757437" cy="423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 Samples Wrongly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Classified a</a:t>
              </a: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s Class 0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F1D5661-8916-4178-8AF9-2913486BC5A8}"/>
                </a:ext>
              </a:extLst>
            </p:cNvPr>
            <p:cNvSpPr txBox="1"/>
            <p:nvPr/>
          </p:nvSpPr>
          <p:spPr>
            <a:xfrm>
              <a:off x="4563288" y="4603844"/>
              <a:ext cx="1752059" cy="423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 Samples Wrongly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Classified a</a:t>
              </a: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s Class 1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531381C5-B338-4A2C-B8E9-AF8AD597B45B}"/>
              </a:ext>
            </a:extLst>
          </p:cNvPr>
          <p:cNvSpPr txBox="1"/>
          <p:nvPr/>
        </p:nvSpPr>
        <p:spPr>
          <a:xfrm>
            <a:off x="3298574" y="4157626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73D1F0B-42B8-43E5-B5CA-B934C74BA791}"/>
              </a:ext>
            </a:extLst>
          </p:cNvPr>
          <p:cNvSpPr txBox="1"/>
          <p:nvPr/>
        </p:nvSpPr>
        <p:spPr>
          <a:xfrm>
            <a:off x="3298573" y="5334000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 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C10B9B2-ACEF-4697-9A72-7AC5DC804432}"/>
              </a:ext>
            </a:extLst>
          </p:cNvPr>
          <p:cNvSpPr txBox="1"/>
          <p:nvPr/>
        </p:nvSpPr>
        <p:spPr>
          <a:xfrm>
            <a:off x="7562644" y="3287361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 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C0F1513-296F-40FA-8E16-E26046EB99CE}"/>
              </a:ext>
            </a:extLst>
          </p:cNvPr>
          <p:cNvSpPr txBox="1"/>
          <p:nvPr/>
        </p:nvSpPr>
        <p:spPr>
          <a:xfrm>
            <a:off x="5213731" y="3341222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 0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BD8EF30-7A50-4F4E-839E-AF2D5D443A75}"/>
              </a:ext>
            </a:extLst>
          </p:cNvPr>
          <p:cNvSpPr txBox="1"/>
          <p:nvPr/>
        </p:nvSpPr>
        <p:spPr>
          <a:xfrm>
            <a:off x="6399404" y="2879557"/>
            <a:ext cx="1935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Actual Values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94CC9BC-0EEA-49A3-A86E-A0E689C4D654}"/>
              </a:ext>
            </a:extLst>
          </p:cNvPr>
          <p:cNvSpPr txBox="1"/>
          <p:nvPr/>
        </p:nvSpPr>
        <p:spPr>
          <a:xfrm rot="16200000">
            <a:off x="1711588" y="4748555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Predicted Values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3" grpId="0"/>
      <p:bldP spid="95" grpId="0"/>
      <p:bldP spid="97" grpId="0"/>
      <p:bldP spid="98" grpId="0"/>
      <p:bldP spid="9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dirty="0"/>
              <a:t>Building a Confusion Matrix: Example</a:t>
            </a:r>
            <a:endParaRPr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0D6E27-620F-46F4-A109-59984218FE24}"/>
              </a:ext>
            </a:extLst>
          </p:cNvPr>
          <p:cNvGrpSpPr/>
          <p:nvPr/>
        </p:nvGrpSpPr>
        <p:grpSpPr>
          <a:xfrm>
            <a:off x="7183120" y="2913034"/>
            <a:ext cx="4724400" cy="1569720"/>
            <a:chOff x="7183120" y="2913034"/>
            <a:chExt cx="4724400" cy="15697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989D39-A14B-408D-A459-FC57378F284D}"/>
                </a:ext>
              </a:extLst>
            </p:cNvPr>
            <p:cNvSpPr/>
            <p:nvPr/>
          </p:nvSpPr>
          <p:spPr>
            <a:xfrm>
              <a:off x="7183120" y="2913034"/>
              <a:ext cx="4724400" cy="156972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62BF575-ED0F-46CF-9D3E-D3F8E3FBB0EB}"/>
                </a:ext>
              </a:extLst>
            </p:cNvPr>
            <p:cNvCxnSpPr>
              <a:cxnSpLocks/>
              <a:stCxn id="3" idx="0"/>
              <a:endCxn id="3" idx="2"/>
            </p:cNvCxnSpPr>
            <p:nvPr/>
          </p:nvCxnSpPr>
          <p:spPr>
            <a:xfrm>
              <a:off x="9545320" y="2913034"/>
              <a:ext cx="0" cy="15697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D447E43-87A5-4D2F-B81F-889E9AFC13A5}"/>
                </a:ext>
              </a:extLst>
            </p:cNvPr>
            <p:cNvCxnSpPr>
              <a:cxnSpLocks/>
              <a:stCxn id="3" idx="1"/>
              <a:endCxn id="3" idx="3"/>
            </p:cNvCxnSpPr>
            <p:nvPr/>
          </p:nvCxnSpPr>
          <p:spPr>
            <a:xfrm>
              <a:off x="7183120" y="3697894"/>
              <a:ext cx="47244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A5D614B-5699-4D11-8B52-6260A6279F22}"/>
              </a:ext>
            </a:extLst>
          </p:cNvPr>
          <p:cNvSpPr txBox="1"/>
          <p:nvPr/>
        </p:nvSpPr>
        <p:spPr>
          <a:xfrm>
            <a:off x="8025666" y="306962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D563BE-005C-466E-AA56-E16F0C5B8887}"/>
              </a:ext>
            </a:extLst>
          </p:cNvPr>
          <p:cNvSpPr txBox="1"/>
          <p:nvPr/>
        </p:nvSpPr>
        <p:spPr>
          <a:xfrm>
            <a:off x="10438306" y="382144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4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620DDDE-3472-48F1-B8A2-E83124171209}"/>
              </a:ext>
            </a:extLst>
          </p:cNvPr>
          <p:cNvSpPr txBox="1"/>
          <p:nvPr/>
        </p:nvSpPr>
        <p:spPr>
          <a:xfrm>
            <a:off x="10451984" y="307298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F1D5661-8916-4178-8AF9-2913486BC5A8}"/>
              </a:ext>
            </a:extLst>
          </p:cNvPr>
          <p:cNvSpPr txBox="1"/>
          <p:nvPr/>
        </p:nvSpPr>
        <p:spPr>
          <a:xfrm>
            <a:off x="8025666" y="385448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31381C5-B338-4A2C-B8E9-AF8AD597B45B}"/>
              </a:ext>
            </a:extLst>
          </p:cNvPr>
          <p:cNvSpPr txBox="1"/>
          <p:nvPr/>
        </p:nvSpPr>
        <p:spPr>
          <a:xfrm>
            <a:off x="5847493" y="3074868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 0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73D1F0B-42B8-43E5-B5CA-B934C74BA791}"/>
              </a:ext>
            </a:extLst>
          </p:cNvPr>
          <p:cNvSpPr txBox="1"/>
          <p:nvPr/>
        </p:nvSpPr>
        <p:spPr>
          <a:xfrm>
            <a:off x="5862312" y="391377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 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C10B9B2-ACEF-4697-9A72-7AC5DC804432}"/>
              </a:ext>
            </a:extLst>
          </p:cNvPr>
          <p:cNvSpPr txBox="1"/>
          <p:nvPr/>
        </p:nvSpPr>
        <p:spPr>
          <a:xfrm>
            <a:off x="10192297" y="245721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 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C0F1513-296F-40FA-8E16-E26046EB99CE}"/>
              </a:ext>
            </a:extLst>
          </p:cNvPr>
          <p:cNvSpPr txBox="1"/>
          <p:nvPr/>
        </p:nvSpPr>
        <p:spPr>
          <a:xfrm>
            <a:off x="7822529" y="2465409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 0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BD8EF30-7A50-4F4E-839E-AF2D5D443A75}"/>
              </a:ext>
            </a:extLst>
          </p:cNvPr>
          <p:cNvSpPr txBox="1"/>
          <p:nvPr/>
        </p:nvSpPr>
        <p:spPr>
          <a:xfrm>
            <a:off x="8468804" y="2066183"/>
            <a:ext cx="1935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Actual Values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94CC9BC-0EEA-49A3-A86E-A0E689C4D654}"/>
              </a:ext>
            </a:extLst>
          </p:cNvPr>
          <p:cNvSpPr txBox="1"/>
          <p:nvPr/>
        </p:nvSpPr>
        <p:spPr>
          <a:xfrm rot="16200000">
            <a:off x="4386176" y="3467061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Predicted Values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CA460C9-CF06-43FF-9CCE-A60BC9066724}"/>
              </a:ext>
            </a:extLst>
          </p:cNvPr>
          <p:cNvGraphicFramePr>
            <a:graphicFrameLocks noGrp="1"/>
          </p:cNvGraphicFramePr>
          <p:nvPr/>
        </p:nvGraphicFramePr>
        <p:xfrm>
          <a:off x="384729" y="1584614"/>
          <a:ext cx="4120497" cy="4348480"/>
        </p:xfrm>
        <a:graphic>
          <a:graphicData uri="http://schemas.openxmlformats.org/drawingml/2006/table">
            <a:tbl>
              <a:tblPr firstRow="1" bandRow="1"/>
              <a:tblGrid>
                <a:gridCol w="1108791">
                  <a:extLst>
                    <a:ext uri="{9D8B030D-6E8A-4147-A177-3AD203B41FA5}">
                      <a16:colId xmlns:a16="http://schemas.microsoft.com/office/drawing/2014/main" val="619593494"/>
                    </a:ext>
                  </a:extLst>
                </a:gridCol>
                <a:gridCol w="1638207">
                  <a:extLst>
                    <a:ext uri="{9D8B030D-6E8A-4147-A177-3AD203B41FA5}">
                      <a16:colId xmlns:a16="http://schemas.microsoft.com/office/drawing/2014/main" val="964131895"/>
                    </a:ext>
                  </a:extLst>
                </a:gridCol>
                <a:gridCol w="1373499">
                  <a:extLst>
                    <a:ext uri="{9D8B030D-6E8A-4147-A177-3AD203B41FA5}">
                      <a16:colId xmlns:a16="http://schemas.microsoft.com/office/drawing/2014/main" val="4117122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Sample ID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Predicted Class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Actual Class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028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228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447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596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419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320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6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83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7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852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8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266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9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69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95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88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1" grpId="0"/>
      <p:bldP spid="82" grpId="0"/>
      <p:bldP spid="91" grpId="0"/>
      <p:bldP spid="92" grpId="0"/>
      <p:bldP spid="93" grpId="0"/>
      <p:bldP spid="95" grpId="0"/>
      <p:bldP spid="97" grpId="0"/>
      <p:bldP spid="98" grpId="0"/>
      <p:bldP spid="9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7431128cdc_0_643"/>
          <p:cNvSpPr txBox="1">
            <a:spLocks noGrp="1"/>
          </p:cNvSpPr>
          <p:nvPr>
            <p:ph type="title"/>
          </p:nvPr>
        </p:nvSpPr>
        <p:spPr>
          <a:xfrm>
            <a:off x="261250" y="90978"/>
            <a:ext cx="10515600" cy="97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800" dirty="0">
                <a:solidFill>
                  <a:srgbClr val="002060"/>
                </a:solidFill>
                <a:latin typeface="Gill Sans" panose="020B0604020202020204" charset="0"/>
              </a:rPr>
              <a:t>Performance Metrics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8" name="Google Shape;288;g27431128cdc_0_64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187326"/>
                <a:ext cx="10515600" cy="5506174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indent="-457200">
                  <a:lnSpc>
                    <a:spcPct val="110000"/>
                  </a:lnSpc>
                  <a:spcBef>
                    <a:spcPts val="0"/>
                  </a:spcBef>
                  <a:buSzPts val="2240"/>
                  <a:buFont typeface="Courier New" panose="02070309020205020404" pitchFamily="49" charset="0"/>
                  <a:buChar char="o"/>
                </a:pPr>
                <a:r>
                  <a:rPr lang="en-US" sz="2600" dirty="0">
                    <a:solidFill>
                      <a:schemeClr val="tx1"/>
                    </a:solidFill>
                    <a:latin typeface="Gill Sans" panose="020B0604020202020204" charset="0"/>
                  </a:rPr>
                  <a:t>Different performance metrics for classifiers have been defined based on the values in the confusion matrix</a:t>
                </a:r>
              </a:p>
              <a:p>
                <a:pPr lvl="1" indent="-457200">
                  <a:lnSpc>
                    <a:spcPct val="110000"/>
                  </a:lnSpc>
                  <a:spcBef>
                    <a:spcPts val="0"/>
                  </a:spcBef>
                  <a:buSzPts val="2240"/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solidFill>
                      <a:schemeClr val="tx1"/>
                    </a:solidFill>
                    <a:latin typeface="Gill Sans" panose="020B0604020202020204" charset="0"/>
                  </a:rPr>
                  <a:t>Accuracy</a:t>
                </a:r>
              </a:p>
              <a:p>
                <a:pPr lvl="1" indent="-457200">
                  <a:lnSpc>
                    <a:spcPct val="110000"/>
                  </a:lnSpc>
                  <a:spcBef>
                    <a:spcPts val="0"/>
                  </a:spcBef>
                  <a:buSzPts val="2240"/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solidFill>
                      <a:schemeClr val="tx1"/>
                    </a:solidFill>
                    <a:latin typeface="Gill Sans" panose="020B0604020202020204" charset="0"/>
                  </a:rPr>
                  <a:t>Precision </a:t>
                </a:r>
              </a:p>
              <a:p>
                <a:pPr lvl="1" indent="-457200">
                  <a:lnSpc>
                    <a:spcPct val="110000"/>
                  </a:lnSpc>
                  <a:spcBef>
                    <a:spcPts val="0"/>
                  </a:spcBef>
                  <a:buSzPts val="2240"/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solidFill>
                      <a:schemeClr val="tx1"/>
                    </a:solidFill>
                    <a:latin typeface="Gill Sans" panose="020B0604020202020204" charset="0"/>
                  </a:rPr>
                  <a:t>Recall</a:t>
                </a:r>
              </a:p>
              <a:p>
                <a:pPr lvl="1" indent="-457200">
                  <a:lnSpc>
                    <a:spcPct val="110000"/>
                  </a:lnSpc>
                  <a:spcBef>
                    <a:spcPts val="0"/>
                  </a:spcBef>
                  <a:buSzPts val="2240"/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solidFill>
                      <a:schemeClr val="tx1"/>
                    </a:solidFill>
                    <a:latin typeface="Gill Sans" panose="020B0604020202020204" charset="0"/>
                  </a:rPr>
                  <a:t>F1 Score</a:t>
                </a:r>
              </a:p>
              <a:p>
                <a:pPr lvl="1" indent="-457200">
                  <a:lnSpc>
                    <a:spcPct val="110000"/>
                  </a:lnSpc>
                  <a:spcBef>
                    <a:spcPts val="0"/>
                  </a:spcBef>
                  <a:buSzPts val="2240"/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solidFill>
                      <a:schemeClr val="tx1"/>
                    </a:solidFill>
                    <a:latin typeface="Gill Sans" panose="020B0604020202020204" charset="0"/>
                  </a:rPr>
                  <a:t>Balanced Accuracy</a:t>
                </a:r>
              </a:p>
              <a:p>
                <a:pPr indent="-457200">
                  <a:lnSpc>
                    <a:spcPct val="110000"/>
                  </a:lnSpc>
                  <a:spcBef>
                    <a:spcPts val="0"/>
                  </a:spcBef>
                  <a:buSzPts val="2240"/>
                  <a:buFont typeface="Courier New" panose="02070309020205020404" pitchFamily="49" charset="0"/>
                  <a:buChar char="o"/>
                </a:pPr>
                <a:r>
                  <a:rPr lang="en-US" sz="2600" dirty="0">
                    <a:solidFill>
                      <a:schemeClr val="tx1"/>
                    </a:solidFill>
                    <a:latin typeface="Gill Sans" panose="020B0604020202020204" charset="0"/>
                  </a:rPr>
                  <a:t>In this case study, only accuracy is used</a:t>
                </a:r>
              </a:p>
              <a:p>
                <a:pPr indent="-457200">
                  <a:lnSpc>
                    <a:spcPct val="110000"/>
                  </a:lnSpc>
                  <a:spcBef>
                    <a:spcPts val="0"/>
                  </a:spcBef>
                  <a:buSzPts val="2240"/>
                  <a:buFont typeface="Courier New" panose="02070309020205020404" pitchFamily="49" charset="0"/>
                  <a:buChar char="o"/>
                </a:pPr>
                <a:r>
                  <a:rPr lang="en-IN" sz="2600" dirty="0">
                    <a:solidFill>
                      <a:schemeClr val="tx1"/>
                    </a:solidFill>
                    <a:latin typeface="Gill Sans" panose="020B0604020202020204" charset="0"/>
                  </a:rPr>
                  <a:t>Accuracy is simplest of performance metrics suitable for both binary and multi-class classification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SzPts val="224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I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𝐶𝑜𝑟𝑟𝑒𝑐𝑡𝑙𝑦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𝐶𝑙𝑎𝑠𝑠𝑖𝑓𝑖𝑒𝑑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𝑆𝑎𝑚𝑝𝑙𝑒𝑠</m:t>
                          </m:r>
                        </m:num>
                        <m:den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𝑆𝑎𝑚𝑝𝑙𝑒𝑠</m:t>
                          </m:r>
                        </m:den>
                      </m:f>
                    </m:oMath>
                  </m:oMathPara>
                </a14:m>
                <a:endParaRPr lang="en-US" sz="2600" dirty="0">
                  <a:solidFill>
                    <a:schemeClr val="tx1"/>
                  </a:solidFill>
                  <a:latin typeface="Gill Sans" panose="020B0604020202020204" charset="0"/>
                </a:endParaRPr>
              </a:p>
            </p:txBody>
          </p:sp>
        </mc:Choice>
        <mc:Fallback>
          <p:sp>
            <p:nvSpPr>
              <p:cNvPr id="288" name="Google Shape;288;g27431128cdc_0_64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187326"/>
                <a:ext cx="10515600" cy="5506174"/>
              </a:xfrm>
              <a:prstGeom prst="rect">
                <a:avLst/>
              </a:prstGeom>
              <a:blipFill>
                <a:blip r:embed="rId3"/>
                <a:stretch>
                  <a:fillRect l="-696" t="-443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57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ctrTitle"/>
          </p:nvPr>
        </p:nvSpPr>
        <p:spPr>
          <a:xfrm>
            <a:off x="2304999" y="2827179"/>
            <a:ext cx="8024949" cy="89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000"/>
              <a:buFont typeface="Gill Sans"/>
              <a:buNone/>
            </a:pPr>
            <a:r>
              <a:rPr lang="en-US" dirty="0">
                <a:solidFill>
                  <a:srgbClr val="002060"/>
                </a:solidFill>
                <a:latin typeface="Gill Sans" panose="020B0604020202020204" charset="0"/>
              </a:rPr>
              <a:t>Applications of DL in Computer Vision</a:t>
            </a:r>
            <a:endParaRPr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>
            <a:spLocks noGrp="1"/>
          </p:cNvSpPr>
          <p:nvPr>
            <p:ph type="body" idx="1"/>
          </p:nvPr>
        </p:nvSpPr>
        <p:spPr>
          <a:xfrm>
            <a:off x="257852" y="1416050"/>
            <a:ext cx="4183519" cy="5116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40"/>
              <a:buFont typeface="Courier New" panose="02070309020205020404" pitchFamily="49" charset="0"/>
              <a:buChar char="o"/>
            </a:pPr>
            <a:r>
              <a:rPr lang="en-IN" sz="3000" dirty="0">
                <a:solidFill>
                  <a:srgbClr val="0070C0"/>
                </a:solidFill>
                <a:latin typeface="Gill Sans" panose="020B0604020202020204" charset="0"/>
              </a:rPr>
              <a:t>Medical Imaging</a:t>
            </a: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240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Patient diagnosis</a:t>
            </a: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240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Medical surgeries</a:t>
            </a:r>
            <a:endParaRPr sz="26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40"/>
              <a:buFont typeface="Courier New" panose="02070309020205020404" pitchFamily="49" charset="0"/>
              <a:buChar char="o"/>
            </a:pPr>
            <a:r>
              <a:rPr lang="en-US" sz="3000" dirty="0">
                <a:solidFill>
                  <a:srgbClr val="0070C0"/>
                </a:solidFill>
                <a:latin typeface="Gill Sans" panose="020B0604020202020204" charset="0"/>
              </a:rPr>
              <a:t>Object detection</a:t>
            </a:r>
          </a:p>
          <a:p>
            <a:pPr lvl="1" indent="-457200">
              <a:lnSpc>
                <a:spcPct val="120000"/>
              </a:lnSpc>
              <a:spcBef>
                <a:spcPts val="1000"/>
              </a:spcBef>
              <a:buSzPts val="224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Traffic management and control</a:t>
            </a:r>
          </a:p>
          <a:p>
            <a:pPr lvl="1" indent="-457200">
              <a:lnSpc>
                <a:spcPct val="120000"/>
              </a:lnSpc>
              <a:spcBef>
                <a:spcPts val="1000"/>
              </a:spcBef>
              <a:buSzPts val="2240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Self driving cars</a:t>
            </a:r>
            <a:endParaRPr sz="26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sp>
        <p:nvSpPr>
          <p:cNvPr id="168" name="Google Shape;168;p9" descr="Radiation in Medicine: X-Rays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1999" y="1066802"/>
            <a:ext cx="2884717" cy="236219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 descr="Seeing in the Dark: Defense Applications of IR imaging | Optics &amp; Photonics  News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2BD98D-70EA-49C2-B7CA-CAA1813DB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164" y="3828188"/>
            <a:ext cx="3159761" cy="2369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4F2191E-8F6B-4170-A037-0BF71DD1E7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8680" b="44179"/>
          <a:stretch/>
        </p:blipFill>
        <p:spPr bwMode="auto">
          <a:xfrm>
            <a:off x="8319164" y="1066802"/>
            <a:ext cx="3260953" cy="2437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D5F7EE-14D0-4031-83A0-AC734B534123}"/>
              </a:ext>
            </a:extLst>
          </p:cNvPr>
          <p:cNvSpPr txBox="1"/>
          <p:nvPr/>
        </p:nvSpPr>
        <p:spPr>
          <a:xfrm>
            <a:off x="7279640" y="6368460"/>
            <a:ext cx="35782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Images Source: Wikipedia/ Google Images</a:t>
            </a:r>
            <a:endParaRPr lang="en-US" dirty="0"/>
          </a:p>
        </p:txBody>
      </p:sp>
      <p:sp>
        <p:nvSpPr>
          <p:cNvPr id="14" name="Google Shape;127;p4">
            <a:extLst>
              <a:ext uri="{FF2B5EF4-FFF2-40B4-BE49-F238E27FC236}">
                <a16:creationId xmlns:a16="http://schemas.microsoft.com/office/drawing/2014/main" id="{8CE4930D-BDFB-4908-A61D-972E527CC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938" y="90488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sz="3600" dirty="0">
                <a:solidFill>
                  <a:srgbClr val="002060"/>
                </a:solidFill>
                <a:latin typeface="Gill Sans" panose="020B0604020202020204" charset="0"/>
              </a:rPr>
              <a:t>Applications of DL in Computer Vision</a:t>
            </a:r>
            <a:endParaRPr sz="36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97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 descr="Radiation in Medicine: X-Rays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 descr="Seeing in the Dark: Defense Applications of IR imaging | Optics &amp; Photonics  News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67;p9">
            <a:extLst>
              <a:ext uri="{FF2B5EF4-FFF2-40B4-BE49-F238E27FC236}">
                <a16:creationId xmlns:a16="http://schemas.microsoft.com/office/drawing/2014/main" id="{562900CB-5241-4E3A-8CCB-2EDF3DA4D031}"/>
              </a:ext>
            </a:extLst>
          </p:cNvPr>
          <p:cNvSpPr txBox="1">
            <a:spLocks/>
          </p:cNvSpPr>
          <p:nvPr/>
        </p:nvSpPr>
        <p:spPr>
          <a:xfrm>
            <a:off x="307976" y="1066801"/>
            <a:ext cx="5570310" cy="5465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86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12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1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2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0070C0"/>
                </a:solidFill>
              </a:rPr>
              <a:t>Face &amp; Fingerprint Recognition</a:t>
            </a:r>
          </a:p>
          <a:p>
            <a:pPr lvl="1" indent="-457200">
              <a:lnSpc>
                <a:spcPct val="120000"/>
              </a:lnSpc>
              <a:spcBef>
                <a:spcPts val="1000"/>
              </a:spcBef>
              <a:buSzPts val="2240"/>
              <a:buFont typeface="Wingdings" panose="05000000000000000000" pitchFamily="2" charset="2"/>
              <a:buChar char="Ø"/>
            </a:pPr>
            <a:r>
              <a:rPr lang="en-IN" dirty="0"/>
              <a:t>Social media platforms</a:t>
            </a:r>
          </a:p>
          <a:p>
            <a:pPr lvl="1" indent="-457200">
              <a:lnSpc>
                <a:spcPct val="120000"/>
              </a:lnSpc>
              <a:spcBef>
                <a:spcPts val="1000"/>
              </a:spcBef>
              <a:buSzPts val="2240"/>
              <a:buFont typeface="Wingdings" panose="05000000000000000000" pitchFamily="2" charset="2"/>
              <a:buChar char="Ø"/>
            </a:pPr>
            <a:r>
              <a:rPr lang="en-IN" dirty="0"/>
              <a:t>Security applications</a:t>
            </a:r>
          </a:p>
          <a:p>
            <a:pPr indent="-457200">
              <a:lnSpc>
                <a:spcPct val="12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0070C0"/>
                </a:solidFill>
              </a:rPr>
              <a:t>Remote sensing applications</a:t>
            </a:r>
          </a:p>
          <a:p>
            <a:pPr lvl="1" indent="-457200">
              <a:lnSpc>
                <a:spcPct val="120000"/>
              </a:lnSpc>
              <a:buSzPts val="2800"/>
              <a:buFont typeface="Wingdings" panose="05000000000000000000" pitchFamily="2" charset="2"/>
              <a:buChar char="Ø"/>
            </a:pPr>
            <a:r>
              <a:rPr lang="en-IN" dirty="0"/>
              <a:t>Navigational purpose – Google maps</a:t>
            </a:r>
          </a:p>
          <a:p>
            <a:pPr lvl="1" indent="-457200">
              <a:lnSpc>
                <a:spcPct val="120000"/>
              </a:lnSpc>
              <a:buSzPts val="2800"/>
              <a:buFont typeface="Wingdings" panose="05000000000000000000" pitchFamily="2" charset="2"/>
              <a:buChar char="Ø"/>
            </a:pPr>
            <a:r>
              <a:rPr lang="en-IN" dirty="0"/>
              <a:t>Agriculture</a:t>
            </a:r>
          </a:p>
        </p:txBody>
      </p:sp>
      <p:pic>
        <p:nvPicPr>
          <p:cNvPr id="2052" name="Picture 4" descr="3D face recognition">
            <a:extLst>
              <a:ext uri="{FF2B5EF4-FFF2-40B4-BE49-F238E27FC236}">
                <a16:creationId xmlns:a16="http://schemas.microsoft.com/office/drawing/2014/main" id="{236C24E8-1386-4903-91A3-6429B2CB51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90" t="7599" r="8747" b="17792"/>
          <a:stretch/>
        </p:blipFill>
        <p:spPr bwMode="auto">
          <a:xfrm>
            <a:off x="9114610" y="966201"/>
            <a:ext cx="2116395" cy="3009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A36321-BDB1-4C98-931C-F5D9ADEAE9FD}"/>
              </a:ext>
            </a:extLst>
          </p:cNvPr>
          <p:cNvSpPr txBox="1"/>
          <p:nvPr/>
        </p:nvSpPr>
        <p:spPr>
          <a:xfrm>
            <a:off x="5670984" y="6356127"/>
            <a:ext cx="35782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Images Source: Wikipedia/ Google Images</a:t>
            </a:r>
            <a:endParaRPr lang="en-US" dirty="0"/>
          </a:p>
        </p:txBody>
      </p:sp>
      <p:pic>
        <p:nvPicPr>
          <p:cNvPr id="1028" name="Picture 4" descr="Fingerprint - Wikipedia">
            <a:extLst>
              <a:ext uri="{FF2B5EF4-FFF2-40B4-BE49-F238E27FC236}">
                <a16:creationId xmlns:a16="http://schemas.microsoft.com/office/drawing/2014/main" id="{4CE9894F-BEEF-4760-BCDF-0C96DC387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431" y="1622260"/>
            <a:ext cx="2095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CAE571-32C3-3029-85D4-499AD46CC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002" y="3941723"/>
            <a:ext cx="4499158" cy="2189913"/>
          </a:xfrm>
          <a:prstGeom prst="rect">
            <a:avLst/>
          </a:prstGeom>
        </p:spPr>
      </p:pic>
      <p:sp>
        <p:nvSpPr>
          <p:cNvPr id="6" name="Google Shape;127;p4">
            <a:extLst>
              <a:ext uri="{FF2B5EF4-FFF2-40B4-BE49-F238E27FC236}">
                <a16:creationId xmlns:a16="http://schemas.microsoft.com/office/drawing/2014/main" id="{907A418A-FAB6-C7E2-9A8D-537598A02B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938" y="90488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sz="3600" dirty="0">
                <a:solidFill>
                  <a:srgbClr val="002060"/>
                </a:solidFill>
                <a:latin typeface="Gill Sans" panose="020B0604020202020204" charset="0"/>
              </a:rPr>
              <a:t>Applications of DL in Computer Vision</a:t>
            </a:r>
            <a:endParaRPr sz="36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a7509579c8_0_158"/>
          <p:cNvSpPr txBox="1">
            <a:spLocks noGrp="1"/>
          </p:cNvSpPr>
          <p:nvPr>
            <p:ph type="title"/>
          </p:nvPr>
        </p:nvSpPr>
        <p:spPr>
          <a:xfrm>
            <a:off x="301611" y="177165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lnSpc>
                <a:spcPct val="90000"/>
              </a:lnSpc>
              <a:buClr>
                <a:srgbClr val="0B5394"/>
              </a:buClr>
              <a:buSzPts val="4300"/>
              <a:buFont typeface="Gill Sans"/>
            </a:pPr>
            <a:r>
              <a:rPr lang="en-US" sz="3600" dirty="0">
                <a:solidFill>
                  <a:srgbClr val="002060"/>
                </a:solidFill>
                <a:latin typeface="Gill Sans" panose="020B0604020202020204" charset="0"/>
              </a:rPr>
              <a:t>Summary</a:t>
            </a:r>
            <a:endParaRPr sz="36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2938" y="2011362"/>
            <a:ext cx="55388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</p:txBody>
      </p:sp>
      <p:sp>
        <p:nvSpPr>
          <p:cNvPr id="5" name="Google Shape;128;p4">
            <a:extLst>
              <a:ext uri="{FF2B5EF4-FFF2-40B4-BE49-F238E27FC236}">
                <a16:creationId xmlns:a16="http://schemas.microsoft.com/office/drawing/2014/main" id="{F7297FCA-73EE-4884-83FD-766905B7A3F8}"/>
              </a:ext>
            </a:extLst>
          </p:cNvPr>
          <p:cNvSpPr txBox="1">
            <a:spLocks/>
          </p:cNvSpPr>
          <p:nvPr/>
        </p:nvSpPr>
        <p:spPr>
          <a:xfrm>
            <a:off x="558800" y="1352550"/>
            <a:ext cx="10926553" cy="4621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891A7"/>
              </a:buClr>
              <a:buSzPts val="1400"/>
              <a:buFont typeface="Verdana"/>
              <a:buChar char="○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■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○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</a:rPr>
              <a:t>Classification involves learning input-output relations which can be used to classify samples with unknown classes</a:t>
            </a:r>
          </a:p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</a:rPr>
              <a:t>Classification workflow involves data collection, processing, training classifier and assessing classifier</a:t>
            </a:r>
          </a:p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</a:rPr>
              <a:t>Predictions of a classifier can be directly classes or probability that a sample belongs to a particular class</a:t>
            </a:r>
          </a:p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</a:rPr>
              <a:t>Different metrics exist to assess performance of classifier with accuracy being most popular metric</a:t>
            </a:r>
          </a:p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</a:rPr>
              <a:t>Applications of Deep Learning in CV are widely encompassing various fields and are ever growing</a:t>
            </a:r>
          </a:p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ü"/>
            </a:pPr>
            <a:endParaRPr lang="en-IN" sz="2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25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9"/>
          <p:cNvSpPr txBox="1">
            <a:spLocks noGrp="1"/>
          </p:cNvSpPr>
          <p:nvPr>
            <p:ph type="title"/>
          </p:nvPr>
        </p:nvSpPr>
        <p:spPr>
          <a:xfrm>
            <a:off x="197933" y="558993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866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3866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6D4A87-6180-9A7C-F283-D9B3E453DF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1488</TotalTime>
  <Words>910</Words>
  <Application>Microsoft Office PowerPoint</Application>
  <PresentationFormat>Widescreen</PresentationFormat>
  <Paragraphs>195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Noto Sans Symbols</vt:lpstr>
      <vt:lpstr>Cambria Math</vt:lpstr>
      <vt:lpstr>Wingdings</vt:lpstr>
      <vt:lpstr>Courier New</vt:lpstr>
      <vt:lpstr>Cabin</vt:lpstr>
      <vt:lpstr>Calibri</vt:lpstr>
      <vt:lpstr>Noto Sans</vt:lpstr>
      <vt:lpstr>Montserrat</vt:lpstr>
      <vt:lpstr>Verdana</vt:lpstr>
      <vt:lpstr>Gill Sans</vt:lpstr>
      <vt:lpstr>Arial</vt:lpstr>
      <vt:lpstr>Times New Roman</vt:lpstr>
      <vt:lpstr>Simple Light</vt:lpstr>
      <vt:lpstr>1_Simple Light</vt:lpstr>
      <vt:lpstr>Office Theme</vt:lpstr>
      <vt:lpstr>Introduction  to Classification  and  Applications of DL in CV</vt:lpstr>
      <vt:lpstr>Contents</vt:lpstr>
      <vt:lpstr>PowerPoint Presentation</vt:lpstr>
      <vt:lpstr>PowerPoint Presentation</vt:lpstr>
      <vt:lpstr>PowerPoint Presentation</vt:lpstr>
      <vt:lpstr>PowerPoint Presentation</vt:lpstr>
      <vt:lpstr>Soft vs Hard Predictions in Classification</vt:lpstr>
      <vt:lpstr>Assess Classifier Performance</vt:lpstr>
      <vt:lpstr>Confusion Matrix</vt:lpstr>
      <vt:lpstr>Building a Confusion Matrix: Example</vt:lpstr>
      <vt:lpstr>Performance Metrics</vt:lpstr>
      <vt:lpstr>Applications of DL in Computer Vision</vt:lpstr>
      <vt:lpstr>Applications of DL in Computer Vision</vt:lpstr>
      <vt:lpstr>Applications of DL in Computer Vision</vt:lpstr>
      <vt:lpstr>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Shweta Sridhar</dc:creator>
  <cp:lastModifiedBy>Satya J</cp:lastModifiedBy>
  <cp:revision>14</cp:revision>
  <dcterms:created xsi:type="dcterms:W3CDTF">2019-05-02T04:32:46Z</dcterms:created>
  <dcterms:modified xsi:type="dcterms:W3CDTF">2024-02-10T06:17:18Z</dcterms:modified>
</cp:coreProperties>
</file>