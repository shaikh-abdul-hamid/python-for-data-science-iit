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8"/>
  </p:notesMasterIdLst>
  <p:sldIdLst>
    <p:sldId id="256" r:id="rId3"/>
    <p:sldId id="360" r:id="rId4"/>
    <p:sldId id="259" r:id="rId5"/>
    <p:sldId id="486" r:id="rId6"/>
    <p:sldId id="449" r:id="rId7"/>
    <p:sldId id="458" r:id="rId8"/>
    <p:sldId id="307" r:id="rId9"/>
    <p:sldId id="308" r:id="rId10"/>
    <p:sldId id="358" r:id="rId11"/>
    <p:sldId id="265" r:id="rId12"/>
    <p:sldId id="267" r:id="rId13"/>
    <p:sldId id="302" r:id="rId14"/>
    <p:sldId id="268" r:id="rId15"/>
    <p:sldId id="471" r:id="rId16"/>
    <p:sldId id="297" r:id="rId17"/>
  </p:sldIdLst>
  <p:sldSz cx="12192000" cy="6858000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Gill Sans" panose="020B0604020202020204" charset="0"/>
      <p:regular r:id="rId20"/>
      <p:bold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8" roundtripDataSignature="AMtx7mjOTaGbNffGq71an2i6rlV/tm8b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CFFE94-10C1-41BB-BACE-F84C5C724260}">
  <a:tblStyle styleId="{7ECFFE94-10C1-41BB-BACE-F84C5C72426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1E8"/>
          </a:solidFill>
        </a:fill>
      </a:tcStyle>
    </a:wholeTbl>
    <a:band1H>
      <a:tcTxStyle/>
      <a:tcStyle>
        <a:tcBdr/>
        <a:fill>
          <a:solidFill>
            <a:srgbClr val="FFE2C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2C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68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6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sldNum" idx="12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7000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8263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5983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7164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3875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1508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5736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291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a7509579c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a7509579c8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9" name="Google Shape;529;ga7509579c8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9696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2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41" name="Google Shape;44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88570" y="2313986"/>
            <a:ext cx="8857808" cy="167993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7"/>
          <p:cNvSpPr txBox="1">
            <a:spLocks noGrp="1"/>
          </p:cNvSpPr>
          <p:nvPr>
            <p:ph type="ctrTitle"/>
          </p:nvPr>
        </p:nvSpPr>
        <p:spPr>
          <a:xfrm>
            <a:off x="2304999" y="2705259"/>
            <a:ext cx="8024949" cy="89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000"/>
              <a:buFont typeface="Gill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>
            <a:spLocks noGrp="1"/>
          </p:cNvSpPr>
          <p:nvPr>
            <p:ph type="title"/>
          </p:nvPr>
        </p:nvSpPr>
        <p:spPr>
          <a:xfrm>
            <a:off x="301611" y="136525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31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48991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5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  <a:defRPr sz="4300" b="0" i="0" u="none" strike="noStrike" cap="non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body" idx="1"/>
          </p:nvPr>
        </p:nvSpPr>
        <p:spPr>
          <a:xfrm>
            <a:off x="261260" y="142961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08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45"/>
          <p:cNvSpPr txBox="1"/>
          <p:nvPr/>
        </p:nvSpPr>
        <p:spPr>
          <a:xfrm>
            <a:off x="1384663" y="6444476"/>
            <a:ext cx="24021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47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232D47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</a:p>
        </p:txBody>
      </p:sp>
      <p:sp>
        <p:nvSpPr>
          <p:cNvPr id="69" name="Google Shape;69;p45"/>
          <p:cNvSpPr txBox="1"/>
          <p:nvPr/>
        </p:nvSpPr>
        <p:spPr>
          <a:xfrm>
            <a:off x="11279285" y="6413698"/>
            <a:ext cx="6139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232D47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rgbClr val="232D4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74" r:id="rId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ctrTitle" idx="4294967295"/>
          </p:nvPr>
        </p:nvSpPr>
        <p:spPr>
          <a:xfrm>
            <a:off x="0" y="2057133"/>
            <a:ext cx="12192000" cy="3524800"/>
          </a:xfrm>
          <a:prstGeom prst="rect">
            <a:avLst/>
          </a:prstGeom>
          <a:noFill/>
          <a:ln>
            <a:noFill/>
          </a:ln>
          <a:effectLst>
            <a:outerShdw dist="2540000" dir="21540000" sx="1000" sy="1000" algn="ctr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br>
              <a:rPr lang="en-US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br>
              <a:rPr lang="en-US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Computer Vision</a:t>
            </a:r>
            <a:br>
              <a:rPr lang="en-US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and Image Analytics</a:t>
            </a:r>
            <a:endParaRPr sz="5333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Contents</a:t>
            </a:r>
            <a:endParaRPr dirty="0"/>
          </a:p>
        </p:txBody>
      </p:sp>
      <p:sp>
        <p:nvSpPr>
          <p:cNvPr id="117" name="Google Shape;117;p2"/>
          <p:cNvSpPr txBox="1">
            <a:spLocks noGrp="1"/>
          </p:cNvSpPr>
          <p:nvPr>
            <p:ph type="body" idx="1"/>
          </p:nvPr>
        </p:nvSpPr>
        <p:spPr>
          <a:xfrm>
            <a:off x="838200" y="1416550"/>
            <a:ext cx="10515600" cy="452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36"/>
              <a:buFont typeface="Wingdings" panose="05000000000000000000" pitchFamily="2" charset="2"/>
              <a:buChar char="Ø"/>
            </a:pPr>
            <a:r>
              <a:rPr lang="en-IN" sz="2800" dirty="0"/>
              <a:t>What is Computer Vision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36"/>
              <a:buFont typeface="Wingdings" panose="05000000000000000000" pitchFamily="2" charset="2"/>
              <a:buChar char="Ø"/>
            </a:pPr>
            <a:r>
              <a:rPr lang="en-IN" sz="2800" dirty="0"/>
              <a:t>Image and Video Analytics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36"/>
              <a:buFont typeface="Wingdings" panose="05000000000000000000" pitchFamily="2" charset="2"/>
              <a:buChar char="Ø"/>
            </a:pPr>
            <a:r>
              <a:rPr lang="en-IN" sz="2800" dirty="0"/>
              <a:t>Challenges in Computer Vision/Image/Video Analytics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800" dirty="0"/>
              <a:t>Digital Representation of Images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What is Computer Vision?</a:t>
            </a:r>
            <a:endParaRPr dirty="0"/>
          </a:p>
        </p:txBody>
      </p:sp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261260" y="1259840"/>
            <a:ext cx="5834740" cy="515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Area of study with following objectives: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sz="2600" dirty="0"/>
              <a:t>to enable computers (systems) to see 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sz="2600" dirty="0"/>
              <a:t>to develop algorithms which can deduce and reason based on what is seen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SzPts val="2240"/>
              <a:buNone/>
            </a:pPr>
            <a:endParaRPr lang="en-IN" sz="2400" dirty="0"/>
          </a:p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Seeing an image involves the following: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sz="2600" dirty="0"/>
              <a:t>To recognise where objects are in the image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sz="2600" dirty="0"/>
              <a:t>To gauge the properties of the objects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sz="2600" dirty="0"/>
              <a:t>To understand what the object is doing</a:t>
            </a:r>
            <a:endParaRPr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70E27-6436-1D1F-980C-CA6DAB89082B}"/>
              </a:ext>
            </a:extLst>
          </p:cNvPr>
          <p:cNvSpPr txBox="1"/>
          <p:nvPr/>
        </p:nvSpPr>
        <p:spPr>
          <a:xfrm>
            <a:off x="7252057" y="5764629"/>
            <a:ext cx="3903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800" dirty="0">
                <a:solidFill>
                  <a:srgbClr val="0070C0"/>
                </a:solidFill>
              </a:rPr>
              <a:t>What can you say about this image?</a:t>
            </a:r>
            <a:endParaRPr lang="en-US" sz="1800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01A921-1143-5A30-EEDC-450E6213CA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4" r="3544"/>
          <a:stretch/>
        </p:blipFill>
        <p:spPr>
          <a:xfrm>
            <a:off x="6543040" y="1876089"/>
            <a:ext cx="554736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1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Image and Video Analytics</a:t>
            </a:r>
            <a:endParaRPr dirty="0"/>
          </a:p>
        </p:txBody>
      </p:sp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895247" y="1249680"/>
            <a:ext cx="10515600" cy="515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Performing analysis and making predictions based on information available in the form of images and videos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Image and Video analytics are based on ideas of Computer Vision and tools from Deep Learning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rgbClr val="0070C0"/>
                </a:solidFill>
              </a:rPr>
              <a:t>Question:</a:t>
            </a:r>
            <a:r>
              <a:rPr lang="en-IN" sz="2800" dirty="0"/>
              <a:t> What is Deep Learning?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Deep learning is a branch of Machine Learning 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400" dirty="0"/>
              <a:t>Involves developing algorithms inspired by the structure and functioning of human brain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400" dirty="0"/>
              <a:t>Uses artificial neural networks to learn and perform tasks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400" dirty="0"/>
              <a:t>Convolution neural networks are used to perform computer vision tasks or image/video analytics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endParaRPr lang="en-IN" sz="2800" dirty="0"/>
          </a:p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149813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ctrTitle"/>
          </p:nvPr>
        </p:nvSpPr>
        <p:spPr>
          <a:xfrm>
            <a:off x="2304999" y="2827179"/>
            <a:ext cx="8024949" cy="89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000"/>
              <a:buFont typeface="Gill Sans"/>
              <a:buNone/>
            </a:pPr>
            <a:r>
              <a:rPr lang="en-US" dirty="0"/>
              <a:t>Challenges in Computer Vision/Image/Video Analytics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752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Structured Vs Unstructured Data</a:t>
            </a:r>
            <a:endParaRPr dirty="0"/>
          </a:p>
        </p:txBody>
      </p:sp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190140" y="1201737"/>
            <a:ext cx="5604385" cy="2313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rgbClr val="0070C0"/>
                </a:solidFill>
              </a:rPr>
              <a:t>Structured data: 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tx1"/>
                </a:solidFill>
              </a:rPr>
              <a:t>Highly organised and formatted form of data 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tx1"/>
                </a:solidFill>
              </a:rPr>
              <a:t>Can be put in the form of rows and columns of tables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tx1"/>
                </a:solidFill>
              </a:rPr>
              <a:t>Searching for specific information is easy</a:t>
            </a:r>
          </a:p>
        </p:txBody>
      </p:sp>
      <p:pic>
        <p:nvPicPr>
          <p:cNvPr id="1026" name="Picture 2" descr="The typical structured data example">
            <a:extLst>
              <a:ext uri="{FF2B5EF4-FFF2-40B4-BE49-F238E27FC236}">
                <a16:creationId xmlns:a16="http://schemas.microsoft.com/office/drawing/2014/main" id="{0ED0E7CE-AD69-0563-4017-D30D7D6ECC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b="32706"/>
          <a:stretch/>
        </p:blipFill>
        <p:spPr bwMode="auto">
          <a:xfrm>
            <a:off x="261260" y="3515359"/>
            <a:ext cx="5417460" cy="279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28;p4">
            <a:extLst>
              <a:ext uri="{FF2B5EF4-FFF2-40B4-BE49-F238E27FC236}">
                <a16:creationId xmlns:a16="http://schemas.microsoft.com/office/drawing/2014/main" id="{3D5A5EE4-C753-BDD9-1D39-D46FE1AE07F3}"/>
              </a:ext>
            </a:extLst>
          </p:cNvPr>
          <p:cNvSpPr txBox="1">
            <a:spLocks/>
          </p:cNvSpPr>
          <p:nvPr/>
        </p:nvSpPr>
        <p:spPr>
          <a:xfrm>
            <a:off x="5865645" y="1115378"/>
            <a:ext cx="5818355" cy="401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86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12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rgbClr val="0070C0"/>
                </a:solidFill>
              </a:rPr>
              <a:t>Un-structured data: 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Have no pre-defined structure and takes to diverse forms</a:t>
            </a:r>
            <a:endParaRPr lang="en-IN" sz="2200" b="1" dirty="0">
              <a:solidFill>
                <a:schemeClr val="tx1"/>
              </a:solidFill>
            </a:endParaRP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Images, videos, text, audio files, etc. are forms of unstructured data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Almost 80% of data is unstructured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Unstructured data can be easily processed and understood by humans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200" dirty="0">
                <a:solidFill>
                  <a:schemeClr val="tx1"/>
                </a:solidFill>
              </a:rPr>
              <a:t>However, it is hard to make a computer understand unstructured data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endParaRPr lang="en-IN" sz="2400" dirty="0">
              <a:solidFill>
                <a:schemeClr val="tx1"/>
              </a:solidFill>
            </a:endParaRPr>
          </a:p>
        </p:txBody>
      </p:sp>
      <p:pic>
        <p:nvPicPr>
          <p:cNvPr id="3076" name="Picture 4" descr="Know Some Unique Records Of Great Cricketer Sachin Tendulkar In Cricket  History No Other Player Is Near These Stats | Sachin Tendulkar Records:  क्रिकेट के महान खिलाड़ी सचिन तेंदुलकर के कुछ अनोखे">
            <a:extLst>
              <a:ext uri="{FF2B5EF4-FFF2-40B4-BE49-F238E27FC236}">
                <a16:creationId xmlns:a16="http://schemas.microsoft.com/office/drawing/2014/main" id="{B9C25FFA-37DB-7094-09A9-FEC70A4F9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696" y="4653280"/>
            <a:ext cx="2203024" cy="1999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achin Tendulkar 50th Birthday: 5 World Records Owned By Master Blaster  That Can Never Be Broken">
            <a:extLst>
              <a:ext uri="{FF2B5EF4-FFF2-40B4-BE49-F238E27FC236}">
                <a16:creationId xmlns:a16="http://schemas.microsoft.com/office/drawing/2014/main" id="{7B080EBF-BD99-C020-5C50-33C354BD0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822" y="4643573"/>
            <a:ext cx="2834203" cy="212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 dirty="0"/>
              <a:t>What seems like a common task for humans (</a:t>
            </a:r>
            <a:r>
              <a:rPr lang="en-US" b="1" dirty="0"/>
              <a:t>visual recognition</a:t>
            </a:r>
            <a:r>
              <a:rPr lang="en-US" dirty="0"/>
              <a:t>), is a big challenge for computers</a:t>
            </a: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</a:rPr>
              <a:t>Viewpoint variation: </a:t>
            </a:r>
            <a:r>
              <a:rPr lang="en-US" sz="2800" dirty="0"/>
              <a:t>Different orientations of the image with respect to the camera.</a:t>
            </a:r>
            <a:endParaRPr sz="2800" dirty="0"/>
          </a:p>
          <a:p>
            <a:pPr marL="228600" lvl="0" indent="-8636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28600" lvl="0" indent="-8636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</a:rPr>
              <a:t>Scale variation: </a:t>
            </a:r>
            <a:r>
              <a:rPr lang="en-US" sz="2800" dirty="0"/>
              <a:t>Different sizes of the object with respect to the image size.</a:t>
            </a:r>
            <a:endParaRPr sz="2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</a:pPr>
            <a:endParaRPr dirty="0"/>
          </a:p>
        </p:txBody>
      </p:sp>
      <p:pic>
        <p:nvPicPr>
          <p:cNvPr id="229" name="Google Shape;22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4724" y="3292403"/>
            <a:ext cx="3549693" cy="1201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4687" y="5272747"/>
            <a:ext cx="1952625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7;p4">
            <a:extLst>
              <a:ext uri="{FF2B5EF4-FFF2-40B4-BE49-F238E27FC236}">
                <a16:creationId xmlns:a16="http://schemas.microsoft.com/office/drawing/2014/main" id="{4BB9E158-EEF9-4460-4292-5C789196B9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938" y="90488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Challenges in Computer Vision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157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4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Illumination conditions</a:t>
            </a:r>
            <a:r>
              <a:rPr lang="en-IN" dirty="0">
                <a:solidFill>
                  <a:srgbClr val="0070C0"/>
                </a:solidFill>
              </a:rPr>
              <a:t> </a:t>
            </a:r>
            <a:r>
              <a:rPr lang="en-IN" dirty="0"/>
              <a:t>may vary from time to time </a:t>
            </a:r>
            <a:endParaRPr dirty="0"/>
          </a:p>
          <a:p>
            <a:pPr marL="59944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Font typeface="Wingdings" panose="05000000000000000000" pitchFamily="2" charset="2"/>
              <a:buChar char="Ø"/>
            </a:pPr>
            <a:endParaRPr dirty="0"/>
          </a:p>
          <a:p>
            <a:pPr marL="14224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59944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Font typeface="Wingdings" panose="05000000000000000000" pitchFamily="2" charset="2"/>
              <a:buChar char="Ø"/>
            </a:pPr>
            <a:endParaRPr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Background clutter: </a:t>
            </a:r>
            <a:r>
              <a:rPr lang="en-US" dirty="0"/>
              <a:t>Varying backgrounds</a:t>
            </a:r>
            <a:endParaRPr dirty="0"/>
          </a:p>
          <a:p>
            <a:pPr marL="59944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Font typeface="Wingdings" panose="05000000000000000000" pitchFamily="2" charset="2"/>
              <a:buChar char="Ø"/>
            </a:pPr>
            <a:endParaRPr dirty="0"/>
          </a:p>
          <a:p>
            <a:pPr marL="59944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Font typeface="Wingdings" panose="05000000000000000000" pitchFamily="2" charset="2"/>
              <a:buChar char="Ø"/>
            </a:pPr>
            <a:endParaRPr dirty="0"/>
          </a:p>
        </p:txBody>
      </p:sp>
      <p:pic>
        <p:nvPicPr>
          <p:cNvPr id="237" name="Google Shape;23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2400" y="2106900"/>
            <a:ext cx="2586887" cy="23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8312" y="4429125"/>
            <a:ext cx="3862388" cy="147452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7;p4">
            <a:extLst>
              <a:ext uri="{FF2B5EF4-FFF2-40B4-BE49-F238E27FC236}">
                <a16:creationId xmlns:a16="http://schemas.microsoft.com/office/drawing/2014/main" id="{32EAF40C-7CBD-A7ED-D2F1-C5F41FDCB8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938" y="90488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Gill Sans"/>
              <a:buNone/>
              <a:defRPr sz="4300" b="0" i="0" u="none" strike="noStrike" cap="non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300"/>
            </a:pPr>
            <a:r>
              <a:rPr lang="en-US"/>
              <a:t>Challenges in Computer Vision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96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Winking Black and Brown Puppy">
            <a:extLst>
              <a:ext uri="{FF2B5EF4-FFF2-40B4-BE49-F238E27FC236}">
                <a16:creationId xmlns:a16="http://schemas.microsoft.com/office/drawing/2014/main" id="{732CB844-D55A-40A9-A287-CCD9234111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3" t="15266" r="9078" b="13269"/>
          <a:stretch/>
        </p:blipFill>
        <p:spPr bwMode="auto">
          <a:xfrm>
            <a:off x="6462479" y="1336039"/>
            <a:ext cx="2071921" cy="248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lose Up Photography of Adult Black and White Short Coat Dog">
            <a:extLst>
              <a:ext uri="{FF2B5EF4-FFF2-40B4-BE49-F238E27FC236}">
                <a16:creationId xmlns:a16="http://schemas.microsoft.com/office/drawing/2014/main" id="{2ACA35A7-1514-4275-B68F-9226F1695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2190" y="1602423"/>
            <a:ext cx="2770229" cy="207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Adult German Shepherd Lying on Ground">
            <a:extLst>
              <a:ext uri="{FF2B5EF4-FFF2-40B4-BE49-F238E27FC236}">
                <a16:creationId xmlns:a16="http://schemas.microsoft.com/office/drawing/2014/main" id="{C2DB0FDF-A1BD-49B6-B728-EA3EBE4EC4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1" t="25806" r="31013"/>
          <a:stretch/>
        </p:blipFill>
        <p:spPr bwMode="auto">
          <a:xfrm>
            <a:off x="6270529" y="4078921"/>
            <a:ext cx="2455820" cy="235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White Short Coated Dog">
            <a:extLst>
              <a:ext uri="{FF2B5EF4-FFF2-40B4-BE49-F238E27FC236}">
                <a16:creationId xmlns:a16="http://schemas.microsoft.com/office/drawing/2014/main" id="{C33518BD-5DBF-4F9C-9F7A-7F8A4EC584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t="4086" r="9254"/>
          <a:stretch/>
        </p:blipFill>
        <p:spPr bwMode="auto">
          <a:xfrm>
            <a:off x="9268819" y="4078921"/>
            <a:ext cx="2133600" cy="214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67;p9">
            <a:extLst>
              <a:ext uri="{FF2B5EF4-FFF2-40B4-BE49-F238E27FC236}">
                <a16:creationId xmlns:a16="http://schemas.microsoft.com/office/drawing/2014/main" id="{616A860E-11D6-4040-BDB7-5CB0778E4568}"/>
              </a:ext>
            </a:extLst>
          </p:cNvPr>
          <p:cNvSpPr txBox="1">
            <a:spLocks/>
          </p:cNvSpPr>
          <p:nvPr/>
        </p:nvSpPr>
        <p:spPr>
          <a:xfrm>
            <a:off x="306059" y="1239799"/>
            <a:ext cx="6042839" cy="1420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86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12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Same type of objects can look very different in the real world</a:t>
            </a:r>
          </a:p>
          <a:p>
            <a:pPr marL="0" indent="0">
              <a:lnSpc>
                <a:spcPct val="100000"/>
              </a:lnSpc>
              <a:buSzPts val="2240"/>
              <a:buNone/>
            </a:pPr>
            <a:endParaRPr lang="en-IN" sz="2400" dirty="0"/>
          </a:p>
        </p:txBody>
      </p:sp>
      <p:sp>
        <p:nvSpPr>
          <p:cNvPr id="14" name="Google Shape;127;p4">
            <a:extLst>
              <a:ext uri="{FF2B5EF4-FFF2-40B4-BE49-F238E27FC236}">
                <a16:creationId xmlns:a16="http://schemas.microsoft.com/office/drawing/2014/main" id="{B9ADF4AB-2A0E-68A9-2EDA-C6905EC41B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938" y="90488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Gill Sans"/>
              <a:buNone/>
              <a:defRPr sz="4300" b="0" i="0" u="none" strike="noStrike" cap="non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300"/>
            </a:pPr>
            <a:r>
              <a:rPr lang="en-US"/>
              <a:t>Challenges in Computer Vision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28807A1-6068-BFD7-F31C-A4AC520A65D0}"/>
              </a:ext>
            </a:extLst>
          </p:cNvPr>
          <p:cNvGrpSpPr/>
          <p:nvPr/>
        </p:nvGrpSpPr>
        <p:grpSpPr>
          <a:xfrm>
            <a:off x="542142" y="2431018"/>
            <a:ext cx="5138058" cy="1766960"/>
            <a:chOff x="832406" y="4078922"/>
            <a:chExt cx="5138058" cy="1766960"/>
          </a:xfrm>
          <a:solidFill>
            <a:srgbClr val="FF0000"/>
          </a:solidFill>
        </p:grpSpPr>
        <p:sp>
          <p:nvSpPr>
            <p:cNvPr id="16" name="Thought Bubble: Cloud 15">
              <a:extLst>
                <a:ext uri="{FF2B5EF4-FFF2-40B4-BE49-F238E27FC236}">
                  <a16:creationId xmlns:a16="http://schemas.microsoft.com/office/drawing/2014/main" id="{65CC5E3D-DAF3-E212-F19A-1A518BC43721}"/>
                </a:ext>
              </a:extLst>
            </p:cNvPr>
            <p:cNvSpPr/>
            <p:nvPr/>
          </p:nvSpPr>
          <p:spPr>
            <a:xfrm>
              <a:off x="832406" y="4078922"/>
              <a:ext cx="5138058" cy="1766960"/>
            </a:xfrm>
            <a:prstGeom prst="cloudCallou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B213B0-E847-51A0-D034-4B1FD54A03C8}"/>
                </a:ext>
              </a:extLst>
            </p:cNvPr>
            <p:cNvSpPr txBox="1"/>
            <p:nvPr/>
          </p:nvSpPr>
          <p:spPr>
            <a:xfrm>
              <a:off x="1549105" y="4546903"/>
              <a:ext cx="3704660" cy="76944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2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How to overcome these challenges?</a:t>
              </a:r>
              <a:endParaRPr lang="en-US" sz="2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E8C7D6BC-C94B-BDA5-8AE6-2C5545B32C3B}"/>
              </a:ext>
            </a:extLst>
          </p:cNvPr>
          <p:cNvSpPr/>
          <p:nvPr/>
        </p:nvSpPr>
        <p:spPr>
          <a:xfrm>
            <a:off x="650240" y="4494420"/>
            <a:ext cx="4927600" cy="1766960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Deep Learning based on Convolution Neural Networks to the rescue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17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>
            <a:spLocks noGrp="1"/>
          </p:cNvSpPr>
          <p:nvPr>
            <p:ph type="ctrTitle"/>
          </p:nvPr>
        </p:nvSpPr>
        <p:spPr>
          <a:xfrm>
            <a:off x="2304999" y="2705259"/>
            <a:ext cx="8024949" cy="89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000"/>
              <a:buFont typeface="Gill Sans"/>
              <a:buNone/>
            </a:pPr>
            <a:r>
              <a:rPr lang="en-US" dirty="0"/>
              <a:t>How to represent Images in a Computer?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Digital Image</a:t>
            </a:r>
            <a:endParaRPr dirty="0"/>
          </a:p>
        </p:txBody>
      </p:sp>
      <p:pic>
        <p:nvPicPr>
          <p:cNvPr id="193" name="Google Shape;193;p12"/>
          <p:cNvPicPr preferRelativeResize="0"/>
          <p:nvPr/>
        </p:nvPicPr>
        <p:blipFill rotWithShape="1">
          <a:blip r:embed="rId3">
            <a:alphaModFix/>
          </a:blip>
          <a:srcRect l="3424" t="4234" r="35352" b="17158"/>
          <a:stretch/>
        </p:blipFill>
        <p:spPr>
          <a:xfrm>
            <a:off x="40640" y="1451710"/>
            <a:ext cx="5073469" cy="477692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67;p9">
            <a:extLst>
              <a:ext uri="{FF2B5EF4-FFF2-40B4-BE49-F238E27FC236}">
                <a16:creationId xmlns:a16="http://schemas.microsoft.com/office/drawing/2014/main" id="{2A9FFB6C-DAA4-4538-9F6E-AC0C8B074BF3}"/>
              </a:ext>
            </a:extLst>
          </p:cNvPr>
          <p:cNvSpPr txBox="1">
            <a:spLocks/>
          </p:cNvSpPr>
          <p:nvPr/>
        </p:nvSpPr>
        <p:spPr>
          <a:xfrm>
            <a:off x="5801360" y="1029094"/>
            <a:ext cx="6228080" cy="5465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86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12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A digital image consists of pixels arranged in rows and columns</a:t>
            </a:r>
          </a:p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Pixels are little squares filled with a colour shade </a:t>
            </a:r>
          </a:p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There is a value associated with each pixel representing the intensity of the colour </a:t>
            </a:r>
          </a:p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Typically this value lies between 0 and 255 (8-bit integer)</a:t>
            </a:r>
          </a:p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So digital image can be seen as a </a:t>
            </a:r>
            <a:r>
              <a:rPr lang="en-IN" sz="2800" dirty="0">
                <a:solidFill>
                  <a:srgbClr val="0070C0"/>
                </a:solidFill>
              </a:rPr>
              <a:t>matrix of pixel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214D10-B147-4687-A99A-769F6EBCAF30}"/>
                  </a:ext>
                </a:extLst>
              </p:cNvPr>
              <p:cNvSpPr txBox="1"/>
              <p:nvPr/>
            </p:nvSpPr>
            <p:spPr>
              <a:xfrm>
                <a:off x="4880269" y="4014342"/>
                <a:ext cx="129965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214D10-B147-4687-A99A-769F6EBCA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269" y="4014342"/>
                <a:ext cx="1299651" cy="307777"/>
              </a:xfrm>
              <a:prstGeom prst="rect">
                <a:avLst/>
              </a:prstGeom>
              <a:blipFill>
                <a:blip r:embed="rId4"/>
                <a:stretch>
                  <a:fillRect l="-3756" r="-6103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9E6458-4896-4A29-A483-D38ABF972FBC}"/>
                  </a:ext>
                </a:extLst>
              </p:cNvPr>
              <p:cNvSpPr txBox="1"/>
              <p:nvPr/>
            </p:nvSpPr>
            <p:spPr>
              <a:xfrm>
                <a:off x="107409" y="2998113"/>
                <a:ext cx="30104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9E6458-4896-4A29-A483-D38ABF972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09" y="2998113"/>
                <a:ext cx="30104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C037EE-0E26-4D70-9D5C-A1EDE7E64269}"/>
                  </a:ext>
                </a:extLst>
              </p:cNvPr>
              <p:cNvSpPr txBox="1"/>
              <p:nvPr/>
            </p:nvSpPr>
            <p:spPr>
              <a:xfrm>
                <a:off x="3647443" y="1303595"/>
                <a:ext cx="30591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C037EE-0E26-4D70-9D5C-A1EDE7E64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443" y="1303595"/>
                <a:ext cx="305918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Types of Images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67;p9">
                <a:extLst>
                  <a:ext uri="{FF2B5EF4-FFF2-40B4-BE49-F238E27FC236}">
                    <a16:creationId xmlns:a16="http://schemas.microsoft.com/office/drawing/2014/main" id="{2A9FFB6C-DAA4-4538-9F6E-AC0C8B074B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1260" y="1187950"/>
                <a:ext cx="11213011" cy="5078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861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891A7"/>
                  </a:buClr>
                  <a:buSzPts val="1260"/>
                  <a:buFont typeface="Noto Sans Symbols"/>
                  <a:buChar char="⚫"/>
                  <a:defRPr sz="3200" b="0" i="0" u="none" strike="noStrike" cap="none">
                    <a:solidFill>
                      <a:schemeClr val="dk1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3891A7"/>
                  </a:buClr>
                  <a:buSzPts val="1800"/>
                  <a:buFont typeface="Verdana"/>
                  <a:buChar char="◦"/>
                  <a:defRPr sz="2800" b="0" i="0" u="none" strike="noStrike" cap="none">
                    <a:solidFill>
                      <a:schemeClr val="dk1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C000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7030A0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7030A0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indent="-457200">
                  <a:lnSpc>
                    <a:spcPct val="100000"/>
                  </a:lnSpc>
                  <a:buSzPts val="2240"/>
                  <a:buFont typeface="Courier New" panose="02070309020205020404" pitchFamily="49" charset="0"/>
                  <a:buChar char="o"/>
                </a:pPr>
                <a:r>
                  <a:rPr lang="en-IN" sz="2800" dirty="0"/>
                  <a:t>Binary Images:</a:t>
                </a:r>
              </a:p>
              <a:p>
                <a:pPr lvl="1" indent="-457200">
                  <a:lnSpc>
                    <a:spcPct val="100000"/>
                  </a:lnSpc>
                  <a:buSzPts val="2240"/>
                  <a:buFont typeface="Wingdings" panose="05000000000000000000" pitchFamily="2" charset="2"/>
                  <a:buChar char="Ø"/>
                </a:pPr>
                <a:r>
                  <a:rPr lang="en-IN" sz="2400" dirty="0"/>
                  <a:t>Consists of only black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IN" sz="2400" dirty="0"/>
                  <a:t> and while pixels 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endParaRPr lang="en-IN" sz="2400" dirty="0"/>
              </a:p>
              <a:p>
                <a:pPr lvl="1" indent="-457200">
                  <a:lnSpc>
                    <a:spcPct val="100000"/>
                  </a:lnSpc>
                  <a:buSzPts val="2240"/>
                  <a:buFont typeface="Wingdings" panose="05000000000000000000" pitchFamily="2" charset="2"/>
                  <a:buChar char="Ø"/>
                </a:pPr>
                <a:r>
                  <a:rPr lang="en-IN" sz="2400" dirty="0"/>
                  <a:t>Often used in character and text recognition</a:t>
                </a:r>
              </a:p>
              <a:p>
                <a:pPr indent="-457200">
                  <a:lnSpc>
                    <a:spcPct val="100000"/>
                  </a:lnSpc>
                  <a:buSzPts val="2240"/>
                  <a:buFont typeface="Courier New" panose="02070309020205020404" pitchFamily="49" charset="0"/>
                  <a:buChar char="o"/>
                </a:pPr>
                <a:r>
                  <a:rPr lang="en-IN" sz="2800" dirty="0"/>
                  <a:t>Black &amp; White Images:</a:t>
                </a:r>
              </a:p>
              <a:p>
                <a:pPr lvl="1" indent="-457200">
                  <a:lnSpc>
                    <a:spcPct val="100000"/>
                  </a:lnSpc>
                  <a:buSzPts val="2240"/>
                  <a:buFont typeface="Wingdings" panose="05000000000000000000" pitchFamily="2" charset="2"/>
                  <a:buChar char="Ø"/>
                </a:pPr>
                <a:r>
                  <a:rPr lang="en-IN" sz="2400" dirty="0" err="1"/>
                  <a:t>Grayscaled</a:t>
                </a:r>
                <a:r>
                  <a:rPr lang="en-IN" sz="2400" dirty="0"/>
                  <a:t> images with pixel values between 0 and 255</a:t>
                </a:r>
              </a:p>
              <a:p>
                <a:pPr lvl="1" indent="-457200">
                  <a:lnSpc>
                    <a:spcPct val="100000"/>
                  </a:lnSpc>
                  <a:buSzPts val="2240"/>
                  <a:buFont typeface="Wingdings" panose="05000000000000000000" pitchFamily="2" charset="2"/>
                  <a:buChar char="Ø"/>
                </a:pPr>
                <a:r>
                  <a:rPr lang="en-IN" sz="2400" dirty="0"/>
                  <a:t>Every pixel is a shade of </a:t>
                </a:r>
                <a:r>
                  <a:rPr lang="en-IN" sz="2400" dirty="0" err="1"/>
                  <a:t>gray</a:t>
                </a:r>
                <a:endParaRPr lang="en-IN" sz="2400" dirty="0"/>
              </a:p>
              <a:p>
                <a:pPr indent="-457200">
                  <a:lnSpc>
                    <a:spcPct val="100000"/>
                  </a:lnSpc>
                  <a:buSzPts val="2240"/>
                  <a:buFont typeface="Courier New" panose="02070309020205020404" pitchFamily="49" charset="0"/>
                  <a:buChar char="o"/>
                </a:pPr>
                <a:r>
                  <a:rPr lang="en-IN" sz="2800" dirty="0"/>
                  <a:t>8-bit Colour Images:</a:t>
                </a:r>
              </a:p>
              <a:p>
                <a:pPr lvl="1" indent="-457200">
                  <a:lnSpc>
                    <a:spcPct val="100000"/>
                  </a:lnSpc>
                  <a:buSzPts val="2240"/>
                  <a:buFont typeface="Wingdings" panose="05000000000000000000" pitchFamily="2" charset="2"/>
                  <a:buChar char="Ø"/>
                </a:pPr>
                <a:r>
                  <a:rPr lang="en-IN" sz="2400" dirty="0"/>
                  <a:t>Popular type of colour images with pixel containing shades of red, green and blue</a:t>
                </a:r>
              </a:p>
              <a:p>
                <a:pPr lvl="1" indent="-457200">
                  <a:lnSpc>
                    <a:spcPct val="100000"/>
                  </a:lnSpc>
                  <a:buSzPts val="2240"/>
                  <a:buFont typeface="Wingdings" panose="05000000000000000000" pitchFamily="2" charset="2"/>
                  <a:buChar char="Ø"/>
                </a:pPr>
                <a:r>
                  <a:rPr lang="en-IN" sz="2400" dirty="0"/>
                  <a:t>Every pixel has 3 values representing shades of red, green and blue</a:t>
                </a:r>
              </a:p>
            </p:txBody>
          </p:sp>
        </mc:Choice>
        <mc:Fallback xmlns="">
          <p:sp>
            <p:nvSpPr>
              <p:cNvPr id="9" name="Google Shape;167;p9">
                <a:extLst>
                  <a:ext uri="{FF2B5EF4-FFF2-40B4-BE49-F238E27FC236}">
                    <a16:creationId xmlns:a16="http://schemas.microsoft.com/office/drawing/2014/main" id="{2A9FFB6C-DAA4-4538-9F6E-AC0C8B074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60" y="1187950"/>
                <a:ext cx="11213011" cy="5078428"/>
              </a:xfrm>
              <a:prstGeom prst="rect">
                <a:avLst/>
              </a:prstGeom>
              <a:blipFill>
                <a:blip r:embed="rId3"/>
                <a:stretch>
                  <a:fillRect l="-653" r="-1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7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>
            <a:spLocks noGrp="1"/>
          </p:cNvSpPr>
          <p:nvPr>
            <p:ph type="title"/>
          </p:nvPr>
        </p:nvSpPr>
        <p:spPr>
          <a:xfrm>
            <a:off x="261260" y="-410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Color Images</a:t>
            </a:r>
            <a:endParaRPr dirty="0"/>
          </a:p>
        </p:txBody>
      </p:sp>
      <p:sp>
        <p:nvSpPr>
          <p:cNvPr id="203" name="Google Shape;203;p13"/>
          <p:cNvSpPr txBox="1">
            <a:spLocks noGrp="1"/>
          </p:cNvSpPr>
          <p:nvPr>
            <p:ph type="body" idx="1"/>
          </p:nvPr>
        </p:nvSpPr>
        <p:spPr>
          <a:xfrm>
            <a:off x="645160" y="161684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685800" lvl="1" indent="-50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228600" lvl="0" indent="-8636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</a:pPr>
            <a:endParaRPr dirty="0"/>
          </a:p>
          <a:p>
            <a:pPr marL="228600" lvl="0" indent="-8636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</a:pPr>
            <a:endParaRPr dirty="0"/>
          </a:p>
        </p:txBody>
      </p:sp>
      <p:pic>
        <p:nvPicPr>
          <p:cNvPr id="204" name="Google Shape;20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18668" y="1538287"/>
            <a:ext cx="3895725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3"/>
          <p:cNvPicPr preferRelativeResize="0"/>
          <p:nvPr/>
        </p:nvPicPr>
        <p:blipFill rotWithShape="1">
          <a:blip r:embed="rId4">
            <a:alphaModFix/>
          </a:blip>
          <a:srcRect l="16554" t="15568" r="67490" b="3533"/>
          <a:stretch/>
        </p:blipFill>
        <p:spPr>
          <a:xfrm>
            <a:off x="4995013" y="172092"/>
            <a:ext cx="2283856" cy="651381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3"/>
          <p:cNvSpPr/>
          <p:nvPr/>
        </p:nvSpPr>
        <p:spPr>
          <a:xfrm>
            <a:off x="7519855" y="3521467"/>
            <a:ext cx="698813" cy="29795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167;p9">
                <a:extLst>
                  <a:ext uri="{FF2B5EF4-FFF2-40B4-BE49-F238E27FC236}">
                    <a16:creationId xmlns:a16="http://schemas.microsoft.com/office/drawing/2014/main" id="{F6E10731-4E1D-4AE7-80A8-28F4518FC5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5018" y="889815"/>
                <a:ext cx="5270138" cy="54658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861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891A7"/>
                  </a:buClr>
                  <a:buSzPts val="1260"/>
                  <a:buFont typeface="Noto Sans Symbols"/>
                  <a:buChar char="⚫"/>
                  <a:defRPr sz="3200" b="0" i="0" u="none" strike="noStrike" cap="none">
                    <a:solidFill>
                      <a:schemeClr val="dk1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3891A7"/>
                  </a:buClr>
                  <a:buSzPts val="1800"/>
                  <a:buFont typeface="Verdana"/>
                  <a:buChar char="◦"/>
                  <a:defRPr sz="2800" b="0" i="0" u="none" strike="noStrike" cap="none">
                    <a:solidFill>
                      <a:schemeClr val="dk1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C000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7030A0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7030A0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Gill Sans"/>
                    <a:ea typeface="Gill Sans"/>
                    <a:cs typeface="Gill Sans"/>
                    <a:sym typeface="Gill Sans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indent="-457200">
                  <a:lnSpc>
                    <a:spcPct val="120000"/>
                  </a:lnSpc>
                  <a:buSzPts val="2240"/>
                  <a:buFont typeface="Courier New" panose="02070309020205020404" pitchFamily="49" charset="0"/>
                  <a:buChar char="o"/>
                </a:pPr>
                <a:r>
                  <a:rPr lang="en-IN" sz="2800" dirty="0"/>
                  <a:t>Every pixel consists of three functions:</a:t>
                </a:r>
              </a:p>
              <a:p>
                <a:pPr marL="0" indent="0">
                  <a:lnSpc>
                    <a:spcPct val="120000"/>
                  </a:lnSpc>
                  <a:buSzPts val="224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  <a:p>
                <a:pPr indent="-457200">
                  <a:lnSpc>
                    <a:spcPct val="120000"/>
                  </a:lnSpc>
                  <a:buSzPts val="2240"/>
                  <a:buFont typeface="Courier New" panose="02070309020205020404" pitchFamily="49" charset="0"/>
                  <a:buChar char="o"/>
                </a:pPr>
                <a:r>
                  <a:rPr lang="en-IN" sz="2800" dirty="0"/>
                  <a:t>Pixel value represents the intensity of each colour</a:t>
                </a:r>
              </a:p>
              <a:p>
                <a:pPr indent="-457200">
                  <a:lnSpc>
                    <a:spcPct val="120000"/>
                  </a:lnSpc>
                  <a:buSzPts val="2240"/>
                  <a:buFont typeface="Courier New" panose="02070309020205020404" pitchFamily="49" charset="0"/>
                  <a:buChar char="o"/>
                </a:pPr>
                <a:r>
                  <a:rPr lang="en-IN" sz="2800" dirty="0"/>
                  <a:t>0 represents darkest shade and 255 represents brightest shade</a:t>
                </a:r>
              </a:p>
              <a:p>
                <a:pPr indent="-457200">
                  <a:lnSpc>
                    <a:spcPct val="120000"/>
                  </a:lnSpc>
                  <a:buSzPts val="2240"/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=(0,0,0)</m:t>
                    </m:r>
                  </m:oMath>
                </a14:m>
                <a:r>
                  <a:rPr lang="en-IN" sz="2800" dirty="0"/>
                  <a:t> represents black pixel</a:t>
                </a:r>
              </a:p>
            </p:txBody>
          </p:sp>
        </mc:Choice>
        <mc:Fallback xmlns="">
          <p:sp>
            <p:nvSpPr>
              <p:cNvPr id="8" name="Google Shape;167;p9">
                <a:extLst>
                  <a:ext uri="{FF2B5EF4-FFF2-40B4-BE49-F238E27FC236}">
                    <a16:creationId xmlns:a16="http://schemas.microsoft.com/office/drawing/2014/main" id="{F6E10731-4E1D-4AE7-80A8-28F4518FC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18" y="889815"/>
                <a:ext cx="5270138" cy="5465884"/>
              </a:xfrm>
              <a:prstGeom prst="rect">
                <a:avLst/>
              </a:prstGeom>
              <a:blipFill>
                <a:blip r:embed="rId5"/>
                <a:stretch>
                  <a:fillRect l="-1272" r="-19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a7509579c8_0_158"/>
          <p:cNvSpPr txBox="1">
            <a:spLocks noGrp="1"/>
          </p:cNvSpPr>
          <p:nvPr>
            <p:ph type="title"/>
          </p:nvPr>
        </p:nvSpPr>
        <p:spPr>
          <a:xfrm>
            <a:off x="301611" y="177165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392938" y="2011362"/>
            <a:ext cx="55388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</p:txBody>
      </p:sp>
      <p:sp>
        <p:nvSpPr>
          <p:cNvPr id="5" name="Google Shape;128;p4">
            <a:extLst>
              <a:ext uri="{FF2B5EF4-FFF2-40B4-BE49-F238E27FC236}">
                <a16:creationId xmlns:a16="http://schemas.microsoft.com/office/drawing/2014/main" id="{F7297FCA-73EE-4884-83FD-766905B7A3F8}"/>
              </a:ext>
            </a:extLst>
          </p:cNvPr>
          <p:cNvSpPr txBox="1">
            <a:spLocks/>
          </p:cNvSpPr>
          <p:nvPr/>
        </p:nvSpPr>
        <p:spPr>
          <a:xfrm>
            <a:off x="558800" y="1352550"/>
            <a:ext cx="10926553" cy="4621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891A7"/>
              </a:buClr>
              <a:buSzPts val="1400"/>
              <a:buFont typeface="Verdana"/>
              <a:buChar char="○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■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○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r>
              <a:rPr lang="en-IN" sz="2800" dirty="0">
                <a:solidFill>
                  <a:schemeClr val="tx1"/>
                </a:solidFill>
              </a:rPr>
              <a:t>Computer Vision is an area of AI which involves developing techniques to extract and deduce information from images/videos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r>
              <a:rPr lang="en-IN" sz="2800" dirty="0">
                <a:solidFill>
                  <a:schemeClr val="tx1"/>
                </a:solidFill>
              </a:rPr>
              <a:t>Different challenges exist in making computers understand and extract information from an image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r>
              <a:rPr lang="en-IN" sz="2800" dirty="0">
                <a:solidFill>
                  <a:schemeClr val="tx1"/>
                </a:solidFill>
              </a:rPr>
              <a:t>Digital image consists of information in the form of pixel values which indicate brightness of a colour in an image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r>
              <a:rPr lang="en-IN" sz="2800" dirty="0">
                <a:solidFill>
                  <a:schemeClr val="tx1"/>
                </a:solidFill>
              </a:rPr>
              <a:t>Colour images can be presented using three layers of pixel values with each layer corresponding to a shade of Red, Blue and Green</a:t>
            </a:r>
          </a:p>
        </p:txBody>
      </p:sp>
    </p:spTree>
    <p:extLst>
      <p:ext uri="{BB962C8B-B14F-4D97-AF65-F5344CB8AC3E}">
        <p14:creationId xmlns:p14="http://schemas.microsoft.com/office/powerpoint/2010/main" val="217425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2"/>
          <p:cNvSpPr txBox="1">
            <a:spLocks noGrp="1"/>
          </p:cNvSpPr>
          <p:nvPr>
            <p:ph type="title"/>
          </p:nvPr>
        </p:nvSpPr>
        <p:spPr>
          <a:xfrm>
            <a:off x="197933" y="558993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866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3866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19986</TotalTime>
  <Words>673</Words>
  <Application>Microsoft Office PowerPoint</Application>
  <PresentationFormat>Widescreen</PresentationFormat>
  <Paragraphs>88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Montserrat</vt:lpstr>
      <vt:lpstr>Calibri</vt:lpstr>
      <vt:lpstr>Cambria Math</vt:lpstr>
      <vt:lpstr>Courier New</vt:lpstr>
      <vt:lpstr>Arial</vt:lpstr>
      <vt:lpstr>Gill Sans</vt:lpstr>
      <vt:lpstr>Noto Sans Symbols</vt:lpstr>
      <vt:lpstr>Wingdings</vt:lpstr>
      <vt:lpstr>Simple Light</vt:lpstr>
      <vt:lpstr>Office Theme</vt:lpstr>
      <vt:lpstr>Introduction to Computer Vision and Image Analytics</vt:lpstr>
      <vt:lpstr>Contents</vt:lpstr>
      <vt:lpstr>What is Computer Vision?</vt:lpstr>
      <vt:lpstr>Image and Video Analytics</vt:lpstr>
      <vt:lpstr>Challenges in Computer Vision/Image/Video Analytics</vt:lpstr>
      <vt:lpstr>Structured Vs Unstructured Data</vt:lpstr>
      <vt:lpstr>Challenges in Computer Vision</vt:lpstr>
      <vt:lpstr>Challenges in Computer Vision</vt:lpstr>
      <vt:lpstr>Challenges in Computer Vision</vt:lpstr>
      <vt:lpstr>How to represent Images in a Computer?</vt:lpstr>
      <vt:lpstr>Digital Image</vt:lpstr>
      <vt:lpstr>Types of Images</vt:lpstr>
      <vt:lpstr>Color Images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 and  Image Understanding</dc:title>
  <dc:creator>Shweta Sridhar</dc:creator>
  <cp:lastModifiedBy>Satya J</cp:lastModifiedBy>
  <cp:revision>65</cp:revision>
  <dcterms:created xsi:type="dcterms:W3CDTF">2019-05-02T04:32:46Z</dcterms:created>
  <dcterms:modified xsi:type="dcterms:W3CDTF">2024-02-10T05:23:12Z</dcterms:modified>
</cp:coreProperties>
</file>