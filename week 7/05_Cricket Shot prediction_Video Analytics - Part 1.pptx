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79" r:id="rId2"/>
  </p:sldMasterIdLst>
  <p:notesMasterIdLst>
    <p:notesMasterId r:id="rId20"/>
  </p:notesMasterIdLst>
  <p:sldIdLst>
    <p:sldId id="447" r:id="rId3"/>
    <p:sldId id="469" r:id="rId4"/>
    <p:sldId id="470" r:id="rId5"/>
    <p:sldId id="471" r:id="rId6"/>
    <p:sldId id="261" r:id="rId7"/>
    <p:sldId id="449" r:id="rId8"/>
    <p:sldId id="450" r:id="rId9"/>
    <p:sldId id="265" r:id="rId10"/>
    <p:sldId id="451" r:id="rId11"/>
    <p:sldId id="452" r:id="rId12"/>
    <p:sldId id="487" r:id="rId13"/>
    <p:sldId id="488" r:id="rId14"/>
    <p:sldId id="457" r:id="rId15"/>
    <p:sldId id="476" r:id="rId16"/>
    <p:sldId id="492" r:id="rId17"/>
    <p:sldId id="493" r:id="rId18"/>
    <p:sldId id="293" r:id="rId19"/>
  </p:sldIdLst>
  <p:sldSz cx="12192000" cy="6858000"/>
  <p:notesSz cx="6858000" cy="9144000"/>
  <p:embeddedFontLst>
    <p:embeddedFont>
      <p:font typeface="Cabin" panose="020B0604020202020204" charset="0"/>
      <p:regular r:id="rId21"/>
      <p:bold r:id="rId22"/>
      <p:italic r:id="rId23"/>
      <p:boldItalic r:id="rId24"/>
    </p:embeddedFont>
    <p:embeddedFont>
      <p:font typeface="Gill Sans" panose="020B0604020202020204" charset="0"/>
      <p:regular r:id="rId25"/>
      <p:bold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iM5Tl54x7j9l4IykyUpB9Rrq5s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E48A7B-9E87-4D62-B251-134843940CCE}">
  <a:tblStyle styleId="{59E48A7B-9E87-4D62-B251-134843940C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412D91-092D-44FF-A22B-1379C6198B5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4" autoAdjust="0"/>
    <p:restoredTop sz="94660"/>
  </p:normalViewPr>
  <p:slideViewPr>
    <p:cSldViewPr snapToGrid="0">
      <p:cViewPr varScale="1">
        <p:scale>
          <a:sx n="59" d="100"/>
          <a:sy n="59" d="100"/>
        </p:scale>
        <p:origin x="7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6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65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 custT="1"/>
      <dgm:spPr/>
      <dgm:t>
        <a:bodyPr/>
        <a:lstStyle/>
        <a:p>
          <a:r>
            <a:rPr lang="en-IN" sz="2600" dirty="0">
              <a:latin typeface="Gill Sans" panose="020B0604020202020204" charset="0"/>
            </a:rPr>
            <a:t>Collect relevant data along with class label</a:t>
          </a:r>
          <a:endParaRPr lang="en-US" sz="2600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Collect relevant data along with class label</a:t>
          </a:r>
          <a:endParaRPr lang="en-US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C62AD73-5C88-4CC8-966D-CD4AA2AAE98D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7460A73-92BA-40B7-A722-3CEC1FF0E9F0}" type="par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961A7312-1314-4B8C-B439-85278D68DD67}" type="sib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570825BC-3529-461E-BA9B-91A7A75254B3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Clean the data and fill any missing values</a:t>
          </a:r>
          <a:endParaRPr lang="en-US" dirty="0">
            <a:latin typeface="Gill Sans" panose="020B0604020202020204" charset="0"/>
          </a:endParaRPr>
        </a:p>
      </dgm:t>
    </dgm:pt>
    <dgm:pt modelId="{CC495178-7BE0-4847-A25E-29ED5AFB61EB}" type="par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5554DD8-AF9F-4E0F-A533-01FFF58CD95A}" type="sib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7845D0D-FDFE-490F-B3B8-650A368537A0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Pre-process the data as </a:t>
          </a:r>
          <a:r>
            <a:rPr lang="en-IN">
              <a:latin typeface="Gill Sans" panose="020B0604020202020204" charset="0"/>
            </a:rPr>
            <a:t>necessary </a:t>
          </a:r>
          <a:endParaRPr lang="en-US" dirty="0">
            <a:latin typeface="Gill Sans" panose="020B0604020202020204" charset="0"/>
          </a:endParaRPr>
        </a:p>
      </dgm:t>
    </dgm:pt>
    <dgm:pt modelId="{7195D1D4-98A6-439A-96F5-9A3B891451DC}" type="par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29DCAD12-D764-4927-9C39-876C050573A7}" type="sib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2">
        <dgm:presLayoutVars>
          <dgm:bulletEnabled val="1"/>
        </dgm:presLayoutVars>
      </dgm:prSet>
      <dgm:spPr/>
    </dgm:pt>
    <dgm:pt modelId="{0AEDA78C-35DE-410C-8EA9-A2F0BDCB0203}" type="pres">
      <dgm:prSet presAssocID="{1664888C-C781-471F-A272-B3FD5D7D2BD0}" presName="sp" presStyleCnt="0"/>
      <dgm:spPr/>
    </dgm:pt>
    <dgm:pt modelId="{14C91F22-95EE-461C-B8AF-3D5DA9DAB41A}" type="pres">
      <dgm:prSet presAssocID="{7C62AD73-5C88-4CC8-966D-CD4AA2AAE98D}" presName="composite" presStyleCnt="0"/>
      <dgm:spPr/>
    </dgm:pt>
    <dgm:pt modelId="{454B0165-B1F8-4114-9A68-6D50E0844D16}" type="pres">
      <dgm:prSet presAssocID="{7C62AD73-5C88-4CC8-966D-CD4AA2AAE98D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59112E16-E603-4827-B531-8F3DF793E526}" type="pres">
      <dgm:prSet presAssocID="{7C62AD73-5C88-4CC8-966D-CD4AA2AAE98D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8DF90501-DD54-4B48-9E0F-9BE38AA52C4E}" srcId="{CB673EE2-49F4-40CA-A99B-18C9DEA1CE59}" destId="{7C62AD73-5C88-4CC8-966D-CD4AA2AAE98D}" srcOrd="1" destOrd="0" parTransId="{C7460A73-92BA-40B7-A722-3CEC1FF0E9F0}" sibTransId="{961A7312-1314-4B8C-B439-85278D68DD67}"/>
    <dgm:cxn modelId="{4E7C9A03-5249-42D5-9DEF-043B40038FD4}" type="presOf" srcId="{A7845D0D-FDFE-490F-B3B8-650A368537A0}" destId="{59112E16-E603-4827-B531-8F3DF793E526}" srcOrd="0" destOrd="1" presId="urn:microsoft.com/office/officeart/2005/8/layout/chevron2"/>
    <dgm:cxn modelId="{DBE0D203-DF6B-49A1-9097-F0000E9A6A78}" type="presOf" srcId="{570825BC-3529-461E-BA9B-91A7A75254B3}" destId="{59112E16-E603-4827-B531-8F3DF793E526}" srcOrd="0" destOrd="0" presId="urn:microsoft.com/office/officeart/2005/8/layout/chevron2"/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E9648E43-307A-462F-9825-91CC00237D17}" srcId="{7C62AD73-5C88-4CC8-966D-CD4AA2AAE98D}" destId="{570825BC-3529-461E-BA9B-91A7A75254B3}" srcOrd="0" destOrd="0" parTransId="{CC495178-7BE0-4847-A25E-29ED5AFB61EB}" sibTransId="{75554DD8-AF9F-4E0F-A533-01FFF58CD95A}"/>
    <dgm:cxn modelId="{8D75506A-EB7F-44EC-B320-3B01FF708500}" srcId="{7C62AD73-5C88-4CC8-966D-CD4AA2AAE98D}" destId="{A7845D0D-FDFE-490F-B3B8-650A368537A0}" srcOrd="1" destOrd="0" parTransId="{7195D1D4-98A6-439A-96F5-9A3B891451DC}" sibTransId="{29DCAD12-D764-4927-9C39-876C050573A7}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F38162D0-8DC2-44BC-9006-01C9349C6C8F}" type="presOf" srcId="{7C62AD73-5C88-4CC8-966D-CD4AA2AAE98D}" destId="{454B0165-B1F8-4114-9A68-6D50E0844D16}" srcOrd="0" destOrd="0" presId="urn:microsoft.com/office/officeart/2005/8/layout/chevron2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  <dgm:cxn modelId="{027A0B2C-E1CD-4405-BF59-1646310CF490}" type="presParOf" srcId="{092ADF19-79F0-4D05-BD89-B3F8B1D81509}" destId="{0AEDA78C-35DE-410C-8EA9-A2F0BDCB0203}" srcOrd="1" destOrd="0" presId="urn:microsoft.com/office/officeart/2005/8/layout/chevron2"/>
    <dgm:cxn modelId="{D893F802-0871-441C-801A-C08EE1366038}" type="presParOf" srcId="{092ADF19-79F0-4D05-BD89-B3F8B1D81509}" destId="{14C91F22-95EE-461C-B8AF-3D5DA9DAB41A}" srcOrd="2" destOrd="0" presId="urn:microsoft.com/office/officeart/2005/8/layout/chevron2"/>
    <dgm:cxn modelId="{DDCB3F7A-9AFA-4FB3-827F-649DCE171BBB}" type="presParOf" srcId="{14C91F22-95EE-461C-B8AF-3D5DA9DAB41A}" destId="{454B0165-B1F8-4114-9A68-6D50E0844D16}" srcOrd="0" destOrd="0" presId="urn:microsoft.com/office/officeart/2005/8/layout/chevron2"/>
    <dgm:cxn modelId="{8FB2C4CA-9CED-4A58-A6A4-DF08D27DFE73}" type="presParOf" srcId="{14C91F22-95EE-461C-B8AF-3D5DA9DAB41A}" destId="{59112E16-E603-4827-B531-8F3DF793E52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673EE2-49F4-40CA-A99B-18C9DEA1CE5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2D186-0047-4B17-A3F5-E59E3762A03A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E8C0E9C-E7E8-4D25-B8FD-7152F6E9EA35}" type="par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664888C-C781-471F-A272-B3FD5D7D2BD0}" type="sibTrans" cxnId="{2170F3A5-BAA5-41D6-B81A-427FEC4231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8F633EAF-C35F-431F-853B-9BF31EF36FDF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Collect relevant data along with class label</a:t>
          </a:r>
          <a:endParaRPr lang="en-US" dirty="0">
            <a:latin typeface="Gill Sans" panose="020B0604020202020204" charset="0"/>
          </a:endParaRPr>
        </a:p>
      </dgm:t>
    </dgm:pt>
    <dgm:pt modelId="{957C3D87-9443-46B8-AF22-7C76A8C23D45}" type="par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E5CFB9CC-BF95-4D3C-8522-D4D1349A5B4D}" type="sibTrans" cxnId="{44E7D203-E5B3-4CFE-A820-F2E27D696CA8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C62AD73-5C88-4CC8-966D-CD4AA2AAE98D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C7460A73-92BA-40B7-A722-3CEC1FF0E9F0}" type="par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961A7312-1314-4B8C-B439-85278D68DD67}" type="sibTrans" cxnId="{8DF90501-DD54-4B48-9E0F-9BE38AA52C4E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570825BC-3529-461E-BA9B-91A7A75254B3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Clean the data and fill any missing values</a:t>
          </a:r>
          <a:endParaRPr lang="en-US" dirty="0">
            <a:latin typeface="Gill Sans" panose="020B0604020202020204" charset="0"/>
          </a:endParaRPr>
        </a:p>
      </dgm:t>
    </dgm:pt>
    <dgm:pt modelId="{CC495178-7BE0-4847-A25E-29ED5AFB61EB}" type="par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75554DD8-AF9F-4E0F-A533-01FFF58CD95A}" type="sibTrans" cxnId="{E9648E43-307A-462F-9825-91CC00237D17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7845D0D-FDFE-490F-B3B8-650A368537A0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Pre-process the data as necessary </a:t>
          </a:r>
          <a:endParaRPr lang="en-US" dirty="0">
            <a:latin typeface="Gill Sans" panose="020B0604020202020204" charset="0"/>
          </a:endParaRPr>
        </a:p>
      </dgm:t>
    </dgm:pt>
    <dgm:pt modelId="{7195D1D4-98A6-439A-96F5-9A3B891451DC}" type="par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29DCAD12-D764-4927-9C39-876C050573A7}" type="sibTrans" cxnId="{8D75506A-EB7F-44EC-B320-3B01FF708500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275CA6D-5B3B-4941-8AB1-4B3A9C020A40}">
      <dgm:prSet phldrT="[Text]" custT="1"/>
      <dgm:spPr/>
      <dgm:t>
        <a:bodyPr/>
        <a:lstStyle/>
        <a:p>
          <a:r>
            <a:rPr lang="en-IN" sz="16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dirty="0">
            <a:solidFill>
              <a:srgbClr val="002060"/>
            </a:solidFill>
            <a:latin typeface="Gill Sans" panose="020B0604020202020204" charset="0"/>
          </a:endParaRPr>
        </a:p>
      </dgm:t>
    </dgm:pt>
    <dgm:pt modelId="{90137100-63E2-4BBD-90FF-10691408F2E9}" type="par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1D35C907-B7F5-4548-B1EF-CA666460D6D0}" type="sibTrans" cxnId="{98C544E4-6649-4981-85D0-513AEAA8436D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B7ACFE08-BEDA-4A47-859D-A11A0CACF79A}">
      <dgm:prSet phldrT="[Text]"/>
      <dgm:spPr/>
      <dgm:t>
        <a:bodyPr/>
        <a:lstStyle/>
        <a:p>
          <a:r>
            <a:rPr lang="en-IN" dirty="0">
              <a:latin typeface="Gill Sans" panose="020B0604020202020204" charset="0"/>
            </a:rPr>
            <a:t>Train classifier by learning relation between input features and output classes</a:t>
          </a:r>
          <a:endParaRPr lang="en-US" dirty="0">
            <a:latin typeface="Gill Sans" panose="020B0604020202020204" charset="0"/>
          </a:endParaRPr>
        </a:p>
      </dgm:t>
    </dgm:pt>
    <dgm:pt modelId="{30BF0152-E4E8-44C0-B22D-2E71793009EC}" type="par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AD504092-C6AB-4FCA-96C1-A69153DE184E}" type="sibTrans" cxnId="{6025FCCB-CA1F-4B07-8E70-F365B7340D05}">
      <dgm:prSet/>
      <dgm:spPr/>
      <dgm:t>
        <a:bodyPr/>
        <a:lstStyle/>
        <a:p>
          <a:endParaRPr lang="en-US">
            <a:latin typeface="Gill Sans" panose="020B0604020202020204" charset="0"/>
          </a:endParaRPr>
        </a:p>
      </dgm:t>
    </dgm:pt>
    <dgm:pt modelId="{092ADF19-79F0-4D05-BD89-B3F8B1D81509}" type="pres">
      <dgm:prSet presAssocID="{CB673EE2-49F4-40CA-A99B-18C9DEA1CE59}" presName="linearFlow" presStyleCnt="0">
        <dgm:presLayoutVars>
          <dgm:dir/>
          <dgm:animLvl val="lvl"/>
          <dgm:resizeHandles val="exact"/>
        </dgm:presLayoutVars>
      </dgm:prSet>
      <dgm:spPr/>
    </dgm:pt>
    <dgm:pt modelId="{2A31E14B-2493-456B-AE4F-66F2F8DA3214}" type="pres">
      <dgm:prSet presAssocID="{5C42D186-0047-4B17-A3F5-E59E3762A03A}" presName="composite" presStyleCnt="0"/>
      <dgm:spPr/>
    </dgm:pt>
    <dgm:pt modelId="{A2857188-87C7-4B13-A9A0-6B4FC476C6B8}" type="pres">
      <dgm:prSet presAssocID="{5C42D186-0047-4B17-A3F5-E59E3762A03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091D8E4-0696-4FA0-B591-806E15E2CA61}" type="pres">
      <dgm:prSet presAssocID="{5C42D186-0047-4B17-A3F5-E59E3762A03A}" presName="descendantText" presStyleLbl="alignAcc1" presStyleIdx="0" presStyleCnt="3">
        <dgm:presLayoutVars>
          <dgm:bulletEnabled val="1"/>
        </dgm:presLayoutVars>
      </dgm:prSet>
      <dgm:spPr/>
    </dgm:pt>
    <dgm:pt modelId="{0AEDA78C-35DE-410C-8EA9-A2F0BDCB0203}" type="pres">
      <dgm:prSet presAssocID="{1664888C-C781-471F-A272-B3FD5D7D2BD0}" presName="sp" presStyleCnt="0"/>
      <dgm:spPr/>
    </dgm:pt>
    <dgm:pt modelId="{14C91F22-95EE-461C-B8AF-3D5DA9DAB41A}" type="pres">
      <dgm:prSet presAssocID="{7C62AD73-5C88-4CC8-966D-CD4AA2AAE98D}" presName="composite" presStyleCnt="0"/>
      <dgm:spPr/>
    </dgm:pt>
    <dgm:pt modelId="{454B0165-B1F8-4114-9A68-6D50E0844D16}" type="pres">
      <dgm:prSet presAssocID="{7C62AD73-5C88-4CC8-966D-CD4AA2AAE98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9112E16-E603-4827-B531-8F3DF793E526}" type="pres">
      <dgm:prSet presAssocID="{7C62AD73-5C88-4CC8-966D-CD4AA2AAE98D}" presName="descendantText" presStyleLbl="alignAcc1" presStyleIdx="1" presStyleCnt="3">
        <dgm:presLayoutVars>
          <dgm:bulletEnabled val="1"/>
        </dgm:presLayoutVars>
      </dgm:prSet>
      <dgm:spPr/>
    </dgm:pt>
    <dgm:pt modelId="{A648B60D-71B7-415D-A796-84B53EAB51EF}" type="pres">
      <dgm:prSet presAssocID="{961A7312-1314-4B8C-B439-85278D68DD67}" presName="sp" presStyleCnt="0"/>
      <dgm:spPr/>
    </dgm:pt>
    <dgm:pt modelId="{A4EFD9A3-B07A-4FCE-ADBE-4C6799CD886F}" type="pres">
      <dgm:prSet presAssocID="{0275CA6D-5B3B-4941-8AB1-4B3A9C020A40}" presName="composite" presStyleCnt="0"/>
      <dgm:spPr/>
    </dgm:pt>
    <dgm:pt modelId="{9AC569D5-D34C-476D-9FCE-DC406E3764C4}" type="pres">
      <dgm:prSet presAssocID="{0275CA6D-5B3B-4941-8AB1-4B3A9C020A40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0B1F3FD-4A7B-4EB9-ABDB-620B0659A216}" type="pres">
      <dgm:prSet presAssocID="{0275CA6D-5B3B-4941-8AB1-4B3A9C020A40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DF90501-DD54-4B48-9E0F-9BE38AA52C4E}" srcId="{CB673EE2-49F4-40CA-A99B-18C9DEA1CE59}" destId="{7C62AD73-5C88-4CC8-966D-CD4AA2AAE98D}" srcOrd="1" destOrd="0" parTransId="{C7460A73-92BA-40B7-A722-3CEC1FF0E9F0}" sibTransId="{961A7312-1314-4B8C-B439-85278D68DD67}"/>
    <dgm:cxn modelId="{4E7C9A03-5249-42D5-9DEF-043B40038FD4}" type="presOf" srcId="{A7845D0D-FDFE-490F-B3B8-650A368537A0}" destId="{59112E16-E603-4827-B531-8F3DF793E526}" srcOrd="0" destOrd="1" presId="urn:microsoft.com/office/officeart/2005/8/layout/chevron2"/>
    <dgm:cxn modelId="{DBE0D203-DF6B-49A1-9097-F0000E9A6A78}" type="presOf" srcId="{570825BC-3529-461E-BA9B-91A7A75254B3}" destId="{59112E16-E603-4827-B531-8F3DF793E526}" srcOrd="0" destOrd="0" presId="urn:microsoft.com/office/officeart/2005/8/layout/chevron2"/>
    <dgm:cxn modelId="{44E7D203-E5B3-4CFE-A820-F2E27D696CA8}" srcId="{5C42D186-0047-4B17-A3F5-E59E3762A03A}" destId="{8F633EAF-C35F-431F-853B-9BF31EF36FDF}" srcOrd="0" destOrd="0" parTransId="{957C3D87-9443-46B8-AF22-7C76A8C23D45}" sibTransId="{E5CFB9CC-BF95-4D3C-8522-D4D1349A5B4D}"/>
    <dgm:cxn modelId="{FCFFEA3B-2B6C-462F-9E80-B49EB48B96CD}" type="presOf" srcId="{B7ACFE08-BEDA-4A47-859D-A11A0CACF79A}" destId="{E0B1F3FD-4A7B-4EB9-ABDB-620B0659A216}" srcOrd="0" destOrd="0" presId="urn:microsoft.com/office/officeart/2005/8/layout/chevron2"/>
    <dgm:cxn modelId="{E9648E43-307A-462F-9825-91CC00237D17}" srcId="{7C62AD73-5C88-4CC8-966D-CD4AA2AAE98D}" destId="{570825BC-3529-461E-BA9B-91A7A75254B3}" srcOrd="0" destOrd="0" parTransId="{CC495178-7BE0-4847-A25E-29ED5AFB61EB}" sibTransId="{75554DD8-AF9F-4E0F-A533-01FFF58CD95A}"/>
    <dgm:cxn modelId="{8D75506A-EB7F-44EC-B320-3B01FF708500}" srcId="{7C62AD73-5C88-4CC8-966D-CD4AA2AAE98D}" destId="{A7845D0D-FDFE-490F-B3B8-650A368537A0}" srcOrd="1" destOrd="0" parTransId="{7195D1D4-98A6-439A-96F5-9A3B891451DC}" sibTransId="{29DCAD12-D764-4927-9C39-876C050573A7}"/>
    <dgm:cxn modelId="{F1F73E79-6790-4021-8FFC-DEF525CA0B64}" type="presOf" srcId="{0275CA6D-5B3B-4941-8AB1-4B3A9C020A40}" destId="{9AC569D5-D34C-476D-9FCE-DC406E3764C4}" srcOrd="0" destOrd="0" presId="urn:microsoft.com/office/officeart/2005/8/layout/chevron2"/>
    <dgm:cxn modelId="{4D61F48E-4D0B-4E57-A556-46FD91AE79C4}" type="presOf" srcId="{5C42D186-0047-4B17-A3F5-E59E3762A03A}" destId="{A2857188-87C7-4B13-A9A0-6B4FC476C6B8}" srcOrd="0" destOrd="0" presId="urn:microsoft.com/office/officeart/2005/8/layout/chevron2"/>
    <dgm:cxn modelId="{9ED919A1-9EE4-44A6-ADB0-995963B603EE}" type="presOf" srcId="{CB673EE2-49F4-40CA-A99B-18C9DEA1CE59}" destId="{092ADF19-79F0-4D05-BD89-B3F8B1D81509}" srcOrd="0" destOrd="0" presId="urn:microsoft.com/office/officeart/2005/8/layout/chevron2"/>
    <dgm:cxn modelId="{2170F3A5-BAA5-41D6-B81A-427FEC423105}" srcId="{CB673EE2-49F4-40CA-A99B-18C9DEA1CE59}" destId="{5C42D186-0047-4B17-A3F5-E59E3762A03A}" srcOrd="0" destOrd="0" parTransId="{CE8C0E9C-E7E8-4D25-B8FD-7152F6E9EA35}" sibTransId="{1664888C-C781-471F-A272-B3FD5D7D2BD0}"/>
    <dgm:cxn modelId="{6025FCCB-CA1F-4B07-8E70-F365B7340D05}" srcId="{0275CA6D-5B3B-4941-8AB1-4B3A9C020A40}" destId="{B7ACFE08-BEDA-4A47-859D-A11A0CACF79A}" srcOrd="0" destOrd="0" parTransId="{30BF0152-E4E8-44C0-B22D-2E71793009EC}" sibTransId="{AD504092-C6AB-4FCA-96C1-A69153DE184E}"/>
    <dgm:cxn modelId="{F38162D0-8DC2-44BC-9006-01C9349C6C8F}" type="presOf" srcId="{7C62AD73-5C88-4CC8-966D-CD4AA2AAE98D}" destId="{454B0165-B1F8-4114-9A68-6D50E0844D16}" srcOrd="0" destOrd="0" presId="urn:microsoft.com/office/officeart/2005/8/layout/chevron2"/>
    <dgm:cxn modelId="{98C544E4-6649-4981-85D0-513AEAA8436D}" srcId="{CB673EE2-49F4-40CA-A99B-18C9DEA1CE59}" destId="{0275CA6D-5B3B-4941-8AB1-4B3A9C020A40}" srcOrd="2" destOrd="0" parTransId="{90137100-63E2-4BBD-90FF-10691408F2E9}" sibTransId="{1D35C907-B7F5-4548-B1EF-CA666460D6D0}"/>
    <dgm:cxn modelId="{F3E172F2-5234-4E12-95E7-DAE97A9A9AAD}" type="presOf" srcId="{8F633EAF-C35F-431F-853B-9BF31EF36FDF}" destId="{E091D8E4-0696-4FA0-B591-806E15E2CA61}" srcOrd="0" destOrd="0" presId="urn:microsoft.com/office/officeart/2005/8/layout/chevron2"/>
    <dgm:cxn modelId="{C071B943-117A-47B6-BD21-89F47A4BBB5F}" type="presParOf" srcId="{092ADF19-79F0-4D05-BD89-B3F8B1D81509}" destId="{2A31E14B-2493-456B-AE4F-66F2F8DA3214}" srcOrd="0" destOrd="0" presId="urn:microsoft.com/office/officeart/2005/8/layout/chevron2"/>
    <dgm:cxn modelId="{959641E0-3871-4BAE-9232-BDFF44219092}" type="presParOf" srcId="{2A31E14B-2493-456B-AE4F-66F2F8DA3214}" destId="{A2857188-87C7-4B13-A9A0-6B4FC476C6B8}" srcOrd="0" destOrd="0" presId="urn:microsoft.com/office/officeart/2005/8/layout/chevron2"/>
    <dgm:cxn modelId="{2B3D5823-B741-4349-ABC1-B8F5D3BF8E89}" type="presParOf" srcId="{2A31E14B-2493-456B-AE4F-66F2F8DA3214}" destId="{E091D8E4-0696-4FA0-B591-806E15E2CA61}" srcOrd="1" destOrd="0" presId="urn:microsoft.com/office/officeart/2005/8/layout/chevron2"/>
    <dgm:cxn modelId="{027A0B2C-E1CD-4405-BF59-1646310CF490}" type="presParOf" srcId="{092ADF19-79F0-4D05-BD89-B3F8B1D81509}" destId="{0AEDA78C-35DE-410C-8EA9-A2F0BDCB0203}" srcOrd="1" destOrd="0" presId="urn:microsoft.com/office/officeart/2005/8/layout/chevron2"/>
    <dgm:cxn modelId="{D893F802-0871-441C-801A-C08EE1366038}" type="presParOf" srcId="{092ADF19-79F0-4D05-BD89-B3F8B1D81509}" destId="{14C91F22-95EE-461C-B8AF-3D5DA9DAB41A}" srcOrd="2" destOrd="0" presId="urn:microsoft.com/office/officeart/2005/8/layout/chevron2"/>
    <dgm:cxn modelId="{DDCB3F7A-9AFA-4FB3-827F-649DCE171BBB}" type="presParOf" srcId="{14C91F22-95EE-461C-B8AF-3D5DA9DAB41A}" destId="{454B0165-B1F8-4114-9A68-6D50E0844D16}" srcOrd="0" destOrd="0" presId="urn:microsoft.com/office/officeart/2005/8/layout/chevron2"/>
    <dgm:cxn modelId="{8FB2C4CA-9CED-4A58-A6A4-DF08D27DFE73}" type="presParOf" srcId="{14C91F22-95EE-461C-B8AF-3D5DA9DAB41A}" destId="{59112E16-E603-4827-B531-8F3DF793E526}" srcOrd="1" destOrd="0" presId="urn:microsoft.com/office/officeart/2005/8/layout/chevron2"/>
    <dgm:cxn modelId="{B71BA9A6-4323-4760-AA4A-75B2B39BFE39}" type="presParOf" srcId="{092ADF19-79F0-4D05-BD89-B3F8B1D81509}" destId="{A648B60D-71B7-415D-A796-84B53EAB51EF}" srcOrd="3" destOrd="0" presId="urn:microsoft.com/office/officeart/2005/8/layout/chevron2"/>
    <dgm:cxn modelId="{CE206A51-29C7-4596-BC6B-EC4F7CC81E7B}" type="presParOf" srcId="{092ADF19-79F0-4D05-BD89-B3F8B1D81509}" destId="{A4EFD9A3-B07A-4FCE-ADBE-4C6799CD886F}" srcOrd="4" destOrd="0" presId="urn:microsoft.com/office/officeart/2005/8/layout/chevron2"/>
    <dgm:cxn modelId="{EBD93E2D-3BB1-450D-9AE3-68AB6168AA11}" type="presParOf" srcId="{A4EFD9A3-B07A-4FCE-ADBE-4C6799CD886F}" destId="{9AC569D5-D34C-476D-9FCE-DC406E3764C4}" srcOrd="0" destOrd="0" presId="urn:microsoft.com/office/officeart/2005/8/layout/chevron2"/>
    <dgm:cxn modelId="{3DB93A04-577C-4433-B0A3-926FAE02B85A}" type="presParOf" srcId="{A4EFD9A3-B07A-4FCE-ADBE-4C6799CD886F}" destId="{E0B1F3FD-4A7B-4EB9-ABDB-620B0659A2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10227" y="211597"/>
          <a:ext cx="1401514" cy="9810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0" y="491900"/>
        <a:ext cx="981060" cy="420454"/>
      </dsp:txXfrm>
    </dsp:sp>
    <dsp:sp modelId="{E091D8E4-0696-4FA0-B591-806E15E2CA61}">
      <dsp:nvSpPr>
        <dsp:cNvPr id="0" name=""/>
        <dsp:cNvSpPr/>
      </dsp:nvSpPr>
      <dsp:spPr>
        <a:xfrm rot="5400000">
          <a:off x="5294412" y="-4311981"/>
          <a:ext cx="911463" cy="95381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Collect relevant data along with class label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981060" y="45865"/>
        <a:ext cx="9493673" cy="8224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48445" y="251848"/>
          <a:ext cx="1656304" cy="11594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583108"/>
        <a:ext cx="1159412" cy="496892"/>
      </dsp:txXfrm>
    </dsp:sp>
    <dsp:sp modelId="{E091D8E4-0696-4FA0-B591-806E15E2CA61}">
      <dsp:nvSpPr>
        <dsp:cNvPr id="0" name=""/>
        <dsp:cNvSpPr/>
      </dsp:nvSpPr>
      <dsp:spPr>
        <a:xfrm rot="5400000">
          <a:off x="5300738" y="-4137923"/>
          <a:ext cx="1077163" cy="9359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700" kern="1200" dirty="0">
              <a:latin typeface="Gill Sans" panose="020B0604020202020204" charset="0"/>
            </a:rPr>
            <a:t>Collect relevant data along with class label</a:t>
          </a:r>
          <a:endParaRPr lang="en-US" sz="2700" kern="1200" dirty="0">
            <a:latin typeface="Gill Sans" panose="020B0604020202020204" charset="0"/>
          </a:endParaRPr>
        </a:p>
      </dsp:txBody>
      <dsp:txXfrm rot="-5400000">
        <a:off x="1159413" y="55985"/>
        <a:ext cx="9307232" cy="971997"/>
      </dsp:txXfrm>
    </dsp:sp>
    <dsp:sp modelId="{454B0165-B1F8-4114-9A68-6D50E0844D16}">
      <dsp:nvSpPr>
        <dsp:cNvPr id="0" name=""/>
        <dsp:cNvSpPr/>
      </dsp:nvSpPr>
      <dsp:spPr>
        <a:xfrm rot="5400000">
          <a:off x="-248445" y="1614965"/>
          <a:ext cx="1656304" cy="11594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1946225"/>
        <a:ext cx="1159412" cy="496892"/>
      </dsp:txXfrm>
    </dsp:sp>
    <dsp:sp modelId="{59112E16-E603-4827-B531-8F3DF793E526}">
      <dsp:nvSpPr>
        <dsp:cNvPr id="0" name=""/>
        <dsp:cNvSpPr/>
      </dsp:nvSpPr>
      <dsp:spPr>
        <a:xfrm rot="5400000">
          <a:off x="5301021" y="-2775088"/>
          <a:ext cx="1076597" cy="9359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700" kern="1200" dirty="0">
              <a:latin typeface="Gill Sans" panose="020B0604020202020204" charset="0"/>
            </a:rPr>
            <a:t>Clean the data and fill any missing values</a:t>
          </a:r>
          <a:endParaRPr lang="en-US" sz="2700" kern="1200" dirty="0">
            <a:latin typeface="Gill Sans" panose="020B060402020202020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700" kern="1200" dirty="0">
              <a:latin typeface="Gill Sans" panose="020B0604020202020204" charset="0"/>
            </a:rPr>
            <a:t>Pre-process the data as </a:t>
          </a:r>
          <a:r>
            <a:rPr lang="en-IN" sz="2700" kern="1200">
              <a:latin typeface="Gill Sans" panose="020B0604020202020204" charset="0"/>
            </a:rPr>
            <a:t>necessary </a:t>
          </a:r>
          <a:endParaRPr lang="en-US" sz="2700" kern="1200" dirty="0">
            <a:latin typeface="Gill Sans" panose="020B0604020202020204" charset="0"/>
          </a:endParaRPr>
        </a:p>
      </dsp:txBody>
      <dsp:txXfrm rot="-5400000">
        <a:off x="1159413" y="1419075"/>
        <a:ext cx="9307260" cy="9714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57188-87C7-4B13-A9A0-6B4FC476C6B8}">
      <dsp:nvSpPr>
        <dsp:cNvPr id="0" name=""/>
        <dsp:cNvSpPr/>
      </dsp:nvSpPr>
      <dsp:spPr>
        <a:xfrm rot="5400000">
          <a:off x="-239360" y="244000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Collection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563147"/>
        <a:ext cx="1117016" cy="478721"/>
      </dsp:txXfrm>
    </dsp:sp>
    <dsp:sp modelId="{E091D8E4-0696-4FA0-B591-806E15E2CA61}">
      <dsp:nvSpPr>
        <dsp:cNvPr id="0" name=""/>
        <dsp:cNvSpPr/>
      </dsp:nvSpPr>
      <dsp:spPr>
        <a:xfrm rot="5400000">
          <a:off x="5299234" y="-4177578"/>
          <a:ext cx="1037774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Collect relevant data along with class label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6" y="55300"/>
        <a:ext cx="9351551" cy="936454"/>
      </dsp:txXfrm>
    </dsp:sp>
    <dsp:sp modelId="{454B0165-B1F8-4114-9A68-6D50E0844D16}">
      <dsp:nvSpPr>
        <dsp:cNvPr id="0" name=""/>
        <dsp:cNvSpPr/>
      </dsp:nvSpPr>
      <dsp:spPr>
        <a:xfrm rot="5400000">
          <a:off x="-239360" y="1645848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Data Preparation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1964995"/>
        <a:ext cx="1117016" cy="478721"/>
      </dsp:txXfrm>
    </dsp:sp>
    <dsp:sp modelId="{59112E16-E603-4827-B531-8F3DF793E526}">
      <dsp:nvSpPr>
        <dsp:cNvPr id="0" name=""/>
        <dsp:cNvSpPr/>
      </dsp:nvSpPr>
      <dsp:spPr>
        <a:xfrm rot="5400000">
          <a:off x="5299507" y="-2776003"/>
          <a:ext cx="1037229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Clean the data and fill any missing values</a:t>
          </a:r>
          <a:endParaRPr lang="en-US" sz="2600" kern="1200" dirty="0">
            <a:latin typeface="Gill Sans" panose="020B0604020202020204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Pre-process the data as necessary 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7" y="1457120"/>
        <a:ext cx="9351578" cy="935963"/>
      </dsp:txXfrm>
    </dsp:sp>
    <dsp:sp modelId="{9AC569D5-D34C-476D-9FCE-DC406E3764C4}">
      <dsp:nvSpPr>
        <dsp:cNvPr id="0" name=""/>
        <dsp:cNvSpPr/>
      </dsp:nvSpPr>
      <dsp:spPr>
        <a:xfrm rot="5400000">
          <a:off x="-239360" y="3047696"/>
          <a:ext cx="1595737" cy="11170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rgbClr val="002060"/>
              </a:solidFill>
              <a:latin typeface="Gill Sans" panose="020B0604020202020204" charset="0"/>
            </a:rPr>
            <a:t>Build Classifier</a:t>
          </a:r>
          <a:endParaRPr lang="en-US" sz="1600" kern="1200" dirty="0">
            <a:solidFill>
              <a:srgbClr val="002060"/>
            </a:solidFill>
            <a:latin typeface="Gill Sans" panose="020B0604020202020204" charset="0"/>
          </a:endParaRPr>
        </a:p>
      </dsp:txBody>
      <dsp:txXfrm rot="-5400000">
        <a:off x="1" y="3366843"/>
        <a:ext cx="1117016" cy="478721"/>
      </dsp:txXfrm>
    </dsp:sp>
    <dsp:sp modelId="{E0B1F3FD-4A7B-4EB9-ABDB-620B0659A216}">
      <dsp:nvSpPr>
        <dsp:cNvPr id="0" name=""/>
        <dsp:cNvSpPr/>
      </dsp:nvSpPr>
      <dsp:spPr>
        <a:xfrm rot="5400000">
          <a:off x="5299507" y="-1374155"/>
          <a:ext cx="1037229" cy="9402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Gill Sans" panose="020B0604020202020204" charset="0"/>
            </a:rPr>
            <a:t>Train classifier by learning relation between input features and output classes</a:t>
          </a:r>
          <a:endParaRPr lang="en-US" sz="2600" kern="1200" dirty="0">
            <a:latin typeface="Gill Sans" panose="020B0604020202020204" charset="0"/>
          </a:endParaRPr>
        </a:p>
      </dsp:txBody>
      <dsp:txXfrm rot="-5400000">
        <a:off x="1117017" y="2858968"/>
        <a:ext cx="9351578" cy="935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51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6516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3135507d2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3135507d24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g23135507d24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3135507d2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3135507d24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g23135507d24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3403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618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4556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a004cd3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5a004cd314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25a004cd314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38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166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0044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443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57359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628313ca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7628313ca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27628313ca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186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4c91af68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e4c91af68a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1e4c91af68a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3646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9696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48" name="Google Shape;4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subTitle" idx="1"/>
          </p:nvPr>
        </p:nvSpPr>
        <p:spPr>
          <a:xfrm>
            <a:off x="1910080" y="1850064"/>
            <a:ext cx="9875200" cy="17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"/>
              <a:buNone/>
              <a:defRPr sz="2667" b="0" i="0" u="none" strike="noStrike" cap="none">
                <a:solidFill>
                  <a:srgbClr val="2A310F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Verdana"/>
              <a:buNone/>
              <a:defRPr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"/>
              <a:buNone/>
              <a:defRPr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32D2E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AA33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Noto San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7518400" y="6400999"/>
            <a:ext cx="38608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13309600" y="6305551"/>
            <a:ext cx="609600" cy="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title"/>
          </p:nvPr>
        </p:nvSpPr>
        <p:spPr>
          <a:xfrm>
            <a:off x="1913467" y="838200"/>
            <a:ext cx="9999200" cy="5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344D6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267" b="0" i="0" u="none" strike="noStrike" cap="none">
                <a:solidFill>
                  <a:srgbClr val="572314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756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703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>
            <a:off x="301611" y="136525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995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body" idx="1"/>
          </p:nvPr>
        </p:nvSpPr>
        <p:spPr>
          <a:xfrm>
            <a:off x="261260" y="14296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08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45"/>
          <p:cNvSpPr txBox="1"/>
          <p:nvPr/>
        </p:nvSpPr>
        <p:spPr>
          <a:xfrm>
            <a:off x="1384663" y="6444476"/>
            <a:ext cx="24021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7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32D47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</a:p>
        </p:txBody>
      </p:sp>
      <p:sp>
        <p:nvSpPr>
          <p:cNvPr id="69" name="Google Shape;69;p45"/>
          <p:cNvSpPr txBox="1"/>
          <p:nvPr/>
        </p:nvSpPr>
        <p:spPr>
          <a:xfrm>
            <a:off x="11279285" y="6413698"/>
            <a:ext cx="6139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232D47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rgbClr val="232D4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340850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1/8/284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wC7tt0aJ-EWrwngMwS98YmMEA6sS0lEF/vie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hyperlink" Target="http://drive.google.com/file/d/1AqaLOobcKycs-pROKI-RffAJSacUJ0NQ/view" TargetMode="Externa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1">
            <a:extLst>
              <a:ext uri="{FF2B5EF4-FFF2-40B4-BE49-F238E27FC236}">
                <a16:creationId xmlns:a16="http://schemas.microsoft.com/office/drawing/2014/main" id="{135F844F-4D6E-02A7-B1BB-AB021D2F8429}"/>
              </a:ext>
            </a:extLst>
          </p:cNvPr>
          <p:cNvSpPr txBox="1">
            <a:spLocks/>
          </p:cNvSpPr>
          <p:nvPr/>
        </p:nvSpPr>
        <p:spPr>
          <a:xfrm>
            <a:off x="921914" y="1666650"/>
            <a:ext cx="10348171" cy="3524700"/>
          </a:xfrm>
          <a:prstGeom prst="rect">
            <a:avLst/>
          </a:prstGeom>
          <a:noFill/>
          <a:ln>
            <a:noFill/>
          </a:ln>
          <a:effectLst>
            <a:outerShdw dist="2540000" dir="21540000" sx="1000" sy="1000" algn="ctr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0000"/>
              </a:buClr>
              <a:buSzPts val="1100"/>
            </a:pPr>
            <a:r>
              <a:rPr lang="en-US" sz="4800" b="1" dirty="0">
                <a:solidFill>
                  <a:srgbClr val="0070C0"/>
                </a:solidFill>
                <a:latin typeface="Avenir"/>
                <a:ea typeface="Avenir"/>
                <a:cs typeface="Avenir"/>
                <a:sym typeface="Avenir"/>
              </a:rPr>
              <a:t>Case Study in Video Analytics</a:t>
            </a:r>
          </a:p>
          <a:p>
            <a:pPr algn="ctr">
              <a:buClr>
                <a:srgbClr val="000000"/>
              </a:buClr>
              <a:buSzPts val="1100"/>
            </a:pPr>
            <a:r>
              <a:rPr lang="en-US" sz="4800" b="1" dirty="0">
                <a:solidFill>
                  <a:srgbClr val="002060"/>
                </a:solidFill>
                <a:latin typeface="Avenir"/>
                <a:ea typeface="Montserrat"/>
                <a:cs typeface="Montserrat"/>
                <a:sym typeface="Avenir"/>
              </a:rPr>
              <a:t>Cricket Shot Prediction</a:t>
            </a:r>
            <a:endParaRPr lang="en-US" sz="6000" b="1" dirty="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3406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124DDD-9F76-D646-86D5-9993D91E63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EBFDDB0-E094-C26E-1A37-7586852CD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sz="4000" dirty="0">
                <a:solidFill>
                  <a:srgbClr val="002060"/>
                </a:solidFill>
                <a:latin typeface="Gill Sans" panose="020B0604020202020204" charset="0"/>
              </a:rPr>
              <a:t>Contents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5" name="Google Shape;117;p2">
            <a:extLst>
              <a:ext uri="{FF2B5EF4-FFF2-40B4-BE49-F238E27FC236}">
                <a16:creationId xmlns:a16="http://schemas.microsoft.com/office/drawing/2014/main" id="{E4ABDF2C-CBFD-968D-02E1-3F5AF60E6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6550"/>
            <a:ext cx="10515600" cy="452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Cricket Shot Prediction – Objective and Formulation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6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Cricket Shot Prediction – Model Training and Testing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Challenges in Learning from Videos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/>
                </a:solidFill>
                <a:latin typeface="Gill Sans" panose="020B0604020202020204" charset="0"/>
              </a:rPr>
              <a:t>Approaches to building Classifiers from Video data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6"/>
              <a:buNone/>
            </a:pPr>
            <a:endParaRPr lang="en-IN" sz="28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41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135507d24_2_0"/>
          <p:cNvSpPr txBox="1">
            <a:spLocks noGrp="1"/>
          </p:cNvSpPr>
          <p:nvPr>
            <p:ph type="body" idx="1"/>
          </p:nvPr>
        </p:nvSpPr>
        <p:spPr>
          <a:xfrm>
            <a:off x="415600" y="1190202"/>
            <a:ext cx="6101261" cy="5152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</a:rPr>
              <a:t>In cricket, various types of shots played by a batsman are identified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Drive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Leg Glance or Flick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Sweep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Pull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Hook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  <a:latin typeface="Gill Sans" panose="020B0604020202020204" charset="0"/>
              </a:rPr>
              <a:t>Cut Shot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endParaRPr lang="en-US" sz="22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indent="-457200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Objective</a:t>
            </a:r>
            <a:r>
              <a:rPr lang="en-US" sz="2400" dirty="0">
                <a:solidFill>
                  <a:srgbClr val="000000"/>
                </a:solidFill>
                <a:latin typeface="Gill Sans" panose="020B0604020202020204" charset="0"/>
              </a:rPr>
              <a:t>: Developing a cricket shot prediction model using video analytics</a:t>
            </a:r>
          </a:p>
          <a:p>
            <a:pPr indent="-457200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Gill Sans" panose="020B0604020202020204" charset="0"/>
              </a:rPr>
              <a:t>Videos of the batsmen playing a shot are used as input</a:t>
            </a:r>
            <a:endParaRPr lang="en-US" sz="22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marL="285750" indent="-285750">
              <a:lnSpc>
                <a:spcPct val="100000"/>
              </a:lnSpc>
            </a:pPr>
            <a:endParaRPr lang="en-US" sz="26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sp>
        <p:nvSpPr>
          <p:cNvPr id="149" name="Google Shape;149;g23135507d24_2_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7" name="Google Shape;140;g276234fa0a8_0_0">
            <a:extLst>
              <a:ext uri="{FF2B5EF4-FFF2-40B4-BE49-F238E27FC236}">
                <a16:creationId xmlns:a16="http://schemas.microsoft.com/office/drawing/2014/main" id="{03157286-0D58-047B-0BE0-AAFD17F7C9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0550" y="1190202"/>
            <a:ext cx="5511450" cy="529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2E15AD-06EE-BFC5-EFCE-09D9EB134B76}"/>
              </a:ext>
            </a:extLst>
          </p:cNvPr>
          <p:cNvSpPr txBox="1"/>
          <p:nvPr/>
        </p:nvSpPr>
        <p:spPr>
          <a:xfrm>
            <a:off x="1964821" y="99725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Cricket Shot Prediction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135507d24_2_0"/>
          <p:cNvSpPr txBox="1">
            <a:spLocks noGrp="1"/>
          </p:cNvSpPr>
          <p:nvPr>
            <p:ph type="body" idx="1"/>
          </p:nvPr>
        </p:nvSpPr>
        <p:spPr>
          <a:xfrm>
            <a:off x="415600" y="1069076"/>
            <a:ext cx="11315863" cy="15076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Formulation: </a:t>
            </a:r>
            <a:r>
              <a:rPr lang="en-US" sz="2600" dirty="0">
                <a:solidFill>
                  <a:srgbClr val="000000"/>
                </a:solidFill>
                <a:latin typeface="Gill Sans" panose="020B0604020202020204" charset="0"/>
              </a:rPr>
              <a:t>Classification problem with each type of shot considered as a class </a:t>
            </a:r>
          </a:p>
          <a:p>
            <a:pPr indent="-457200">
              <a:lnSpc>
                <a:spcPct val="100000"/>
              </a:lnSpc>
            </a:pPr>
            <a:r>
              <a:rPr lang="en-US" sz="2600" dirty="0">
                <a:solidFill>
                  <a:srgbClr val="000000"/>
                </a:solidFill>
                <a:latin typeface="Gill Sans" panose="020B0604020202020204" charset="0"/>
              </a:rPr>
              <a:t>Relation between video and class of shot to be learnt from data</a:t>
            </a:r>
            <a:endParaRPr sz="2600" dirty="0">
              <a:solidFill>
                <a:srgbClr val="000000"/>
              </a:solidFill>
              <a:latin typeface="Gill Sans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rgbClr val="000000"/>
              </a:solidFill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Gill Sans" panose="020B0604020202020204" charset="0"/>
            </a:endParaRPr>
          </a:p>
        </p:txBody>
      </p:sp>
      <p:sp>
        <p:nvSpPr>
          <p:cNvPr id="149" name="Google Shape;149;g23135507d24_2_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721E5-24DB-1B1E-BDBD-3F4033EC747B}"/>
              </a:ext>
            </a:extLst>
          </p:cNvPr>
          <p:cNvSpPr txBox="1"/>
          <p:nvPr/>
        </p:nvSpPr>
        <p:spPr>
          <a:xfrm>
            <a:off x="1964821" y="99725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Formulation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C3294-6AA3-AD98-CD3B-7EFA0ECA766A}"/>
              </a:ext>
            </a:extLst>
          </p:cNvPr>
          <p:cNvSpPr txBox="1"/>
          <p:nvPr/>
        </p:nvSpPr>
        <p:spPr>
          <a:xfrm>
            <a:off x="1442958" y="3812147"/>
            <a:ext cx="2865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(Video of batsman playing cricket shot)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C83C4-97C7-9533-6625-1973BF4D0FF2}"/>
              </a:ext>
            </a:extLst>
          </p:cNvPr>
          <p:cNvSpPr txBox="1"/>
          <p:nvPr/>
        </p:nvSpPr>
        <p:spPr>
          <a:xfrm>
            <a:off x="8073261" y="3750527"/>
            <a:ext cx="2820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class</a:t>
            </a:r>
          </a:p>
          <a:p>
            <a:pPr algn="ctr"/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(Type of cricket shot)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8417B-A6DB-02D1-BC08-C234A0F7599B}"/>
              </a:ext>
            </a:extLst>
          </p:cNvPr>
          <p:cNvSpPr txBox="1"/>
          <p:nvPr/>
        </p:nvSpPr>
        <p:spPr>
          <a:xfrm>
            <a:off x="4672965" y="2449517"/>
            <a:ext cx="1677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Classifier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05CF24-E4F2-FAA1-5844-356CDE331897}"/>
              </a:ext>
            </a:extLst>
          </p:cNvPr>
          <p:cNvSpPr/>
          <p:nvPr/>
        </p:nvSpPr>
        <p:spPr>
          <a:xfrm>
            <a:off x="4672965" y="3654052"/>
            <a:ext cx="1899920" cy="12395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Input-Output Relation</a:t>
            </a:r>
          </a:p>
          <a:p>
            <a:pPr algn="ctr"/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0D218B-B165-A1CB-D3FC-0789A3A3C62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601228" y="4269442"/>
            <a:ext cx="1071737" cy="4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2E77DC-C768-C821-6FCD-2424BCECA12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572885" y="4273812"/>
            <a:ext cx="1494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DA4F32-7CB9-840D-CCF8-BB9B8707C73C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5622925" y="4893572"/>
            <a:ext cx="18871" cy="1068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2B072B-0C1D-8A7C-A93E-1E1B8108E3FA}"/>
              </a:ext>
            </a:extLst>
          </p:cNvPr>
          <p:cNvSpPr txBox="1"/>
          <p:nvPr/>
        </p:nvSpPr>
        <p:spPr>
          <a:xfrm>
            <a:off x="5641796" y="5511779"/>
            <a:ext cx="2381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Feedback: Input-Output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68AF0D-6214-098F-93BA-7CA3A413CB0E}"/>
              </a:ext>
            </a:extLst>
          </p:cNvPr>
          <p:cNvSpPr/>
          <p:nvPr/>
        </p:nvSpPr>
        <p:spPr>
          <a:xfrm>
            <a:off x="1442958" y="3349599"/>
            <a:ext cx="9495241" cy="183968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2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1: Data Collection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9314CF7-88D1-AF80-94E0-39D2B58F56E8}"/>
              </a:ext>
            </a:extLst>
          </p:cNvPr>
          <p:cNvGraphicFramePr/>
          <p:nvPr/>
        </p:nvGraphicFramePr>
        <p:xfrm>
          <a:off x="649515" y="1121230"/>
          <a:ext cx="10519228" cy="14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Dataset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Google Shape;175;g276234fa0a8_0_7">
            <a:extLst>
              <a:ext uri="{FF2B5EF4-FFF2-40B4-BE49-F238E27FC236}">
                <a16:creationId xmlns:a16="http://schemas.microsoft.com/office/drawing/2014/main" id="{807D9BB0-ACC8-9875-9DB1-75A04257653B}"/>
              </a:ext>
            </a:extLst>
          </p:cNvPr>
          <p:cNvSpPr txBox="1"/>
          <p:nvPr/>
        </p:nvSpPr>
        <p:spPr>
          <a:xfrm>
            <a:off x="1001487" y="1090489"/>
            <a:ext cx="10461172" cy="5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Dataset is taken from a research paper (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  <a:hlinkClick r:id="rId3"/>
              </a:rPr>
              <a:t>Link</a:t>
            </a: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Gill Sans" panose="020B0604020202020204" charset="0"/>
              </a:rPr>
              <a:t>Dataset includes 1888 videos of 10 different cricket shots (10 classes)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  <p:pic>
        <p:nvPicPr>
          <p:cNvPr id="6" name="Google Shape;198;p3">
            <a:extLst>
              <a:ext uri="{FF2B5EF4-FFF2-40B4-BE49-F238E27FC236}">
                <a16:creationId xmlns:a16="http://schemas.microsoft.com/office/drawing/2014/main" id="{34871BD3-7595-0ECC-7E2B-7D3E71FC0E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361" y="1907652"/>
            <a:ext cx="11791950" cy="44454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972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Sample Videos from Dataset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2" name="Google Shape;188;p5" title="cover_0001.avi">
            <a:hlinkClick r:id="rId3"/>
            <a:extLst>
              <a:ext uri="{FF2B5EF4-FFF2-40B4-BE49-F238E27FC236}">
                <a16:creationId xmlns:a16="http://schemas.microsoft.com/office/drawing/2014/main" id="{52620F82-42F7-06BA-5009-D2DDE62C8B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250" y="2180875"/>
            <a:ext cx="5881075" cy="375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90;p5">
            <a:extLst>
              <a:ext uri="{FF2B5EF4-FFF2-40B4-BE49-F238E27FC236}">
                <a16:creationId xmlns:a16="http://schemas.microsoft.com/office/drawing/2014/main" id="{5A4738FF-FF0A-8A62-A2A0-B30176F784FE}"/>
              </a:ext>
            </a:extLst>
          </p:cNvPr>
          <p:cNvSpPr txBox="1"/>
          <p:nvPr/>
        </p:nvSpPr>
        <p:spPr>
          <a:xfrm>
            <a:off x="1426525" y="1585825"/>
            <a:ext cx="29307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               </a:t>
            </a:r>
            <a:r>
              <a:rPr lang="en-US" sz="2000" b="1" i="0" u="none" strike="noStrike" cap="none" dirty="0">
                <a:solidFill>
                  <a:srgbClr val="4A86E8"/>
                </a:solidFill>
                <a:latin typeface="Gill Sans"/>
                <a:ea typeface="Gill Sans"/>
                <a:cs typeface="Gill Sans"/>
                <a:sym typeface="Gill Sans"/>
              </a:rPr>
              <a:t>Cover Shot</a:t>
            </a:r>
            <a:endParaRPr sz="2000" b="1" i="0" u="none" strike="noStrike" cap="none" dirty="0">
              <a:solidFill>
                <a:srgbClr val="4A86E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" name="Google Shape;191;p5">
            <a:extLst>
              <a:ext uri="{FF2B5EF4-FFF2-40B4-BE49-F238E27FC236}">
                <a16:creationId xmlns:a16="http://schemas.microsoft.com/office/drawing/2014/main" id="{CF6A4869-4A46-2242-0CD7-9F727BB348A6}"/>
              </a:ext>
            </a:extLst>
          </p:cNvPr>
          <p:cNvSpPr txBox="1"/>
          <p:nvPr/>
        </p:nvSpPr>
        <p:spPr>
          <a:xfrm>
            <a:off x="8061375" y="1630450"/>
            <a:ext cx="258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4A86E8"/>
                </a:solidFill>
                <a:latin typeface="Gill Sans"/>
                <a:ea typeface="Gill Sans"/>
                <a:cs typeface="Gill Sans"/>
                <a:sym typeface="Gill Sans"/>
              </a:rPr>
              <a:t>Defense Shot</a:t>
            </a:r>
            <a:endParaRPr sz="2000" b="1" i="0" u="none" strike="noStrike" cap="none" dirty="0">
              <a:solidFill>
                <a:srgbClr val="4A86E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" name="Google Shape;189;p5" title="defense_0007.avi">
            <a:hlinkClick r:id="rId5"/>
            <a:extLst>
              <a:ext uri="{FF2B5EF4-FFF2-40B4-BE49-F238E27FC236}">
                <a16:creationId xmlns:a16="http://schemas.microsoft.com/office/drawing/2014/main" id="{EA16AB4B-92BE-32C5-851A-4BED9073F32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4475" y="2180877"/>
            <a:ext cx="5744874" cy="37549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373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a004cd314_0_7"/>
          <p:cNvSpPr txBox="1">
            <a:spLocks noGrp="1"/>
          </p:cNvSpPr>
          <p:nvPr>
            <p:ph type="title"/>
          </p:nvPr>
        </p:nvSpPr>
        <p:spPr>
          <a:xfrm>
            <a:off x="261250" y="90979"/>
            <a:ext cx="10515600" cy="86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Distribution plot of frames and duration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213" name="Google Shape;213;g25a004cd314_0_7"/>
          <p:cNvPicPr preferRelativeResize="0"/>
          <p:nvPr/>
        </p:nvPicPr>
        <p:blipFill rotWithShape="1">
          <a:blip r:embed="rId3">
            <a:alphaModFix/>
          </a:blip>
          <a:srcRect l="-6089" r="6088"/>
          <a:stretch/>
        </p:blipFill>
        <p:spPr>
          <a:xfrm>
            <a:off x="261250" y="940857"/>
            <a:ext cx="5443924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5a004cd314_0_7"/>
          <p:cNvSpPr txBox="1"/>
          <p:nvPr/>
        </p:nvSpPr>
        <p:spPr>
          <a:xfrm>
            <a:off x="-1587975" y="2425600"/>
            <a:ext cx="1005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15" name="Google Shape;215;g25a004cd314_0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6221" y="982469"/>
            <a:ext cx="5112950" cy="477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25a004cd314_0_7"/>
          <p:cNvSpPr txBox="1"/>
          <p:nvPr/>
        </p:nvSpPr>
        <p:spPr>
          <a:xfrm>
            <a:off x="2984025" y="6334500"/>
            <a:ext cx="38913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" name="Google Shape;175;g276234fa0a8_0_7">
            <a:extLst>
              <a:ext uri="{FF2B5EF4-FFF2-40B4-BE49-F238E27FC236}">
                <a16:creationId xmlns:a16="http://schemas.microsoft.com/office/drawing/2014/main" id="{2B737AD4-323C-5606-2318-063C12A05FD6}"/>
              </a:ext>
            </a:extLst>
          </p:cNvPr>
          <p:cNvSpPr txBox="1"/>
          <p:nvPr/>
        </p:nvSpPr>
        <p:spPr>
          <a:xfrm>
            <a:off x="968830" y="5831918"/>
            <a:ext cx="10461172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600" i="0" u="none" strike="noStrike" cap="none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Most videos contain 40 to 70 frames with 2 to 3 sec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2: Data Preparation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84AD6F5-93E8-D68A-0561-DEAB098CFE73}"/>
              </a:ext>
            </a:extLst>
          </p:cNvPr>
          <p:cNvGraphicFramePr/>
          <p:nvPr/>
        </p:nvGraphicFramePr>
        <p:xfrm>
          <a:off x="649515" y="1121230"/>
          <a:ext cx="10519228" cy="3026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298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Data Processing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Google Shape;175;g276234fa0a8_0_7">
            <a:extLst>
              <a:ext uri="{FF2B5EF4-FFF2-40B4-BE49-F238E27FC236}">
                <a16:creationId xmlns:a16="http://schemas.microsoft.com/office/drawing/2014/main" id="{807D9BB0-ACC8-9875-9DB1-75A04257653B}"/>
              </a:ext>
            </a:extLst>
          </p:cNvPr>
          <p:cNvSpPr txBox="1"/>
          <p:nvPr/>
        </p:nvSpPr>
        <p:spPr>
          <a:xfrm>
            <a:off x="968830" y="1079603"/>
            <a:ext cx="10461172" cy="5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  <a:sym typeface="Arial"/>
              </a:rPr>
              <a:t>Split the dataset, in a stratified manner, in the ratio of 80:20 for training and testing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  <a:sym typeface="Arial"/>
              </a:rPr>
              <a:t>Training set contains </a:t>
            </a:r>
            <a:r>
              <a:rPr lang="en-US" sz="2600" dirty="0">
                <a:latin typeface="Gill Sans" panose="020B0604020202020204" charset="0"/>
              </a:rPr>
              <a:t>1510</a:t>
            </a:r>
            <a:r>
              <a:rPr lang="en-US" sz="2600" dirty="0">
                <a:latin typeface="Gill Sans" panose="020B0604020202020204" charset="0"/>
                <a:sym typeface="Arial"/>
              </a:rPr>
              <a:t> </a:t>
            </a:r>
            <a:r>
              <a:rPr lang="en-US" sz="2600" dirty="0">
                <a:latin typeface="Gill Sans" panose="020B0604020202020204" charset="0"/>
              </a:rPr>
              <a:t>videos</a:t>
            </a:r>
            <a:endParaRPr lang="en-US" sz="2600" dirty="0">
              <a:latin typeface="Gill Sans" panose="020B0604020202020204" charset="0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  <a:sym typeface="Arial"/>
              </a:rPr>
              <a:t>Test set contain </a:t>
            </a:r>
            <a:r>
              <a:rPr lang="en-US" sz="2600" dirty="0">
                <a:latin typeface="Gill Sans" panose="020B0604020202020204" charset="0"/>
              </a:rPr>
              <a:t>378</a:t>
            </a:r>
            <a:r>
              <a:rPr lang="en-US" sz="2600" dirty="0">
                <a:latin typeface="Gill Sans" panose="020B0604020202020204" charset="0"/>
                <a:sym typeface="Arial"/>
              </a:rPr>
              <a:t> </a:t>
            </a:r>
            <a:r>
              <a:rPr lang="en-US" sz="2600" dirty="0">
                <a:latin typeface="Gill Sans" panose="020B0604020202020204" charset="0"/>
              </a:rPr>
              <a:t>videos</a:t>
            </a:r>
            <a:endParaRPr lang="en-US" sz="2600" dirty="0">
              <a:latin typeface="Gill Sans" panose="020B0604020202020204" charset="0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endParaRPr lang="en-US" sz="2600" dirty="0">
              <a:latin typeface="Gill Sans" panose="020B0604020202020204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  <a:sym typeface="Arial"/>
              </a:rPr>
              <a:t>Size of training set not sufficient to train a good classifier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2600" dirty="0">
                <a:latin typeface="Gill Sans" panose="020B0604020202020204" charset="0"/>
              </a:rPr>
              <a:t>However, it is hard to generate synthetic data in this scenario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 pitchFamily="34" charset="0"/>
              <a:buChar char="•"/>
            </a:pPr>
            <a:endParaRPr lang="en-US" sz="2600" dirty="0">
              <a:latin typeface="Gill Sans" panose="020B0604020202020204" charset="0"/>
              <a:sym typeface="Arial"/>
            </a:endParaRPr>
          </a:p>
          <a:p>
            <a:pPr marL="102870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600" dirty="0"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38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800" dirty="0">
                <a:solidFill>
                  <a:srgbClr val="002060"/>
                </a:solidFill>
                <a:latin typeface="Gill Sans" panose="020B0604020202020204" charset="0"/>
              </a:rPr>
              <a:t>Video is Collection of Multiple Images</a:t>
            </a:r>
            <a:endParaRPr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2" name="Google Shape;167;p9">
            <a:extLst>
              <a:ext uri="{FF2B5EF4-FFF2-40B4-BE49-F238E27FC236}">
                <a16:creationId xmlns:a16="http://schemas.microsoft.com/office/drawing/2014/main" id="{DC9BDAC8-1B2B-27C2-40BF-35F271FD72AF}"/>
              </a:ext>
            </a:extLst>
          </p:cNvPr>
          <p:cNvSpPr txBox="1">
            <a:spLocks/>
          </p:cNvSpPr>
          <p:nvPr/>
        </p:nvSpPr>
        <p:spPr>
          <a:xfrm>
            <a:off x="853440" y="1757362"/>
            <a:ext cx="7212874" cy="480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Video is a sequence of images (called frames)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Sequence of images are displayed at certain frequency (fps) to make it appear like a video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Videos contain 4 dimensions of data:</a:t>
            </a:r>
          </a:p>
          <a:p>
            <a:pPr lvl="1"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600" dirty="0"/>
              <a:t>3 special dimensions representing the pixel values of shades of red, blue and green</a:t>
            </a:r>
          </a:p>
          <a:p>
            <a:pPr lvl="1"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600" dirty="0"/>
              <a:t>1 time dimension representing the duration of the video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4D948-876B-B0E0-6265-99F6408BF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543" y="1757362"/>
            <a:ext cx="36576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1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Step 3: Build Classifier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85498FD-6864-F496-2060-0E71ACC7E47A}"/>
              </a:ext>
            </a:extLst>
          </p:cNvPr>
          <p:cNvGraphicFramePr/>
          <p:nvPr/>
        </p:nvGraphicFramePr>
        <p:xfrm>
          <a:off x="649515" y="1121230"/>
          <a:ext cx="10519228" cy="440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356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951134" y="205064"/>
            <a:ext cx="981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002060"/>
                </a:solidFill>
                <a:latin typeface="Gill Sans" panose="020B0604020202020204" charset="0"/>
              </a:rPr>
              <a:t>Challenges in Learning from Videos</a:t>
            </a:r>
            <a:endParaRPr lang="en-US" sz="44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" name="Google Shape;262;g23135507d24_2_10">
            <a:extLst>
              <a:ext uri="{FF2B5EF4-FFF2-40B4-BE49-F238E27FC236}">
                <a16:creationId xmlns:a16="http://schemas.microsoft.com/office/drawing/2014/main" id="{8B20BC53-83E5-9C90-E500-065C43F6B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34275"/>
            <a:ext cx="10820400" cy="518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88950" indent="-457200">
              <a:buSzPts val="3100"/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Spatio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-Temporal dimensions: 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For tasks involving videos, the computer must learn </a:t>
            </a:r>
            <a:r>
              <a:rPr lang="en-US" sz="2600" dirty="0" err="1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spatio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-temporal context across frames of the video which is a very complex task</a:t>
            </a:r>
          </a:p>
          <a:p>
            <a:pPr marL="488950" indent="-457200">
              <a:buSzPts val="31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Variability in Scale and Perspective: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 This learning should include </a:t>
            </a:r>
            <a:r>
              <a:rPr lang="en-US" sz="2600" dirty="0" err="1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thevariabile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 in scale and perspective due to camera movement</a:t>
            </a:r>
          </a:p>
          <a:p>
            <a:pPr marL="488950" indent="-457200">
              <a:buSzPts val="31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Large Data Size: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 Videos can be of high resolution and may run into several minutes or hours of duration resulting in vary large file sizes</a:t>
            </a:r>
          </a:p>
          <a:p>
            <a:pPr marL="488950" indent="-457200">
              <a:buSzPts val="31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Limited labelled data: 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Many videos with suitable content, duration and labels are hard to obtain</a:t>
            </a:r>
          </a:p>
          <a:p>
            <a:pPr marL="488950" indent="-457200">
              <a:buSzPts val="31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Long-Term Dependencies: </a:t>
            </a:r>
            <a:r>
              <a:rPr lang="en-US" sz="2600" dirty="0">
                <a:solidFill>
                  <a:schemeClr val="tx1"/>
                </a:solidFill>
                <a:latin typeface="Gill Sans" panose="020B0604020202020204" charset="0"/>
                <a:ea typeface="Gill Sans"/>
                <a:cs typeface="Gill Sans"/>
                <a:sym typeface="Gill Sans"/>
              </a:rPr>
              <a:t>Capturing long term dependencies is crucial in understanding the context in some cases</a:t>
            </a:r>
            <a:endParaRPr lang="en-US" sz="2400" dirty="0">
              <a:solidFill>
                <a:schemeClr val="tx1"/>
              </a:solidFill>
              <a:latin typeface="Gill Sans" panose="020B0604020202020204" charset="0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89982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28313cab_0_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96CD-880F-AA81-5F62-BEBE1FF88D78}"/>
              </a:ext>
            </a:extLst>
          </p:cNvPr>
          <p:cNvSpPr txBox="1"/>
          <p:nvPr/>
        </p:nvSpPr>
        <p:spPr>
          <a:xfrm>
            <a:off x="1485851" y="135407"/>
            <a:ext cx="8262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Gill Sans" panose="020B0604020202020204" charset="0"/>
              </a:rPr>
              <a:t>Convolution Neural Network</a:t>
            </a:r>
            <a:endParaRPr lang="en-US" sz="48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44E0BC-BD75-84E6-A164-6528EC9A79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961"/>
          <a:stretch/>
        </p:blipFill>
        <p:spPr>
          <a:xfrm>
            <a:off x="1069777" y="1387005"/>
            <a:ext cx="9384863" cy="3495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1A23DE-A504-B9F0-9C07-6255CC6BECB6}"/>
              </a:ext>
            </a:extLst>
          </p:cNvPr>
          <p:cNvSpPr txBox="1"/>
          <p:nvPr/>
        </p:nvSpPr>
        <p:spPr>
          <a:xfrm>
            <a:off x="205198" y="4813137"/>
            <a:ext cx="3025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5E513-AE89-6B41-7576-504FECA34E22}"/>
              </a:ext>
            </a:extLst>
          </p:cNvPr>
          <p:cNvSpPr txBox="1"/>
          <p:nvPr/>
        </p:nvSpPr>
        <p:spPr>
          <a:xfrm>
            <a:off x="2457269" y="4158677"/>
            <a:ext cx="2171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Convolution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960AD-5D5E-AB4D-700C-996A0C02F885}"/>
              </a:ext>
            </a:extLst>
          </p:cNvPr>
          <p:cNvSpPr txBox="1"/>
          <p:nvPr/>
        </p:nvSpPr>
        <p:spPr>
          <a:xfrm>
            <a:off x="3763797" y="4165721"/>
            <a:ext cx="3025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02575A-4B20-82EA-8540-FDD55AB38C6B}"/>
              </a:ext>
            </a:extLst>
          </p:cNvPr>
          <p:cNvSpPr txBox="1"/>
          <p:nvPr/>
        </p:nvSpPr>
        <p:spPr>
          <a:xfrm>
            <a:off x="6054755" y="4112511"/>
            <a:ext cx="1469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8339A-065B-0B43-31AD-90256FB03E97}"/>
              </a:ext>
            </a:extLst>
          </p:cNvPr>
          <p:cNvSpPr txBox="1"/>
          <p:nvPr/>
        </p:nvSpPr>
        <p:spPr>
          <a:xfrm>
            <a:off x="7596172" y="4125407"/>
            <a:ext cx="1109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764DC-D776-B6B5-3408-65CB361B35C1}"/>
              </a:ext>
            </a:extLst>
          </p:cNvPr>
          <p:cNvSpPr txBox="1"/>
          <p:nvPr/>
        </p:nvSpPr>
        <p:spPr>
          <a:xfrm>
            <a:off x="9613756" y="4266398"/>
            <a:ext cx="1373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Flattening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F8120-FE3D-C894-3A70-81F3EE00373F}"/>
              </a:ext>
            </a:extLst>
          </p:cNvPr>
          <p:cNvSpPr txBox="1"/>
          <p:nvPr/>
        </p:nvSpPr>
        <p:spPr>
          <a:xfrm>
            <a:off x="1251858" y="5467597"/>
            <a:ext cx="94115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Gill Sans" panose="020B0604020202020204" charset="0"/>
              </a:rPr>
              <a:t>Relevant features can be extracted from an image using a CNN</a:t>
            </a:r>
            <a:endParaRPr lang="en-US" sz="2800" dirty="0"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09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4c91af68a_1_25"/>
          <p:cNvSpPr txBox="1">
            <a:spLocks noGrp="1"/>
          </p:cNvSpPr>
          <p:nvPr>
            <p:ph type="title"/>
          </p:nvPr>
        </p:nvSpPr>
        <p:spPr>
          <a:xfrm>
            <a:off x="261260" y="399913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spAutoFit/>
          </a:bodyPr>
          <a:lstStyle/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IN" sz="4000" dirty="0">
                <a:solidFill>
                  <a:srgbClr val="002060"/>
                </a:solidFill>
                <a:latin typeface="Gill Sans" panose="020B0604020202020204" charset="0"/>
              </a:rPr>
              <a:t>Approaches to Building Classifier on Videos</a:t>
            </a:r>
            <a:endParaRPr sz="4000" dirty="0">
              <a:solidFill>
                <a:srgbClr val="002060"/>
              </a:solidFill>
              <a:latin typeface="Gill Sans" panose="020B0604020202020204" charset="0"/>
            </a:endParaRPr>
          </a:p>
        </p:txBody>
      </p:sp>
      <p:sp>
        <p:nvSpPr>
          <p:cNvPr id="349" name="Google Shape;349;g1e4c91af68a_1_25"/>
          <p:cNvSpPr txBox="1">
            <a:spLocks noGrp="1"/>
          </p:cNvSpPr>
          <p:nvPr>
            <p:ph type="body" idx="1"/>
          </p:nvPr>
        </p:nvSpPr>
        <p:spPr>
          <a:xfrm>
            <a:off x="533400" y="1438446"/>
            <a:ext cx="10363200" cy="47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Frame Based Approaches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Sequences Based Approaches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3D CNN based Approaches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Attention Mechanism based Approaches</a:t>
            </a:r>
          </a:p>
          <a:p>
            <a:pPr marL="0" indent="0">
              <a:lnSpc>
                <a:spcPct val="80000"/>
              </a:lnSpc>
              <a:buNone/>
            </a:pPr>
            <a:endParaRPr lang="en-IN" sz="2800" dirty="0">
              <a:solidFill>
                <a:schemeClr val="tx1"/>
              </a:solidFill>
              <a:latin typeface="Gill Sans" panose="020B0604020202020204" charset="0"/>
            </a:endParaRPr>
          </a:p>
          <a:p>
            <a:pPr indent="-4572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tx1"/>
                </a:solidFill>
                <a:latin typeface="Gill Sans" panose="020B0604020202020204" charset="0"/>
              </a:rPr>
              <a:t>Different architectures have been developed based on each of the above approaches to learn from videos</a:t>
            </a:r>
          </a:p>
          <a:p>
            <a:pPr marL="0" indent="0">
              <a:lnSpc>
                <a:spcPct val="80000"/>
              </a:lnSpc>
              <a:buNone/>
            </a:pPr>
            <a:endParaRPr lang="en-IN" sz="2800" dirty="0">
              <a:solidFill>
                <a:schemeClr val="tx1"/>
              </a:solidFill>
              <a:latin typeface="Gill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9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301611" y="177165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392938" y="2011362"/>
            <a:ext cx="5538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F7297FCA-73EE-4884-83FD-766905B7A3F8}"/>
              </a:ext>
            </a:extLst>
          </p:cNvPr>
          <p:cNvSpPr txBox="1">
            <a:spLocks/>
          </p:cNvSpPr>
          <p:nvPr/>
        </p:nvSpPr>
        <p:spPr>
          <a:xfrm>
            <a:off x="558800" y="1352550"/>
            <a:ext cx="10926553" cy="462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891A7"/>
              </a:buClr>
              <a:buSzPts val="1400"/>
              <a:buFont typeface="Verdana"/>
              <a:buChar char="○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■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Predicting type of cricket based on </a:t>
            </a:r>
            <a:r>
              <a:rPr lang="en-IN" sz="2600" dirty="0">
                <a:solidFill>
                  <a:srgbClr val="000000"/>
                </a:solidFill>
              </a:rPr>
              <a:t>Video</a:t>
            </a: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of a batman playing a cricket shot can be formulated </a:t>
            </a:r>
            <a:r>
              <a:rPr kumimoji="0" lang="en-IN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as a </a:t>
            </a:r>
            <a:r>
              <a:rPr lang="en-IN" sz="2600" dirty="0">
                <a:solidFill>
                  <a:srgbClr val="000000"/>
                </a:solidFill>
              </a:rPr>
              <a:t>Video</a:t>
            </a: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Classification problem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Data collection involves collecting </a:t>
            </a:r>
            <a:r>
              <a:rPr lang="en-IN" sz="2600" dirty="0">
                <a:solidFill>
                  <a:srgbClr val="000000"/>
                </a:solidFill>
              </a:rPr>
              <a:t>videos</a:t>
            </a: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of different types of cricket shots played by different batsmen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Spatio</a:t>
            </a: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-Temporal</a:t>
            </a:r>
            <a:r>
              <a:rPr kumimoji="0" lang="en-IN" sz="2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challenges </a:t>
            </a:r>
            <a:r>
              <a:rPr lang="en-IN" sz="2600" noProof="0" dirty="0">
                <a:solidFill>
                  <a:srgbClr val="000000"/>
                </a:solidFill>
              </a:rPr>
              <a:t>need to be handled while extracting information from videos</a:t>
            </a:r>
            <a:endParaRPr kumimoji="0" lang="en-I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/>
              <a:sym typeface="Gill San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Different</a:t>
            </a:r>
            <a:r>
              <a:rPr kumimoji="0" lang="en-IN" sz="2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types of approaches have been proposed to build classifiers which can handle the </a:t>
            </a:r>
            <a:r>
              <a:rPr kumimoji="0" lang="en-IN" sz="2600" b="0" i="0" u="none" strike="noStrike" kern="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spatio</a:t>
            </a:r>
            <a:r>
              <a:rPr kumimoji="0" lang="en-IN" sz="2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-temporal challenges</a:t>
            </a:r>
            <a:endParaRPr kumimoji="0" lang="en-I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7425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9"/>
          <p:cNvSpPr txBox="1">
            <a:spLocks noGrp="1"/>
          </p:cNvSpPr>
          <p:nvPr>
            <p:ph type="title"/>
          </p:nvPr>
        </p:nvSpPr>
        <p:spPr>
          <a:xfrm>
            <a:off x="197933" y="558993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66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866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2265</TotalTime>
  <Words>654</Words>
  <Application>Microsoft Office PowerPoint</Application>
  <PresentationFormat>Widescreen</PresentationFormat>
  <Paragraphs>128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Calibri</vt:lpstr>
      <vt:lpstr>Noto Sans</vt:lpstr>
      <vt:lpstr>Verdana</vt:lpstr>
      <vt:lpstr>Arial</vt:lpstr>
      <vt:lpstr>Cabin</vt:lpstr>
      <vt:lpstr>Noto Sans Symbols</vt:lpstr>
      <vt:lpstr>Wingdings</vt:lpstr>
      <vt:lpstr>Courier New</vt:lpstr>
      <vt:lpstr>Gill Sans</vt:lpstr>
      <vt:lpstr>Montserrat</vt:lpstr>
      <vt:lpstr>Avenir</vt:lpstr>
      <vt:lpstr>Simple Light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Distribution plot of frames and duration</vt:lpstr>
      <vt:lpstr>PowerPoint Presentation</vt:lpstr>
      <vt:lpstr>PowerPoint Presentation</vt:lpstr>
      <vt:lpstr>Video is Collection of Multiple Images</vt:lpstr>
      <vt:lpstr>PowerPoint Presentation</vt:lpstr>
      <vt:lpstr>PowerPoint Presentation</vt:lpstr>
      <vt:lpstr>PowerPoint Presentation</vt:lpstr>
      <vt:lpstr>Approaches to Building Classifier on Videos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 Sridhar</dc:creator>
  <cp:lastModifiedBy>Satya J</cp:lastModifiedBy>
  <cp:revision>15</cp:revision>
  <dcterms:created xsi:type="dcterms:W3CDTF">2019-05-02T04:32:46Z</dcterms:created>
  <dcterms:modified xsi:type="dcterms:W3CDTF">2024-02-10T07:42:35Z</dcterms:modified>
</cp:coreProperties>
</file>