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80" r:id="rId2"/>
  </p:sldMasterIdLst>
  <p:notesMasterIdLst>
    <p:notesMasterId r:id="rId38"/>
  </p:notesMasterIdLst>
  <p:sldIdLst>
    <p:sldId id="447" r:id="rId3"/>
    <p:sldId id="469" r:id="rId4"/>
    <p:sldId id="258" r:id="rId5"/>
    <p:sldId id="448" r:id="rId6"/>
    <p:sldId id="475" r:id="rId7"/>
    <p:sldId id="261" r:id="rId8"/>
    <p:sldId id="449" r:id="rId9"/>
    <p:sldId id="450" r:id="rId10"/>
    <p:sldId id="451" r:id="rId11"/>
    <p:sldId id="452" r:id="rId12"/>
    <p:sldId id="453" r:id="rId13"/>
    <p:sldId id="455" r:id="rId14"/>
    <p:sldId id="456" r:id="rId15"/>
    <p:sldId id="476" r:id="rId16"/>
    <p:sldId id="477" r:id="rId17"/>
    <p:sldId id="387" r:id="rId18"/>
    <p:sldId id="479" r:id="rId19"/>
    <p:sldId id="404" r:id="rId20"/>
    <p:sldId id="457" r:id="rId21"/>
    <p:sldId id="279" r:id="rId22"/>
    <p:sldId id="458" r:id="rId23"/>
    <p:sldId id="459" r:id="rId24"/>
    <p:sldId id="461" r:id="rId25"/>
    <p:sldId id="281" r:id="rId26"/>
    <p:sldId id="282" r:id="rId27"/>
    <p:sldId id="462" r:id="rId28"/>
    <p:sldId id="285" r:id="rId29"/>
    <p:sldId id="286" r:id="rId30"/>
    <p:sldId id="463" r:id="rId31"/>
    <p:sldId id="465" r:id="rId32"/>
    <p:sldId id="466" r:id="rId33"/>
    <p:sldId id="467" r:id="rId34"/>
    <p:sldId id="468" r:id="rId35"/>
    <p:sldId id="471" r:id="rId36"/>
    <p:sldId id="293" r:id="rId37"/>
  </p:sldIdLst>
  <p:sldSz cx="12192000" cy="6858000"/>
  <p:notesSz cx="6858000" cy="9144000"/>
  <p:embeddedFontLst>
    <p:embeddedFont>
      <p:font typeface="Cabin" panose="020B0604020202020204" charset="0"/>
      <p:regular r:id="rId39"/>
      <p:bold r:id="rId40"/>
      <p:italic r:id="rId41"/>
      <p:boldItalic r:id="rId42"/>
    </p:embeddedFont>
    <p:embeddedFont>
      <p:font typeface="Cambria Math" panose="02040503050406030204" pitchFamily="18" charset="0"/>
      <p:regular r:id="rId43"/>
    </p:embeddedFont>
    <p:embeddedFont>
      <p:font typeface="Gill Sans" panose="020B0604020202020204" charset="0"/>
      <p:regular r:id="rId44"/>
      <p:bold r:id="rId45"/>
    </p:embeddedFont>
    <p:embeddedFont>
      <p:font typeface="Montserrat" panose="00000500000000000000" pitchFamily="2" charset="0"/>
      <p:regular r:id="rId46"/>
      <p:bold r:id="rId47"/>
      <p:italic r:id="rId48"/>
      <p:boldItalic r:id="rId49"/>
    </p:embeddedFont>
    <p:embeddedFont>
      <p:font typeface="Noto Sans" panose="020B0502040504020204" pitchFamily="34" charset="0"/>
      <p:regular r:id="rId50"/>
    </p:embeddedFont>
    <p:embeddedFont>
      <p:font typeface="Verdana" panose="020B0604030504040204" pitchFamily="3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iM5Tl54x7j9l4IykyUpB9Rrq5s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E48A7B-9E87-4D62-B251-134843940CCE}">
  <a:tblStyle styleId="{59E48A7B-9E87-4D62-B251-134843940C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2412D91-092D-44FF-A22B-1379C6198B5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66" Type="http://customschemas.google.com/relationships/presentationmetadata" Target="meta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13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1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6.fntdata"/><Relationship Id="rId52" Type="http://schemas.openxmlformats.org/officeDocument/2006/relationships/font" Target="fonts/font14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673EE2-49F4-40CA-A99B-18C9DEA1CE59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42D186-0047-4B17-A3F5-E59E3762A03A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E8C0E9C-E7E8-4D25-B8FD-7152F6E9EA35}" type="par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1664888C-C781-471F-A272-B3FD5D7D2BD0}" type="sib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8F633EAF-C35F-431F-853B-9BF31EF36FDF}">
      <dgm:prSet phldrT="[Text]" custT="1"/>
      <dgm:spPr/>
      <dgm:t>
        <a:bodyPr/>
        <a:lstStyle/>
        <a:p>
          <a:r>
            <a:rPr lang="en-IN" sz="2600" dirty="0">
              <a:latin typeface="Gill Sans" panose="020B0604020202020204" charset="0"/>
            </a:rPr>
            <a:t>Collect relevant data along with class label</a:t>
          </a:r>
          <a:endParaRPr lang="en-US" sz="2600" dirty="0">
            <a:latin typeface="Gill Sans" panose="020B0604020202020204" charset="0"/>
          </a:endParaRPr>
        </a:p>
      </dgm:t>
    </dgm:pt>
    <dgm:pt modelId="{957C3D87-9443-46B8-AF22-7C76A8C23D45}" type="par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E5CFB9CC-BF95-4D3C-8522-D4D1349A5B4D}" type="sib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092ADF19-79F0-4D05-BD89-B3F8B1D81509}" type="pres">
      <dgm:prSet presAssocID="{CB673EE2-49F4-40CA-A99B-18C9DEA1CE59}" presName="linearFlow" presStyleCnt="0">
        <dgm:presLayoutVars>
          <dgm:dir/>
          <dgm:animLvl val="lvl"/>
          <dgm:resizeHandles val="exact"/>
        </dgm:presLayoutVars>
      </dgm:prSet>
      <dgm:spPr/>
    </dgm:pt>
    <dgm:pt modelId="{2A31E14B-2493-456B-AE4F-66F2F8DA3214}" type="pres">
      <dgm:prSet presAssocID="{5C42D186-0047-4B17-A3F5-E59E3762A03A}" presName="composite" presStyleCnt="0"/>
      <dgm:spPr/>
    </dgm:pt>
    <dgm:pt modelId="{A2857188-87C7-4B13-A9A0-6B4FC476C6B8}" type="pres">
      <dgm:prSet presAssocID="{5C42D186-0047-4B17-A3F5-E59E3762A03A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E091D8E4-0696-4FA0-B591-806E15E2CA61}" type="pres">
      <dgm:prSet presAssocID="{5C42D186-0047-4B17-A3F5-E59E3762A03A}" presName="descendantText" presStyleLbl="alignAcc1" presStyleIdx="0" presStyleCnt="1">
        <dgm:presLayoutVars>
          <dgm:bulletEnabled val="1"/>
        </dgm:presLayoutVars>
      </dgm:prSet>
      <dgm:spPr/>
    </dgm:pt>
  </dgm:ptLst>
  <dgm:cxnLst>
    <dgm:cxn modelId="{44E7D203-E5B3-4CFE-A820-F2E27D696CA8}" srcId="{5C42D186-0047-4B17-A3F5-E59E3762A03A}" destId="{8F633EAF-C35F-431F-853B-9BF31EF36FDF}" srcOrd="0" destOrd="0" parTransId="{957C3D87-9443-46B8-AF22-7C76A8C23D45}" sibTransId="{E5CFB9CC-BF95-4D3C-8522-D4D1349A5B4D}"/>
    <dgm:cxn modelId="{4D61F48E-4D0B-4E57-A556-46FD91AE79C4}" type="presOf" srcId="{5C42D186-0047-4B17-A3F5-E59E3762A03A}" destId="{A2857188-87C7-4B13-A9A0-6B4FC476C6B8}" srcOrd="0" destOrd="0" presId="urn:microsoft.com/office/officeart/2005/8/layout/chevron2"/>
    <dgm:cxn modelId="{9ED919A1-9EE4-44A6-ADB0-995963B603EE}" type="presOf" srcId="{CB673EE2-49F4-40CA-A99B-18C9DEA1CE59}" destId="{092ADF19-79F0-4D05-BD89-B3F8B1D81509}" srcOrd="0" destOrd="0" presId="urn:microsoft.com/office/officeart/2005/8/layout/chevron2"/>
    <dgm:cxn modelId="{2170F3A5-BAA5-41D6-B81A-427FEC423105}" srcId="{CB673EE2-49F4-40CA-A99B-18C9DEA1CE59}" destId="{5C42D186-0047-4B17-A3F5-E59E3762A03A}" srcOrd="0" destOrd="0" parTransId="{CE8C0E9C-E7E8-4D25-B8FD-7152F6E9EA35}" sibTransId="{1664888C-C781-471F-A272-B3FD5D7D2BD0}"/>
    <dgm:cxn modelId="{F3E172F2-5234-4E12-95E7-DAE97A9A9AAD}" type="presOf" srcId="{8F633EAF-C35F-431F-853B-9BF31EF36FDF}" destId="{E091D8E4-0696-4FA0-B591-806E15E2CA61}" srcOrd="0" destOrd="0" presId="urn:microsoft.com/office/officeart/2005/8/layout/chevron2"/>
    <dgm:cxn modelId="{C071B943-117A-47B6-BD21-89F47A4BBB5F}" type="presParOf" srcId="{092ADF19-79F0-4D05-BD89-B3F8B1D81509}" destId="{2A31E14B-2493-456B-AE4F-66F2F8DA3214}" srcOrd="0" destOrd="0" presId="urn:microsoft.com/office/officeart/2005/8/layout/chevron2"/>
    <dgm:cxn modelId="{959641E0-3871-4BAE-9232-BDFF44219092}" type="presParOf" srcId="{2A31E14B-2493-456B-AE4F-66F2F8DA3214}" destId="{A2857188-87C7-4B13-A9A0-6B4FC476C6B8}" srcOrd="0" destOrd="0" presId="urn:microsoft.com/office/officeart/2005/8/layout/chevron2"/>
    <dgm:cxn modelId="{2B3D5823-B741-4349-ABC1-B8F5D3BF8E89}" type="presParOf" srcId="{2A31E14B-2493-456B-AE4F-66F2F8DA3214}" destId="{E091D8E4-0696-4FA0-B591-806E15E2CA6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673EE2-49F4-40CA-A99B-18C9DEA1CE59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42D186-0047-4B17-A3F5-E59E3762A03A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E8C0E9C-E7E8-4D25-B8FD-7152F6E9EA35}" type="par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1664888C-C781-471F-A272-B3FD5D7D2BD0}" type="sib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8F633EAF-C35F-431F-853B-9BF31EF36FDF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Collect relevant data along with class label</a:t>
          </a:r>
          <a:endParaRPr lang="en-US" dirty="0">
            <a:latin typeface="Gill Sans" panose="020B0604020202020204" charset="0"/>
          </a:endParaRPr>
        </a:p>
      </dgm:t>
    </dgm:pt>
    <dgm:pt modelId="{957C3D87-9443-46B8-AF22-7C76A8C23D45}" type="par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E5CFB9CC-BF95-4D3C-8522-D4D1349A5B4D}" type="sib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C62AD73-5C88-4CC8-966D-CD4AA2AAE98D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Preparation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7460A73-92BA-40B7-A722-3CEC1FF0E9F0}" type="parTrans" cxnId="{8DF90501-DD54-4B48-9E0F-9BE38AA52C4E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961A7312-1314-4B8C-B439-85278D68DD67}" type="sibTrans" cxnId="{8DF90501-DD54-4B48-9E0F-9BE38AA52C4E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570825BC-3529-461E-BA9B-91A7A75254B3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Clean the data and fill any missing values</a:t>
          </a:r>
          <a:endParaRPr lang="en-US" dirty="0">
            <a:latin typeface="Gill Sans" panose="020B0604020202020204" charset="0"/>
          </a:endParaRPr>
        </a:p>
      </dgm:t>
    </dgm:pt>
    <dgm:pt modelId="{CC495178-7BE0-4847-A25E-29ED5AFB61EB}" type="parTrans" cxnId="{E9648E43-307A-462F-9825-91CC00237D17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5554DD8-AF9F-4E0F-A533-01FFF58CD95A}" type="sibTrans" cxnId="{E9648E43-307A-462F-9825-91CC00237D17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A7845D0D-FDFE-490F-B3B8-650A368537A0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Pre-process the data as </a:t>
          </a:r>
          <a:r>
            <a:rPr lang="en-IN">
              <a:latin typeface="Gill Sans" panose="020B0604020202020204" charset="0"/>
            </a:rPr>
            <a:t>necessary </a:t>
          </a:r>
          <a:endParaRPr lang="en-US" dirty="0">
            <a:latin typeface="Gill Sans" panose="020B0604020202020204" charset="0"/>
          </a:endParaRPr>
        </a:p>
      </dgm:t>
    </dgm:pt>
    <dgm:pt modelId="{7195D1D4-98A6-439A-96F5-9A3B891451DC}" type="parTrans" cxnId="{8D75506A-EB7F-44EC-B320-3B01FF708500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29DCAD12-D764-4927-9C39-876C050573A7}" type="sibTrans" cxnId="{8D75506A-EB7F-44EC-B320-3B01FF708500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092ADF19-79F0-4D05-BD89-B3F8B1D81509}" type="pres">
      <dgm:prSet presAssocID="{CB673EE2-49F4-40CA-A99B-18C9DEA1CE59}" presName="linearFlow" presStyleCnt="0">
        <dgm:presLayoutVars>
          <dgm:dir/>
          <dgm:animLvl val="lvl"/>
          <dgm:resizeHandles val="exact"/>
        </dgm:presLayoutVars>
      </dgm:prSet>
      <dgm:spPr/>
    </dgm:pt>
    <dgm:pt modelId="{2A31E14B-2493-456B-AE4F-66F2F8DA3214}" type="pres">
      <dgm:prSet presAssocID="{5C42D186-0047-4B17-A3F5-E59E3762A03A}" presName="composite" presStyleCnt="0"/>
      <dgm:spPr/>
    </dgm:pt>
    <dgm:pt modelId="{A2857188-87C7-4B13-A9A0-6B4FC476C6B8}" type="pres">
      <dgm:prSet presAssocID="{5C42D186-0047-4B17-A3F5-E59E3762A03A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E091D8E4-0696-4FA0-B591-806E15E2CA61}" type="pres">
      <dgm:prSet presAssocID="{5C42D186-0047-4B17-A3F5-E59E3762A03A}" presName="descendantText" presStyleLbl="alignAcc1" presStyleIdx="0" presStyleCnt="2">
        <dgm:presLayoutVars>
          <dgm:bulletEnabled val="1"/>
        </dgm:presLayoutVars>
      </dgm:prSet>
      <dgm:spPr/>
    </dgm:pt>
    <dgm:pt modelId="{0AEDA78C-35DE-410C-8EA9-A2F0BDCB0203}" type="pres">
      <dgm:prSet presAssocID="{1664888C-C781-471F-A272-B3FD5D7D2BD0}" presName="sp" presStyleCnt="0"/>
      <dgm:spPr/>
    </dgm:pt>
    <dgm:pt modelId="{14C91F22-95EE-461C-B8AF-3D5DA9DAB41A}" type="pres">
      <dgm:prSet presAssocID="{7C62AD73-5C88-4CC8-966D-CD4AA2AAE98D}" presName="composite" presStyleCnt="0"/>
      <dgm:spPr/>
    </dgm:pt>
    <dgm:pt modelId="{454B0165-B1F8-4114-9A68-6D50E0844D16}" type="pres">
      <dgm:prSet presAssocID="{7C62AD73-5C88-4CC8-966D-CD4AA2AAE98D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59112E16-E603-4827-B531-8F3DF793E526}" type="pres">
      <dgm:prSet presAssocID="{7C62AD73-5C88-4CC8-966D-CD4AA2AAE98D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8DF90501-DD54-4B48-9E0F-9BE38AA52C4E}" srcId="{CB673EE2-49F4-40CA-A99B-18C9DEA1CE59}" destId="{7C62AD73-5C88-4CC8-966D-CD4AA2AAE98D}" srcOrd="1" destOrd="0" parTransId="{C7460A73-92BA-40B7-A722-3CEC1FF0E9F0}" sibTransId="{961A7312-1314-4B8C-B439-85278D68DD67}"/>
    <dgm:cxn modelId="{4E7C9A03-5249-42D5-9DEF-043B40038FD4}" type="presOf" srcId="{A7845D0D-FDFE-490F-B3B8-650A368537A0}" destId="{59112E16-E603-4827-B531-8F3DF793E526}" srcOrd="0" destOrd="1" presId="urn:microsoft.com/office/officeart/2005/8/layout/chevron2"/>
    <dgm:cxn modelId="{DBE0D203-DF6B-49A1-9097-F0000E9A6A78}" type="presOf" srcId="{570825BC-3529-461E-BA9B-91A7A75254B3}" destId="{59112E16-E603-4827-B531-8F3DF793E526}" srcOrd="0" destOrd="0" presId="urn:microsoft.com/office/officeart/2005/8/layout/chevron2"/>
    <dgm:cxn modelId="{44E7D203-E5B3-4CFE-A820-F2E27D696CA8}" srcId="{5C42D186-0047-4B17-A3F5-E59E3762A03A}" destId="{8F633EAF-C35F-431F-853B-9BF31EF36FDF}" srcOrd="0" destOrd="0" parTransId="{957C3D87-9443-46B8-AF22-7C76A8C23D45}" sibTransId="{E5CFB9CC-BF95-4D3C-8522-D4D1349A5B4D}"/>
    <dgm:cxn modelId="{E9648E43-307A-462F-9825-91CC00237D17}" srcId="{7C62AD73-5C88-4CC8-966D-CD4AA2AAE98D}" destId="{570825BC-3529-461E-BA9B-91A7A75254B3}" srcOrd="0" destOrd="0" parTransId="{CC495178-7BE0-4847-A25E-29ED5AFB61EB}" sibTransId="{75554DD8-AF9F-4E0F-A533-01FFF58CD95A}"/>
    <dgm:cxn modelId="{8D75506A-EB7F-44EC-B320-3B01FF708500}" srcId="{7C62AD73-5C88-4CC8-966D-CD4AA2AAE98D}" destId="{A7845D0D-FDFE-490F-B3B8-650A368537A0}" srcOrd="1" destOrd="0" parTransId="{7195D1D4-98A6-439A-96F5-9A3B891451DC}" sibTransId="{29DCAD12-D764-4927-9C39-876C050573A7}"/>
    <dgm:cxn modelId="{4D61F48E-4D0B-4E57-A556-46FD91AE79C4}" type="presOf" srcId="{5C42D186-0047-4B17-A3F5-E59E3762A03A}" destId="{A2857188-87C7-4B13-A9A0-6B4FC476C6B8}" srcOrd="0" destOrd="0" presId="urn:microsoft.com/office/officeart/2005/8/layout/chevron2"/>
    <dgm:cxn modelId="{9ED919A1-9EE4-44A6-ADB0-995963B603EE}" type="presOf" srcId="{CB673EE2-49F4-40CA-A99B-18C9DEA1CE59}" destId="{092ADF19-79F0-4D05-BD89-B3F8B1D81509}" srcOrd="0" destOrd="0" presId="urn:microsoft.com/office/officeart/2005/8/layout/chevron2"/>
    <dgm:cxn modelId="{2170F3A5-BAA5-41D6-B81A-427FEC423105}" srcId="{CB673EE2-49F4-40CA-A99B-18C9DEA1CE59}" destId="{5C42D186-0047-4B17-A3F5-E59E3762A03A}" srcOrd="0" destOrd="0" parTransId="{CE8C0E9C-E7E8-4D25-B8FD-7152F6E9EA35}" sibTransId="{1664888C-C781-471F-A272-B3FD5D7D2BD0}"/>
    <dgm:cxn modelId="{F38162D0-8DC2-44BC-9006-01C9349C6C8F}" type="presOf" srcId="{7C62AD73-5C88-4CC8-966D-CD4AA2AAE98D}" destId="{454B0165-B1F8-4114-9A68-6D50E0844D16}" srcOrd="0" destOrd="0" presId="urn:microsoft.com/office/officeart/2005/8/layout/chevron2"/>
    <dgm:cxn modelId="{F3E172F2-5234-4E12-95E7-DAE97A9A9AAD}" type="presOf" srcId="{8F633EAF-C35F-431F-853B-9BF31EF36FDF}" destId="{E091D8E4-0696-4FA0-B591-806E15E2CA61}" srcOrd="0" destOrd="0" presId="urn:microsoft.com/office/officeart/2005/8/layout/chevron2"/>
    <dgm:cxn modelId="{C071B943-117A-47B6-BD21-89F47A4BBB5F}" type="presParOf" srcId="{092ADF19-79F0-4D05-BD89-B3F8B1D81509}" destId="{2A31E14B-2493-456B-AE4F-66F2F8DA3214}" srcOrd="0" destOrd="0" presId="urn:microsoft.com/office/officeart/2005/8/layout/chevron2"/>
    <dgm:cxn modelId="{959641E0-3871-4BAE-9232-BDFF44219092}" type="presParOf" srcId="{2A31E14B-2493-456B-AE4F-66F2F8DA3214}" destId="{A2857188-87C7-4B13-A9A0-6B4FC476C6B8}" srcOrd="0" destOrd="0" presId="urn:microsoft.com/office/officeart/2005/8/layout/chevron2"/>
    <dgm:cxn modelId="{2B3D5823-B741-4349-ABC1-B8F5D3BF8E89}" type="presParOf" srcId="{2A31E14B-2493-456B-AE4F-66F2F8DA3214}" destId="{E091D8E4-0696-4FA0-B591-806E15E2CA61}" srcOrd="1" destOrd="0" presId="urn:microsoft.com/office/officeart/2005/8/layout/chevron2"/>
    <dgm:cxn modelId="{027A0B2C-E1CD-4405-BF59-1646310CF490}" type="presParOf" srcId="{092ADF19-79F0-4D05-BD89-B3F8B1D81509}" destId="{0AEDA78C-35DE-410C-8EA9-A2F0BDCB0203}" srcOrd="1" destOrd="0" presId="urn:microsoft.com/office/officeart/2005/8/layout/chevron2"/>
    <dgm:cxn modelId="{D893F802-0871-441C-801A-C08EE1366038}" type="presParOf" srcId="{092ADF19-79F0-4D05-BD89-B3F8B1D81509}" destId="{14C91F22-95EE-461C-B8AF-3D5DA9DAB41A}" srcOrd="2" destOrd="0" presId="urn:microsoft.com/office/officeart/2005/8/layout/chevron2"/>
    <dgm:cxn modelId="{DDCB3F7A-9AFA-4FB3-827F-649DCE171BBB}" type="presParOf" srcId="{14C91F22-95EE-461C-B8AF-3D5DA9DAB41A}" destId="{454B0165-B1F8-4114-9A68-6D50E0844D16}" srcOrd="0" destOrd="0" presId="urn:microsoft.com/office/officeart/2005/8/layout/chevron2"/>
    <dgm:cxn modelId="{8FB2C4CA-9CED-4A58-A6A4-DF08D27DFE73}" type="presParOf" srcId="{14C91F22-95EE-461C-B8AF-3D5DA9DAB41A}" destId="{59112E16-E603-4827-B531-8F3DF793E52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673EE2-49F4-40CA-A99B-18C9DEA1CE59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42D186-0047-4B17-A3F5-E59E3762A03A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E8C0E9C-E7E8-4D25-B8FD-7152F6E9EA35}" type="par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1664888C-C781-471F-A272-B3FD5D7D2BD0}" type="sib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8F633EAF-C35F-431F-853B-9BF31EF36FDF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Collect relevant data along with class label</a:t>
          </a:r>
          <a:endParaRPr lang="en-US" dirty="0">
            <a:latin typeface="Gill Sans" panose="020B0604020202020204" charset="0"/>
          </a:endParaRPr>
        </a:p>
      </dgm:t>
    </dgm:pt>
    <dgm:pt modelId="{957C3D87-9443-46B8-AF22-7C76A8C23D45}" type="par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E5CFB9CC-BF95-4D3C-8522-D4D1349A5B4D}" type="sib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C62AD73-5C88-4CC8-966D-CD4AA2AAE98D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Preparation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7460A73-92BA-40B7-A722-3CEC1FF0E9F0}" type="parTrans" cxnId="{8DF90501-DD54-4B48-9E0F-9BE38AA52C4E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961A7312-1314-4B8C-B439-85278D68DD67}" type="sibTrans" cxnId="{8DF90501-DD54-4B48-9E0F-9BE38AA52C4E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570825BC-3529-461E-BA9B-91A7A75254B3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Clean the data and fill any missing values</a:t>
          </a:r>
          <a:endParaRPr lang="en-US" dirty="0">
            <a:latin typeface="Gill Sans" panose="020B0604020202020204" charset="0"/>
          </a:endParaRPr>
        </a:p>
      </dgm:t>
    </dgm:pt>
    <dgm:pt modelId="{CC495178-7BE0-4847-A25E-29ED5AFB61EB}" type="parTrans" cxnId="{E9648E43-307A-462F-9825-91CC00237D17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5554DD8-AF9F-4E0F-A533-01FFF58CD95A}" type="sibTrans" cxnId="{E9648E43-307A-462F-9825-91CC00237D17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A7845D0D-FDFE-490F-B3B8-650A368537A0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Pre-process the data as necessary </a:t>
          </a:r>
          <a:endParaRPr lang="en-US" dirty="0">
            <a:latin typeface="Gill Sans" panose="020B0604020202020204" charset="0"/>
          </a:endParaRPr>
        </a:p>
      </dgm:t>
    </dgm:pt>
    <dgm:pt modelId="{7195D1D4-98A6-439A-96F5-9A3B891451DC}" type="parTrans" cxnId="{8D75506A-EB7F-44EC-B320-3B01FF708500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29DCAD12-D764-4927-9C39-876C050573A7}" type="sibTrans" cxnId="{8D75506A-EB7F-44EC-B320-3B01FF708500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0275CA6D-5B3B-4941-8AB1-4B3A9C020A40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Build Classifier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90137100-63E2-4BBD-90FF-10691408F2E9}" type="parTrans" cxnId="{98C544E4-6649-4981-85D0-513AEAA8436D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1D35C907-B7F5-4548-B1EF-CA666460D6D0}" type="sibTrans" cxnId="{98C544E4-6649-4981-85D0-513AEAA8436D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B7ACFE08-BEDA-4A47-859D-A11A0CACF79A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Train classifier by learning relation between input features and output classes</a:t>
          </a:r>
          <a:endParaRPr lang="en-US" dirty="0">
            <a:latin typeface="Gill Sans" panose="020B0604020202020204" charset="0"/>
          </a:endParaRPr>
        </a:p>
      </dgm:t>
    </dgm:pt>
    <dgm:pt modelId="{30BF0152-E4E8-44C0-B22D-2E71793009EC}" type="parTrans" cxnId="{6025FCCB-CA1F-4B07-8E70-F365B7340D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AD504092-C6AB-4FCA-96C1-A69153DE184E}" type="sibTrans" cxnId="{6025FCCB-CA1F-4B07-8E70-F365B7340D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092ADF19-79F0-4D05-BD89-B3F8B1D81509}" type="pres">
      <dgm:prSet presAssocID="{CB673EE2-49F4-40CA-A99B-18C9DEA1CE59}" presName="linearFlow" presStyleCnt="0">
        <dgm:presLayoutVars>
          <dgm:dir/>
          <dgm:animLvl val="lvl"/>
          <dgm:resizeHandles val="exact"/>
        </dgm:presLayoutVars>
      </dgm:prSet>
      <dgm:spPr/>
    </dgm:pt>
    <dgm:pt modelId="{2A31E14B-2493-456B-AE4F-66F2F8DA3214}" type="pres">
      <dgm:prSet presAssocID="{5C42D186-0047-4B17-A3F5-E59E3762A03A}" presName="composite" presStyleCnt="0"/>
      <dgm:spPr/>
    </dgm:pt>
    <dgm:pt modelId="{A2857188-87C7-4B13-A9A0-6B4FC476C6B8}" type="pres">
      <dgm:prSet presAssocID="{5C42D186-0047-4B17-A3F5-E59E3762A03A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E091D8E4-0696-4FA0-B591-806E15E2CA61}" type="pres">
      <dgm:prSet presAssocID="{5C42D186-0047-4B17-A3F5-E59E3762A03A}" presName="descendantText" presStyleLbl="alignAcc1" presStyleIdx="0" presStyleCnt="3">
        <dgm:presLayoutVars>
          <dgm:bulletEnabled val="1"/>
        </dgm:presLayoutVars>
      </dgm:prSet>
      <dgm:spPr/>
    </dgm:pt>
    <dgm:pt modelId="{0AEDA78C-35DE-410C-8EA9-A2F0BDCB0203}" type="pres">
      <dgm:prSet presAssocID="{1664888C-C781-471F-A272-B3FD5D7D2BD0}" presName="sp" presStyleCnt="0"/>
      <dgm:spPr/>
    </dgm:pt>
    <dgm:pt modelId="{14C91F22-95EE-461C-B8AF-3D5DA9DAB41A}" type="pres">
      <dgm:prSet presAssocID="{7C62AD73-5C88-4CC8-966D-CD4AA2AAE98D}" presName="composite" presStyleCnt="0"/>
      <dgm:spPr/>
    </dgm:pt>
    <dgm:pt modelId="{454B0165-B1F8-4114-9A68-6D50E0844D16}" type="pres">
      <dgm:prSet presAssocID="{7C62AD73-5C88-4CC8-966D-CD4AA2AAE98D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59112E16-E603-4827-B531-8F3DF793E526}" type="pres">
      <dgm:prSet presAssocID="{7C62AD73-5C88-4CC8-966D-CD4AA2AAE98D}" presName="descendantText" presStyleLbl="alignAcc1" presStyleIdx="1" presStyleCnt="3">
        <dgm:presLayoutVars>
          <dgm:bulletEnabled val="1"/>
        </dgm:presLayoutVars>
      </dgm:prSet>
      <dgm:spPr/>
    </dgm:pt>
    <dgm:pt modelId="{A648B60D-71B7-415D-A796-84B53EAB51EF}" type="pres">
      <dgm:prSet presAssocID="{961A7312-1314-4B8C-B439-85278D68DD67}" presName="sp" presStyleCnt="0"/>
      <dgm:spPr/>
    </dgm:pt>
    <dgm:pt modelId="{A4EFD9A3-B07A-4FCE-ADBE-4C6799CD886F}" type="pres">
      <dgm:prSet presAssocID="{0275CA6D-5B3B-4941-8AB1-4B3A9C020A40}" presName="composite" presStyleCnt="0"/>
      <dgm:spPr/>
    </dgm:pt>
    <dgm:pt modelId="{9AC569D5-D34C-476D-9FCE-DC406E3764C4}" type="pres">
      <dgm:prSet presAssocID="{0275CA6D-5B3B-4941-8AB1-4B3A9C020A40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E0B1F3FD-4A7B-4EB9-ABDB-620B0659A216}" type="pres">
      <dgm:prSet presAssocID="{0275CA6D-5B3B-4941-8AB1-4B3A9C020A40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8DF90501-DD54-4B48-9E0F-9BE38AA52C4E}" srcId="{CB673EE2-49F4-40CA-A99B-18C9DEA1CE59}" destId="{7C62AD73-5C88-4CC8-966D-CD4AA2AAE98D}" srcOrd="1" destOrd="0" parTransId="{C7460A73-92BA-40B7-A722-3CEC1FF0E9F0}" sibTransId="{961A7312-1314-4B8C-B439-85278D68DD67}"/>
    <dgm:cxn modelId="{4E7C9A03-5249-42D5-9DEF-043B40038FD4}" type="presOf" srcId="{A7845D0D-FDFE-490F-B3B8-650A368537A0}" destId="{59112E16-E603-4827-B531-8F3DF793E526}" srcOrd="0" destOrd="1" presId="urn:microsoft.com/office/officeart/2005/8/layout/chevron2"/>
    <dgm:cxn modelId="{DBE0D203-DF6B-49A1-9097-F0000E9A6A78}" type="presOf" srcId="{570825BC-3529-461E-BA9B-91A7A75254B3}" destId="{59112E16-E603-4827-B531-8F3DF793E526}" srcOrd="0" destOrd="0" presId="urn:microsoft.com/office/officeart/2005/8/layout/chevron2"/>
    <dgm:cxn modelId="{44E7D203-E5B3-4CFE-A820-F2E27D696CA8}" srcId="{5C42D186-0047-4B17-A3F5-E59E3762A03A}" destId="{8F633EAF-C35F-431F-853B-9BF31EF36FDF}" srcOrd="0" destOrd="0" parTransId="{957C3D87-9443-46B8-AF22-7C76A8C23D45}" sibTransId="{E5CFB9CC-BF95-4D3C-8522-D4D1349A5B4D}"/>
    <dgm:cxn modelId="{FCFFEA3B-2B6C-462F-9E80-B49EB48B96CD}" type="presOf" srcId="{B7ACFE08-BEDA-4A47-859D-A11A0CACF79A}" destId="{E0B1F3FD-4A7B-4EB9-ABDB-620B0659A216}" srcOrd="0" destOrd="0" presId="urn:microsoft.com/office/officeart/2005/8/layout/chevron2"/>
    <dgm:cxn modelId="{E9648E43-307A-462F-9825-91CC00237D17}" srcId="{7C62AD73-5C88-4CC8-966D-CD4AA2AAE98D}" destId="{570825BC-3529-461E-BA9B-91A7A75254B3}" srcOrd="0" destOrd="0" parTransId="{CC495178-7BE0-4847-A25E-29ED5AFB61EB}" sibTransId="{75554DD8-AF9F-4E0F-A533-01FFF58CD95A}"/>
    <dgm:cxn modelId="{8D75506A-EB7F-44EC-B320-3B01FF708500}" srcId="{7C62AD73-5C88-4CC8-966D-CD4AA2AAE98D}" destId="{A7845D0D-FDFE-490F-B3B8-650A368537A0}" srcOrd="1" destOrd="0" parTransId="{7195D1D4-98A6-439A-96F5-9A3B891451DC}" sibTransId="{29DCAD12-D764-4927-9C39-876C050573A7}"/>
    <dgm:cxn modelId="{F1F73E79-6790-4021-8FFC-DEF525CA0B64}" type="presOf" srcId="{0275CA6D-5B3B-4941-8AB1-4B3A9C020A40}" destId="{9AC569D5-D34C-476D-9FCE-DC406E3764C4}" srcOrd="0" destOrd="0" presId="urn:microsoft.com/office/officeart/2005/8/layout/chevron2"/>
    <dgm:cxn modelId="{4D61F48E-4D0B-4E57-A556-46FD91AE79C4}" type="presOf" srcId="{5C42D186-0047-4B17-A3F5-E59E3762A03A}" destId="{A2857188-87C7-4B13-A9A0-6B4FC476C6B8}" srcOrd="0" destOrd="0" presId="urn:microsoft.com/office/officeart/2005/8/layout/chevron2"/>
    <dgm:cxn modelId="{9ED919A1-9EE4-44A6-ADB0-995963B603EE}" type="presOf" srcId="{CB673EE2-49F4-40CA-A99B-18C9DEA1CE59}" destId="{092ADF19-79F0-4D05-BD89-B3F8B1D81509}" srcOrd="0" destOrd="0" presId="urn:microsoft.com/office/officeart/2005/8/layout/chevron2"/>
    <dgm:cxn modelId="{2170F3A5-BAA5-41D6-B81A-427FEC423105}" srcId="{CB673EE2-49F4-40CA-A99B-18C9DEA1CE59}" destId="{5C42D186-0047-4B17-A3F5-E59E3762A03A}" srcOrd="0" destOrd="0" parTransId="{CE8C0E9C-E7E8-4D25-B8FD-7152F6E9EA35}" sibTransId="{1664888C-C781-471F-A272-B3FD5D7D2BD0}"/>
    <dgm:cxn modelId="{6025FCCB-CA1F-4B07-8E70-F365B7340D05}" srcId="{0275CA6D-5B3B-4941-8AB1-4B3A9C020A40}" destId="{B7ACFE08-BEDA-4A47-859D-A11A0CACF79A}" srcOrd="0" destOrd="0" parTransId="{30BF0152-E4E8-44C0-B22D-2E71793009EC}" sibTransId="{AD504092-C6AB-4FCA-96C1-A69153DE184E}"/>
    <dgm:cxn modelId="{F38162D0-8DC2-44BC-9006-01C9349C6C8F}" type="presOf" srcId="{7C62AD73-5C88-4CC8-966D-CD4AA2AAE98D}" destId="{454B0165-B1F8-4114-9A68-6D50E0844D16}" srcOrd="0" destOrd="0" presId="urn:microsoft.com/office/officeart/2005/8/layout/chevron2"/>
    <dgm:cxn modelId="{98C544E4-6649-4981-85D0-513AEAA8436D}" srcId="{CB673EE2-49F4-40CA-A99B-18C9DEA1CE59}" destId="{0275CA6D-5B3B-4941-8AB1-4B3A9C020A40}" srcOrd="2" destOrd="0" parTransId="{90137100-63E2-4BBD-90FF-10691408F2E9}" sibTransId="{1D35C907-B7F5-4548-B1EF-CA666460D6D0}"/>
    <dgm:cxn modelId="{F3E172F2-5234-4E12-95E7-DAE97A9A9AAD}" type="presOf" srcId="{8F633EAF-C35F-431F-853B-9BF31EF36FDF}" destId="{E091D8E4-0696-4FA0-B591-806E15E2CA61}" srcOrd="0" destOrd="0" presId="urn:microsoft.com/office/officeart/2005/8/layout/chevron2"/>
    <dgm:cxn modelId="{C071B943-117A-47B6-BD21-89F47A4BBB5F}" type="presParOf" srcId="{092ADF19-79F0-4D05-BD89-B3F8B1D81509}" destId="{2A31E14B-2493-456B-AE4F-66F2F8DA3214}" srcOrd="0" destOrd="0" presId="urn:microsoft.com/office/officeart/2005/8/layout/chevron2"/>
    <dgm:cxn modelId="{959641E0-3871-4BAE-9232-BDFF44219092}" type="presParOf" srcId="{2A31E14B-2493-456B-AE4F-66F2F8DA3214}" destId="{A2857188-87C7-4B13-A9A0-6B4FC476C6B8}" srcOrd="0" destOrd="0" presId="urn:microsoft.com/office/officeart/2005/8/layout/chevron2"/>
    <dgm:cxn modelId="{2B3D5823-B741-4349-ABC1-B8F5D3BF8E89}" type="presParOf" srcId="{2A31E14B-2493-456B-AE4F-66F2F8DA3214}" destId="{E091D8E4-0696-4FA0-B591-806E15E2CA61}" srcOrd="1" destOrd="0" presId="urn:microsoft.com/office/officeart/2005/8/layout/chevron2"/>
    <dgm:cxn modelId="{027A0B2C-E1CD-4405-BF59-1646310CF490}" type="presParOf" srcId="{092ADF19-79F0-4D05-BD89-B3F8B1D81509}" destId="{0AEDA78C-35DE-410C-8EA9-A2F0BDCB0203}" srcOrd="1" destOrd="0" presId="urn:microsoft.com/office/officeart/2005/8/layout/chevron2"/>
    <dgm:cxn modelId="{D893F802-0871-441C-801A-C08EE1366038}" type="presParOf" srcId="{092ADF19-79F0-4D05-BD89-B3F8B1D81509}" destId="{14C91F22-95EE-461C-B8AF-3D5DA9DAB41A}" srcOrd="2" destOrd="0" presId="urn:microsoft.com/office/officeart/2005/8/layout/chevron2"/>
    <dgm:cxn modelId="{DDCB3F7A-9AFA-4FB3-827F-649DCE171BBB}" type="presParOf" srcId="{14C91F22-95EE-461C-B8AF-3D5DA9DAB41A}" destId="{454B0165-B1F8-4114-9A68-6D50E0844D16}" srcOrd="0" destOrd="0" presId="urn:microsoft.com/office/officeart/2005/8/layout/chevron2"/>
    <dgm:cxn modelId="{8FB2C4CA-9CED-4A58-A6A4-DF08D27DFE73}" type="presParOf" srcId="{14C91F22-95EE-461C-B8AF-3D5DA9DAB41A}" destId="{59112E16-E603-4827-B531-8F3DF793E526}" srcOrd="1" destOrd="0" presId="urn:microsoft.com/office/officeart/2005/8/layout/chevron2"/>
    <dgm:cxn modelId="{B71BA9A6-4323-4760-AA4A-75B2B39BFE39}" type="presParOf" srcId="{092ADF19-79F0-4D05-BD89-B3F8B1D81509}" destId="{A648B60D-71B7-415D-A796-84B53EAB51EF}" srcOrd="3" destOrd="0" presId="urn:microsoft.com/office/officeart/2005/8/layout/chevron2"/>
    <dgm:cxn modelId="{CE206A51-29C7-4596-BC6B-EC4F7CC81E7B}" type="presParOf" srcId="{092ADF19-79F0-4D05-BD89-B3F8B1D81509}" destId="{A4EFD9A3-B07A-4FCE-ADBE-4C6799CD886F}" srcOrd="4" destOrd="0" presId="urn:microsoft.com/office/officeart/2005/8/layout/chevron2"/>
    <dgm:cxn modelId="{EBD93E2D-3BB1-450D-9AE3-68AB6168AA11}" type="presParOf" srcId="{A4EFD9A3-B07A-4FCE-ADBE-4C6799CD886F}" destId="{9AC569D5-D34C-476D-9FCE-DC406E3764C4}" srcOrd="0" destOrd="0" presId="urn:microsoft.com/office/officeart/2005/8/layout/chevron2"/>
    <dgm:cxn modelId="{3DB93A04-577C-4433-B0A3-926FAE02B85A}" type="presParOf" srcId="{A4EFD9A3-B07A-4FCE-ADBE-4C6799CD886F}" destId="{E0B1F3FD-4A7B-4EB9-ABDB-620B0659A21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673EE2-49F4-40CA-A99B-18C9DEA1CE59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42D186-0047-4B17-A3F5-E59E3762A03A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E8C0E9C-E7E8-4D25-B8FD-7152F6E9EA35}" type="par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1664888C-C781-471F-A272-B3FD5D7D2BD0}" type="sib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8F633EAF-C35F-431F-853B-9BF31EF36FDF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Collect relevant data along with class label</a:t>
          </a:r>
          <a:endParaRPr lang="en-US" dirty="0">
            <a:latin typeface="Gill Sans" panose="020B0604020202020204" charset="0"/>
          </a:endParaRPr>
        </a:p>
      </dgm:t>
    </dgm:pt>
    <dgm:pt modelId="{957C3D87-9443-46B8-AF22-7C76A8C23D45}" type="par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E5CFB9CC-BF95-4D3C-8522-D4D1349A5B4D}" type="sib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C62AD73-5C88-4CC8-966D-CD4AA2AAE98D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Preparation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7460A73-92BA-40B7-A722-3CEC1FF0E9F0}" type="parTrans" cxnId="{8DF90501-DD54-4B48-9E0F-9BE38AA52C4E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961A7312-1314-4B8C-B439-85278D68DD67}" type="sibTrans" cxnId="{8DF90501-DD54-4B48-9E0F-9BE38AA52C4E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570825BC-3529-461E-BA9B-91A7A75254B3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Clean the data and fill any missing values</a:t>
          </a:r>
          <a:endParaRPr lang="en-US" dirty="0">
            <a:latin typeface="Gill Sans" panose="020B0604020202020204" charset="0"/>
          </a:endParaRPr>
        </a:p>
      </dgm:t>
    </dgm:pt>
    <dgm:pt modelId="{CC495178-7BE0-4847-A25E-29ED5AFB61EB}" type="parTrans" cxnId="{E9648E43-307A-462F-9825-91CC00237D17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5554DD8-AF9F-4E0F-A533-01FFF58CD95A}" type="sibTrans" cxnId="{E9648E43-307A-462F-9825-91CC00237D17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A7845D0D-FDFE-490F-B3B8-650A368537A0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Pre-process the data as necessary </a:t>
          </a:r>
          <a:endParaRPr lang="en-US" dirty="0">
            <a:latin typeface="Gill Sans" panose="020B0604020202020204" charset="0"/>
          </a:endParaRPr>
        </a:p>
      </dgm:t>
    </dgm:pt>
    <dgm:pt modelId="{7195D1D4-98A6-439A-96F5-9A3B891451DC}" type="parTrans" cxnId="{8D75506A-EB7F-44EC-B320-3B01FF708500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29DCAD12-D764-4927-9C39-876C050573A7}" type="sibTrans" cxnId="{8D75506A-EB7F-44EC-B320-3B01FF708500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0275CA6D-5B3B-4941-8AB1-4B3A9C020A40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Build Classifier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90137100-63E2-4BBD-90FF-10691408F2E9}" type="parTrans" cxnId="{98C544E4-6649-4981-85D0-513AEAA8436D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1D35C907-B7F5-4548-B1EF-CA666460D6D0}" type="sibTrans" cxnId="{98C544E4-6649-4981-85D0-513AEAA8436D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B7ACFE08-BEDA-4A47-859D-A11A0CACF79A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Train classifier by learning relation between input features and output classes</a:t>
          </a:r>
          <a:endParaRPr lang="en-US" dirty="0">
            <a:latin typeface="Gill Sans" panose="020B0604020202020204" charset="0"/>
          </a:endParaRPr>
        </a:p>
      </dgm:t>
    </dgm:pt>
    <dgm:pt modelId="{30BF0152-E4E8-44C0-B22D-2E71793009EC}" type="parTrans" cxnId="{6025FCCB-CA1F-4B07-8E70-F365B7340D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AD504092-C6AB-4FCA-96C1-A69153DE184E}" type="sibTrans" cxnId="{6025FCCB-CA1F-4B07-8E70-F365B7340D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D7D5784-A80C-4C03-9FE7-5F54256B0108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Test Classifier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A4308C22-A43B-443F-8EFB-089D3F70E684}" type="parTrans" cxnId="{7E4CA9D2-4739-476F-A2AA-6316AB0A42B2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C28B1DE2-EA64-43EF-8025-48BFA55A9DCD}" type="sibTrans" cxnId="{7E4CA9D2-4739-476F-A2AA-6316AB0A42B2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D6044E6C-19C7-4A1D-AF8C-7EE9C199B1F4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Assess the classifier performance</a:t>
          </a:r>
          <a:endParaRPr lang="en-US" dirty="0">
            <a:latin typeface="Gill Sans" panose="020B0604020202020204" charset="0"/>
          </a:endParaRPr>
        </a:p>
      </dgm:t>
    </dgm:pt>
    <dgm:pt modelId="{B3696F43-EBE8-42C6-99C2-8B156543CF5A}" type="parTrans" cxnId="{150E508A-E603-4EA5-A801-AC110BF2C6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F9885630-5D58-450D-9CA5-4D3A2C4CCF44}" type="sibTrans" cxnId="{150E508A-E603-4EA5-A801-AC110BF2C6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092ADF19-79F0-4D05-BD89-B3F8B1D81509}" type="pres">
      <dgm:prSet presAssocID="{CB673EE2-49F4-40CA-A99B-18C9DEA1CE59}" presName="linearFlow" presStyleCnt="0">
        <dgm:presLayoutVars>
          <dgm:dir/>
          <dgm:animLvl val="lvl"/>
          <dgm:resizeHandles val="exact"/>
        </dgm:presLayoutVars>
      </dgm:prSet>
      <dgm:spPr/>
    </dgm:pt>
    <dgm:pt modelId="{2A31E14B-2493-456B-AE4F-66F2F8DA3214}" type="pres">
      <dgm:prSet presAssocID="{5C42D186-0047-4B17-A3F5-E59E3762A03A}" presName="composite" presStyleCnt="0"/>
      <dgm:spPr/>
    </dgm:pt>
    <dgm:pt modelId="{A2857188-87C7-4B13-A9A0-6B4FC476C6B8}" type="pres">
      <dgm:prSet presAssocID="{5C42D186-0047-4B17-A3F5-E59E3762A03A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E091D8E4-0696-4FA0-B591-806E15E2CA61}" type="pres">
      <dgm:prSet presAssocID="{5C42D186-0047-4B17-A3F5-E59E3762A03A}" presName="descendantText" presStyleLbl="alignAcc1" presStyleIdx="0" presStyleCnt="4">
        <dgm:presLayoutVars>
          <dgm:bulletEnabled val="1"/>
        </dgm:presLayoutVars>
      </dgm:prSet>
      <dgm:spPr/>
    </dgm:pt>
    <dgm:pt modelId="{0AEDA78C-35DE-410C-8EA9-A2F0BDCB0203}" type="pres">
      <dgm:prSet presAssocID="{1664888C-C781-471F-A272-B3FD5D7D2BD0}" presName="sp" presStyleCnt="0"/>
      <dgm:spPr/>
    </dgm:pt>
    <dgm:pt modelId="{14C91F22-95EE-461C-B8AF-3D5DA9DAB41A}" type="pres">
      <dgm:prSet presAssocID="{7C62AD73-5C88-4CC8-966D-CD4AA2AAE98D}" presName="composite" presStyleCnt="0"/>
      <dgm:spPr/>
    </dgm:pt>
    <dgm:pt modelId="{454B0165-B1F8-4114-9A68-6D50E0844D16}" type="pres">
      <dgm:prSet presAssocID="{7C62AD73-5C88-4CC8-966D-CD4AA2AAE98D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59112E16-E603-4827-B531-8F3DF793E526}" type="pres">
      <dgm:prSet presAssocID="{7C62AD73-5C88-4CC8-966D-CD4AA2AAE98D}" presName="descendantText" presStyleLbl="alignAcc1" presStyleIdx="1" presStyleCnt="4">
        <dgm:presLayoutVars>
          <dgm:bulletEnabled val="1"/>
        </dgm:presLayoutVars>
      </dgm:prSet>
      <dgm:spPr/>
    </dgm:pt>
    <dgm:pt modelId="{A648B60D-71B7-415D-A796-84B53EAB51EF}" type="pres">
      <dgm:prSet presAssocID="{961A7312-1314-4B8C-B439-85278D68DD67}" presName="sp" presStyleCnt="0"/>
      <dgm:spPr/>
    </dgm:pt>
    <dgm:pt modelId="{A4EFD9A3-B07A-4FCE-ADBE-4C6799CD886F}" type="pres">
      <dgm:prSet presAssocID="{0275CA6D-5B3B-4941-8AB1-4B3A9C020A40}" presName="composite" presStyleCnt="0"/>
      <dgm:spPr/>
    </dgm:pt>
    <dgm:pt modelId="{9AC569D5-D34C-476D-9FCE-DC406E3764C4}" type="pres">
      <dgm:prSet presAssocID="{0275CA6D-5B3B-4941-8AB1-4B3A9C020A40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E0B1F3FD-4A7B-4EB9-ABDB-620B0659A216}" type="pres">
      <dgm:prSet presAssocID="{0275CA6D-5B3B-4941-8AB1-4B3A9C020A40}" presName="descendantText" presStyleLbl="alignAcc1" presStyleIdx="2" presStyleCnt="4">
        <dgm:presLayoutVars>
          <dgm:bulletEnabled val="1"/>
        </dgm:presLayoutVars>
      </dgm:prSet>
      <dgm:spPr/>
    </dgm:pt>
    <dgm:pt modelId="{E0F7707E-948E-487D-966C-C549B04D35AD}" type="pres">
      <dgm:prSet presAssocID="{1D35C907-B7F5-4548-B1EF-CA666460D6D0}" presName="sp" presStyleCnt="0"/>
      <dgm:spPr/>
    </dgm:pt>
    <dgm:pt modelId="{1057C97F-ED74-452C-9D7B-01DF639F5E2E}" type="pres">
      <dgm:prSet presAssocID="{7D7D5784-A80C-4C03-9FE7-5F54256B0108}" presName="composite" presStyleCnt="0"/>
      <dgm:spPr/>
    </dgm:pt>
    <dgm:pt modelId="{77BE4FA9-3A8B-41B5-99FB-79C09630D259}" type="pres">
      <dgm:prSet presAssocID="{7D7D5784-A80C-4C03-9FE7-5F54256B0108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B2CF5441-CAE3-4F01-9D6B-6A83BC70BFEF}" type="pres">
      <dgm:prSet presAssocID="{7D7D5784-A80C-4C03-9FE7-5F54256B0108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8DF90501-DD54-4B48-9E0F-9BE38AA52C4E}" srcId="{CB673EE2-49F4-40CA-A99B-18C9DEA1CE59}" destId="{7C62AD73-5C88-4CC8-966D-CD4AA2AAE98D}" srcOrd="1" destOrd="0" parTransId="{C7460A73-92BA-40B7-A722-3CEC1FF0E9F0}" sibTransId="{961A7312-1314-4B8C-B439-85278D68DD67}"/>
    <dgm:cxn modelId="{4E7C9A03-5249-42D5-9DEF-043B40038FD4}" type="presOf" srcId="{A7845D0D-FDFE-490F-B3B8-650A368537A0}" destId="{59112E16-E603-4827-B531-8F3DF793E526}" srcOrd="0" destOrd="1" presId="urn:microsoft.com/office/officeart/2005/8/layout/chevron2"/>
    <dgm:cxn modelId="{DBE0D203-DF6B-49A1-9097-F0000E9A6A78}" type="presOf" srcId="{570825BC-3529-461E-BA9B-91A7A75254B3}" destId="{59112E16-E603-4827-B531-8F3DF793E526}" srcOrd="0" destOrd="0" presId="urn:microsoft.com/office/officeart/2005/8/layout/chevron2"/>
    <dgm:cxn modelId="{44E7D203-E5B3-4CFE-A820-F2E27D696CA8}" srcId="{5C42D186-0047-4B17-A3F5-E59E3762A03A}" destId="{8F633EAF-C35F-431F-853B-9BF31EF36FDF}" srcOrd="0" destOrd="0" parTransId="{957C3D87-9443-46B8-AF22-7C76A8C23D45}" sibTransId="{E5CFB9CC-BF95-4D3C-8522-D4D1349A5B4D}"/>
    <dgm:cxn modelId="{FCFFEA3B-2B6C-462F-9E80-B49EB48B96CD}" type="presOf" srcId="{B7ACFE08-BEDA-4A47-859D-A11A0CACF79A}" destId="{E0B1F3FD-4A7B-4EB9-ABDB-620B0659A216}" srcOrd="0" destOrd="0" presId="urn:microsoft.com/office/officeart/2005/8/layout/chevron2"/>
    <dgm:cxn modelId="{0BD7343D-340C-42D6-93E9-11CC1BEF65D9}" type="presOf" srcId="{7D7D5784-A80C-4C03-9FE7-5F54256B0108}" destId="{77BE4FA9-3A8B-41B5-99FB-79C09630D259}" srcOrd="0" destOrd="0" presId="urn:microsoft.com/office/officeart/2005/8/layout/chevron2"/>
    <dgm:cxn modelId="{E9648E43-307A-462F-9825-91CC00237D17}" srcId="{7C62AD73-5C88-4CC8-966D-CD4AA2AAE98D}" destId="{570825BC-3529-461E-BA9B-91A7A75254B3}" srcOrd="0" destOrd="0" parTransId="{CC495178-7BE0-4847-A25E-29ED5AFB61EB}" sibTransId="{75554DD8-AF9F-4E0F-A533-01FFF58CD95A}"/>
    <dgm:cxn modelId="{8D75506A-EB7F-44EC-B320-3B01FF708500}" srcId="{7C62AD73-5C88-4CC8-966D-CD4AA2AAE98D}" destId="{A7845D0D-FDFE-490F-B3B8-650A368537A0}" srcOrd="1" destOrd="0" parTransId="{7195D1D4-98A6-439A-96F5-9A3B891451DC}" sibTransId="{29DCAD12-D764-4927-9C39-876C050573A7}"/>
    <dgm:cxn modelId="{E043E54B-B947-4B67-9463-3DCCCB9303F3}" type="presOf" srcId="{D6044E6C-19C7-4A1D-AF8C-7EE9C199B1F4}" destId="{B2CF5441-CAE3-4F01-9D6B-6A83BC70BFEF}" srcOrd="0" destOrd="0" presId="urn:microsoft.com/office/officeart/2005/8/layout/chevron2"/>
    <dgm:cxn modelId="{F1F73E79-6790-4021-8FFC-DEF525CA0B64}" type="presOf" srcId="{0275CA6D-5B3B-4941-8AB1-4B3A9C020A40}" destId="{9AC569D5-D34C-476D-9FCE-DC406E3764C4}" srcOrd="0" destOrd="0" presId="urn:microsoft.com/office/officeart/2005/8/layout/chevron2"/>
    <dgm:cxn modelId="{150E508A-E603-4EA5-A801-AC110BF2C605}" srcId="{7D7D5784-A80C-4C03-9FE7-5F54256B0108}" destId="{D6044E6C-19C7-4A1D-AF8C-7EE9C199B1F4}" srcOrd="0" destOrd="0" parTransId="{B3696F43-EBE8-42C6-99C2-8B156543CF5A}" sibTransId="{F9885630-5D58-450D-9CA5-4D3A2C4CCF44}"/>
    <dgm:cxn modelId="{4D61F48E-4D0B-4E57-A556-46FD91AE79C4}" type="presOf" srcId="{5C42D186-0047-4B17-A3F5-E59E3762A03A}" destId="{A2857188-87C7-4B13-A9A0-6B4FC476C6B8}" srcOrd="0" destOrd="0" presId="urn:microsoft.com/office/officeart/2005/8/layout/chevron2"/>
    <dgm:cxn modelId="{9ED919A1-9EE4-44A6-ADB0-995963B603EE}" type="presOf" srcId="{CB673EE2-49F4-40CA-A99B-18C9DEA1CE59}" destId="{092ADF19-79F0-4D05-BD89-B3F8B1D81509}" srcOrd="0" destOrd="0" presId="urn:microsoft.com/office/officeart/2005/8/layout/chevron2"/>
    <dgm:cxn modelId="{2170F3A5-BAA5-41D6-B81A-427FEC423105}" srcId="{CB673EE2-49F4-40CA-A99B-18C9DEA1CE59}" destId="{5C42D186-0047-4B17-A3F5-E59E3762A03A}" srcOrd="0" destOrd="0" parTransId="{CE8C0E9C-E7E8-4D25-B8FD-7152F6E9EA35}" sibTransId="{1664888C-C781-471F-A272-B3FD5D7D2BD0}"/>
    <dgm:cxn modelId="{6025FCCB-CA1F-4B07-8E70-F365B7340D05}" srcId="{0275CA6D-5B3B-4941-8AB1-4B3A9C020A40}" destId="{B7ACFE08-BEDA-4A47-859D-A11A0CACF79A}" srcOrd="0" destOrd="0" parTransId="{30BF0152-E4E8-44C0-B22D-2E71793009EC}" sibTransId="{AD504092-C6AB-4FCA-96C1-A69153DE184E}"/>
    <dgm:cxn modelId="{F38162D0-8DC2-44BC-9006-01C9349C6C8F}" type="presOf" srcId="{7C62AD73-5C88-4CC8-966D-CD4AA2AAE98D}" destId="{454B0165-B1F8-4114-9A68-6D50E0844D16}" srcOrd="0" destOrd="0" presId="urn:microsoft.com/office/officeart/2005/8/layout/chevron2"/>
    <dgm:cxn modelId="{7E4CA9D2-4739-476F-A2AA-6316AB0A42B2}" srcId="{CB673EE2-49F4-40CA-A99B-18C9DEA1CE59}" destId="{7D7D5784-A80C-4C03-9FE7-5F54256B0108}" srcOrd="3" destOrd="0" parTransId="{A4308C22-A43B-443F-8EFB-089D3F70E684}" sibTransId="{C28B1DE2-EA64-43EF-8025-48BFA55A9DCD}"/>
    <dgm:cxn modelId="{98C544E4-6649-4981-85D0-513AEAA8436D}" srcId="{CB673EE2-49F4-40CA-A99B-18C9DEA1CE59}" destId="{0275CA6D-5B3B-4941-8AB1-4B3A9C020A40}" srcOrd="2" destOrd="0" parTransId="{90137100-63E2-4BBD-90FF-10691408F2E9}" sibTransId="{1D35C907-B7F5-4548-B1EF-CA666460D6D0}"/>
    <dgm:cxn modelId="{F3E172F2-5234-4E12-95E7-DAE97A9A9AAD}" type="presOf" srcId="{8F633EAF-C35F-431F-853B-9BF31EF36FDF}" destId="{E091D8E4-0696-4FA0-B591-806E15E2CA61}" srcOrd="0" destOrd="0" presId="urn:microsoft.com/office/officeart/2005/8/layout/chevron2"/>
    <dgm:cxn modelId="{C071B943-117A-47B6-BD21-89F47A4BBB5F}" type="presParOf" srcId="{092ADF19-79F0-4D05-BD89-B3F8B1D81509}" destId="{2A31E14B-2493-456B-AE4F-66F2F8DA3214}" srcOrd="0" destOrd="0" presId="urn:microsoft.com/office/officeart/2005/8/layout/chevron2"/>
    <dgm:cxn modelId="{959641E0-3871-4BAE-9232-BDFF44219092}" type="presParOf" srcId="{2A31E14B-2493-456B-AE4F-66F2F8DA3214}" destId="{A2857188-87C7-4B13-A9A0-6B4FC476C6B8}" srcOrd="0" destOrd="0" presId="urn:microsoft.com/office/officeart/2005/8/layout/chevron2"/>
    <dgm:cxn modelId="{2B3D5823-B741-4349-ABC1-B8F5D3BF8E89}" type="presParOf" srcId="{2A31E14B-2493-456B-AE4F-66F2F8DA3214}" destId="{E091D8E4-0696-4FA0-B591-806E15E2CA61}" srcOrd="1" destOrd="0" presId="urn:microsoft.com/office/officeart/2005/8/layout/chevron2"/>
    <dgm:cxn modelId="{027A0B2C-E1CD-4405-BF59-1646310CF490}" type="presParOf" srcId="{092ADF19-79F0-4D05-BD89-B3F8B1D81509}" destId="{0AEDA78C-35DE-410C-8EA9-A2F0BDCB0203}" srcOrd="1" destOrd="0" presId="urn:microsoft.com/office/officeart/2005/8/layout/chevron2"/>
    <dgm:cxn modelId="{D893F802-0871-441C-801A-C08EE1366038}" type="presParOf" srcId="{092ADF19-79F0-4D05-BD89-B3F8B1D81509}" destId="{14C91F22-95EE-461C-B8AF-3D5DA9DAB41A}" srcOrd="2" destOrd="0" presId="urn:microsoft.com/office/officeart/2005/8/layout/chevron2"/>
    <dgm:cxn modelId="{DDCB3F7A-9AFA-4FB3-827F-649DCE171BBB}" type="presParOf" srcId="{14C91F22-95EE-461C-B8AF-3D5DA9DAB41A}" destId="{454B0165-B1F8-4114-9A68-6D50E0844D16}" srcOrd="0" destOrd="0" presId="urn:microsoft.com/office/officeart/2005/8/layout/chevron2"/>
    <dgm:cxn modelId="{8FB2C4CA-9CED-4A58-A6A4-DF08D27DFE73}" type="presParOf" srcId="{14C91F22-95EE-461C-B8AF-3D5DA9DAB41A}" destId="{59112E16-E603-4827-B531-8F3DF793E526}" srcOrd="1" destOrd="0" presId="urn:microsoft.com/office/officeart/2005/8/layout/chevron2"/>
    <dgm:cxn modelId="{B71BA9A6-4323-4760-AA4A-75B2B39BFE39}" type="presParOf" srcId="{092ADF19-79F0-4D05-BD89-B3F8B1D81509}" destId="{A648B60D-71B7-415D-A796-84B53EAB51EF}" srcOrd="3" destOrd="0" presId="urn:microsoft.com/office/officeart/2005/8/layout/chevron2"/>
    <dgm:cxn modelId="{CE206A51-29C7-4596-BC6B-EC4F7CC81E7B}" type="presParOf" srcId="{092ADF19-79F0-4D05-BD89-B3F8B1D81509}" destId="{A4EFD9A3-B07A-4FCE-ADBE-4C6799CD886F}" srcOrd="4" destOrd="0" presId="urn:microsoft.com/office/officeart/2005/8/layout/chevron2"/>
    <dgm:cxn modelId="{EBD93E2D-3BB1-450D-9AE3-68AB6168AA11}" type="presParOf" srcId="{A4EFD9A3-B07A-4FCE-ADBE-4C6799CD886F}" destId="{9AC569D5-D34C-476D-9FCE-DC406E3764C4}" srcOrd="0" destOrd="0" presId="urn:microsoft.com/office/officeart/2005/8/layout/chevron2"/>
    <dgm:cxn modelId="{3DB93A04-577C-4433-B0A3-926FAE02B85A}" type="presParOf" srcId="{A4EFD9A3-B07A-4FCE-ADBE-4C6799CD886F}" destId="{E0B1F3FD-4A7B-4EB9-ABDB-620B0659A216}" srcOrd="1" destOrd="0" presId="urn:microsoft.com/office/officeart/2005/8/layout/chevron2"/>
    <dgm:cxn modelId="{182B7C80-1AAD-4196-9AD7-272C6FD496D0}" type="presParOf" srcId="{092ADF19-79F0-4D05-BD89-B3F8B1D81509}" destId="{E0F7707E-948E-487D-966C-C549B04D35AD}" srcOrd="5" destOrd="0" presId="urn:microsoft.com/office/officeart/2005/8/layout/chevron2"/>
    <dgm:cxn modelId="{3CE37937-B3BC-4E8C-BA76-1C2FD6A6B820}" type="presParOf" srcId="{092ADF19-79F0-4D05-BD89-B3F8B1D81509}" destId="{1057C97F-ED74-452C-9D7B-01DF639F5E2E}" srcOrd="6" destOrd="0" presId="urn:microsoft.com/office/officeart/2005/8/layout/chevron2"/>
    <dgm:cxn modelId="{9BC959CF-680E-470D-BC3C-0906236C2A72}" type="presParOf" srcId="{1057C97F-ED74-452C-9D7B-01DF639F5E2E}" destId="{77BE4FA9-3A8B-41B5-99FB-79C09630D259}" srcOrd="0" destOrd="0" presId="urn:microsoft.com/office/officeart/2005/8/layout/chevron2"/>
    <dgm:cxn modelId="{EDD6F8A7-0E91-46C9-9306-62A92A1C0381}" type="presParOf" srcId="{1057C97F-ED74-452C-9D7B-01DF639F5E2E}" destId="{B2CF5441-CAE3-4F01-9D6B-6A83BC70BFE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57188-87C7-4B13-A9A0-6B4FC476C6B8}">
      <dsp:nvSpPr>
        <dsp:cNvPr id="0" name=""/>
        <dsp:cNvSpPr/>
      </dsp:nvSpPr>
      <dsp:spPr>
        <a:xfrm rot="5400000">
          <a:off x="-210227" y="211597"/>
          <a:ext cx="1401514" cy="9810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0" y="491900"/>
        <a:ext cx="981060" cy="420454"/>
      </dsp:txXfrm>
    </dsp:sp>
    <dsp:sp modelId="{E091D8E4-0696-4FA0-B591-806E15E2CA61}">
      <dsp:nvSpPr>
        <dsp:cNvPr id="0" name=""/>
        <dsp:cNvSpPr/>
      </dsp:nvSpPr>
      <dsp:spPr>
        <a:xfrm rot="5400000">
          <a:off x="5294412" y="-4311981"/>
          <a:ext cx="911463" cy="953816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>
              <a:latin typeface="Gill Sans" panose="020B0604020202020204" charset="0"/>
            </a:rPr>
            <a:t>Collect relevant data along with class label</a:t>
          </a:r>
          <a:endParaRPr lang="en-US" sz="2600" kern="1200" dirty="0">
            <a:latin typeface="Gill Sans" panose="020B0604020202020204" charset="0"/>
          </a:endParaRPr>
        </a:p>
      </dsp:txBody>
      <dsp:txXfrm rot="-5400000">
        <a:off x="981060" y="45865"/>
        <a:ext cx="9493673" cy="8224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57188-87C7-4B13-A9A0-6B4FC476C6B8}">
      <dsp:nvSpPr>
        <dsp:cNvPr id="0" name=""/>
        <dsp:cNvSpPr/>
      </dsp:nvSpPr>
      <dsp:spPr>
        <a:xfrm rot="5400000">
          <a:off x="-248445" y="251848"/>
          <a:ext cx="1656304" cy="11594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583108"/>
        <a:ext cx="1159412" cy="496892"/>
      </dsp:txXfrm>
    </dsp:sp>
    <dsp:sp modelId="{E091D8E4-0696-4FA0-B591-806E15E2CA61}">
      <dsp:nvSpPr>
        <dsp:cNvPr id="0" name=""/>
        <dsp:cNvSpPr/>
      </dsp:nvSpPr>
      <dsp:spPr>
        <a:xfrm rot="5400000">
          <a:off x="5300738" y="-4137923"/>
          <a:ext cx="1077163" cy="93598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700" kern="1200" dirty="0">
              <a:latin typeface="Gill Sans" panose="020B0604020202020204" charset="0"/>
            </a:rPr>
            <a:t>Collect relevant data along with class label</a:t>
          </a:r>
          <a:endParaRPr lang="en-US" sz="2700" kern="1200" dirty="0">
            <a:latin typeface="Gill Sans" panose="020B0604020202020204" charset="0"/>
          </a:endParaRPr>
        </a:p>
      </dsp:txBody>
      <dsp:txXfrm rot="-5400000">
        <a:off x="1159413" y="55985"/>
        <a:ext cx="9307232" cy="971997"/>
      </dsp:txXfrm>
    </dsp:sp>
    <dsp:sp modelId="{454B0165-B1F8-4114-9A68-6D50E0844D16}">
      <dsp:nvSpPr>
        <dsp:cNvPr id="0" name=""/>
        <dsp:cNvSpPr/>
      </dsp:nvSpPr>
      <dsp:spPr>
        <a:xfrm rot="5400000">
          <a:off x="-248445" y="1614965"/>
          <a:ext cx="1656304" cy="11594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Preparation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1946225"/>
        <a:ext cx="1159412" cy="496892"/>
      </dsp:txXfrm>
    </dsp:sp>
    <dsp:sp modelId="{59112E16-E603-4827-B531-8F3DF793E526}">
      <dsp:nvSpPr>
        <dsp:cNvPr id="0" name=""/>
        <dsp:cNvSpPr/>
      </dsp:nvSpPr>
      <dsp:spPr>
        <a:xfrm rot="5400000">
          <a:off x="5301021" y="-2775088"/>
          <a:ext cx="1076597" cy="93598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700" kern="1200" dirty="0">
              <a:latin typeface="Gill Sans" panose="020B0604020202020204" charset="0"/>
            </a:rPr>
            <a:t>Clean the data and fill any missing values</a:t>
          </a:r>
          <a:endParaRPr lang="en-US" sz="2700" kern="1200" dirty="0">
            <a:latin typeface="Gill Sans" panose="020B060402020202020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700" kern="1200" dirty="0">
              <a:latin typeface="Gill Sans" panose="020B0604020202020204" charset="0"/>
            </a:rPr>
            <a:t>Pre-process the data as </a:t>
          </a:r>
          <a:r>
            <a:rPr lang="en-IN" sz="2700" kern="1200">
              <a:latin typeface="Gill Sans" panose="020B0604020202020204" charset="0"/>
            </a:rPr>
            <a:t>necessary </a:t>
          </a:r>
          <a:endParaRPr lang="en-US" sz="2700" kern="1200" dirty="0">
            <a:latin typeface="Gill Sans" panose="020B0604020202020204" charset="0"/>
          </a:endParaRPr>
        </a:p>
      </dsp:txBody>
      <dsp:txXfrm rot="-5400000">
        <a:off x="1159413" y="1419075"/>
        <a:ext cx="9307260" cy="9714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57188-87C7-4B13-A9A0-6B4FC476C6B8}">
      <dsp:nvSpPr>
        <dsp:cNvPr id="0" name=""/>
        <dsp:cNvSpPr/>
      </dsp:nvSpPr>
      <dsp:spPr>
        <a:xfrm rot="5400000">
          <a:off x="-239360" y="244000"/>
          <a:ext cx="1595737" cy="111701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563147"/>
        <a:ext cx="1117016" cy="478721"/>
      </dsp:txXfrm>
    </dsp:sp>
    <dsp:sp modelId="{E091D8E4-0696-4FA0-B591-806E15E2CA61}">
      <dsp:nvSpPr>
        <dsp:cNvPr id="0" name=""/>
        <dsp:cNvSpPr/>
      </dsp:nvSpPr>
      <dsp:spPr>
        <a:xfrm rot="5400000">
          <a:off x="5299234" y="-4177578"/>
          <a:ext cx="1037774" cy="94022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>
              <a:latin typeface="Gill Sans" panose="020B0604020202020204" charset="0"/>
            </a:rPr>
            <a:t>Collect relevant data along with class label</a:t>
          </a:r>
          <a:endParaRPr lang="en-US" sz="2600" kern="1200" dirty="0">
            <a:latin typeface="Gill Sans" panose="020B0604020202020204" charset="0"/>
          </a:endParaRPr>
        </a:p>
      </dsp:txBody>
      <dsp:txXfrm rot="-5400000">
        <a:off x="1117016" y="55300"/>
        <a:ext cx="9351551" cy="936454"/>
      </dsp:txXfrm>
    </dsp:sp>
    <dsp:sp modelId="{454B0165-B1F8-4114-9A68-6D50E0844D16}">
      <dsp:nvSpPr>
        <dsp:cNvPr id="0" name=""/>
        <dsp:cNvSpPr/>
      </dsp:nvSpPr>
      <dsp:spPr>
        <a:xfrm rot="5400000">
          <a:off x="-239360" y="1645848"/>
          <a:ext cx="1595737" cy="111701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Preparation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1964995"/>
        <a:ext cx="1117016" cy="478721"/>
      </dsp:txXfrm>
    </dsp:sp>
    <dsp:sp modelId="{59112E16-E603-4827-B531-8F3DF793E526}">
      <dsp:nvSpPr>
        <dsp:cNvPr id="0" name=""/>
        <dsp:cNvSpPr/>
      </dsp:nvSpPr>
      <dsp:spPr>
        <a:xfrm rot="5400000">
          <a:off x="5299507" y="-2776003"/>
          <a:ext cx="1037229" cy="94022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>
              <a:latin typeface="Gill Sans" panose="020B0604020202020204" charset="0"/>
            </a:rPr>
            <a:t>Clean the data and fill any missing values</a:t>
          </a:r>
          <a:endParaRPr lang="en-US" sz="2600" kern="1200" dirty="0">
            <a:latin typeface="Gill Sans" panose="020B0604020202020204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>
              <a:latin typeface="Gill Sans" panose="020B0604020202020204" charset="0"/>
            </a:rPr>
            <a:t>Pre-process the data as necessary </a:t>
          </a:r>
          <a:endParaRPr lang="en-US" sz="2600" kern="1200" dirty="0">
            <a:latin typeface="Gill Sans" panose="020B0604020202020204" charset="0"/>
          </a:endParaRPr>
        </a:p>
      </dsp:txBody>
      <dsp:txXfrm rot="-5400000">
        <a:off x="1117017" y="1457120"/>
        <a:ext cx="9351578" cy="935963"/>
      </dsp:txXfrm>
    </dsp:sp>
    <dsp:sp modelId="{9AC569D5-D34C-476D-9FCE-DC406E3764C4}">
      <dsp:nvSpPr>
        <dsp:cNvPr id="0" name=""/>
        <dsp:cNvSpPr/>
      </dsp:nvSpPr>
      <dsp:spPr>
        <a:xfrm rot="5400000">
          <a:off x="-239360" y="3047696"/>
          <a:ext cx="1595737" cy="111701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Build Classifier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3366843"/>
        <a:ext cx="1117016" cy="478721"/>
      </dsp:txXfrm>
    </dsp:sp>
    <dsp:sp modelId="{E0B1F3FD-4A7B-4EB9-ABDB-620B0659A216}">
      <dsp:nvSpPr>
        <dsp:cNvPr id="0" name=""/>
        <dsp:cNvSpPr/>
      </dsp:nvSpPr>
      <dsp:spPr>
        <a:xfrm rot="5400000">
          <a:off x="5299507" y="-1374155"/>
          <a:ext cx="1037229" cy="94022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>
              <a:latin typeface="Gill Sans" panose="020B0604020202020204" charset="0"/>
            </a:rPr>
            <a:t>Train classifier by learning relation between input features and output classes</a:t>
          </a:r>
          <a:endParaRPr lang="en-US" sz="2600" kern="1200" dirty="0">
            <a:latin typeface="Gill Sans" panose="020B0604020202020204" charset="0"/>
          </a:endParaRPr>
        </a:p>
      </dsp:txBody>
      <dsp:txXfrm rot="-5400000">
        <a:off x="1117017" y="2858968"/>
        <a:ext cx="9351578" cy="9359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57188-87C7-4B13-A9A0-6B4FC476C6B8}">
      <dsp:nvSpPr>
        <dsp:cNvPr id="0" name=""/>
        <dsp:cNvSpPr/>
      </dsp:nvSpPr>
      <dsp:spPr>
        <a:xfrm rot="5400000">
          <a:off x="-226625" y="231465"/>
          <a:ext cx="1510838" cy="1057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533634"/>
        <a:ext cx="1057587" cy="453251"/>
      </dsp:txXfrm>
    </dsp:sp>
    <dsp:sp modelId="{E091D8E4-0696-4FA0-B591-806E15E2CA61}">
      <dsp:nvSpPr>
        <dsp:cNvPr id="0" name=""/>
        <dsp:cNvSpPr/>
      </dsp:nvSpPr>
      <dsp:spPr>
        <a:xfrm rot="5400000">
          <a:off x="5297126" y="-4234700"/>
          <a:ext cx="982561" cy="9461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Gill Sans" panose="020B0604020202020204" charset="0"/>
            </a:rPr>
            <a:t>Collect relevant data along with class label</a:t>
          </a:r>
          <a:endParaRPr lang="en-US" sz="2400" kern="1200" dirty="0">
            <a:latin typeface="Gill Sans" panose="020B0604020202020204" charset="0"/>
          </a:endParaRPr>
        </a:p>
      </dsp:txBody>
      <dsp:txXfrm rot="-5400000">
        <a:off x="1057587" y="52804"/>
        <a:ext cx="9413675" cy="886631"/>
      </dsp:txXfrm>
    </dsp:sp>
    <dsp:sp modelId="{454B0165-B1F8-4114-9A68-6D50E0844D16}">
      <dsp:nvSpPr>
        <dsp:cNvPr id="0" name=""/>
        <dsp:cNvSpPr/>
      </dsp:nvSpPr>
      <dsp:spPr>
        <a:xfrm rot="5400000">
          <a:off x="-226625" y="1598323"/>
          <a:ext cx="1510838" cy="1057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Preparation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1900492"/>
        <a:ext cx="1057587" cy="453251"/>
      </dsp:txXfrm>
    </dsp:sp>
    <dsp:sp modelId="{59112E16-E603-4827-B531-8F3DF793E526}">
      <dsp:nvSpPr>
        <dsp:cNvPr id="0" name=""/>
        <dsp:cNvSpPr/>
      </dsp:nvSpPr>
      <dsp:spPr>
        <a:xfrm rot="5400000">
          <a:off x="5297384" y="-2868099"/>
          <a:ext cx="982045" cy="9461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Gill Sans" panose="020B0604020202020204" charset="0"/>
            </a:rPr>
            <a:t>Clean the data and fill any missing values</a:t>
          </a:r>
          <a:endParaRPr lang="en-US" sz="2400" kern="1200" dirty="0">
            <a:latin typeface="Gill Sans" panose="020B060402020202020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Gill Sans" panose="020B0604020202020204" charset="0"/>
            </a:rPr>
            <a:t>Pre-process the data as necessary </a:t>
          </a:r>
          <a:endParaRPr lang="en-US" sz="2400" kern="1200" dirty="0">
            <a:latin typeface="Gill Sans" panose="020B0604020202020204" charset="0"/>
          </a:endParaRPr>
        </a:p>
      </dsp:txBody>
      <dsp:txXfrm rot="-5400000">
        <a:off x="1057587" y="1419637"/>
        <a:ext cx="9413701" cy="886167"/>
      </dsp:txXfrm>
    </dsp:sp>
    <dsp:sp modelId="{9AC569D5-D34C-476D-9FCE-DC406E3764C4}">
      <dsp:nvSpPr>
        <dsp:cNvPr id="0" name=""/>
        <dsp:cNvSpPr/>
      </dsp:nvSpPr>
      <dsp:spPr>
        <a:xfrm rot="5400000">
          <a:off x="-226625" y="2965182"/>
          <a:ext cx="1510838" cy="1057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Build Classifier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3267351"/>
        <a:ext cx="1057587" cy="453251"/>
      </dsp:txXfrm>
    </dsp:sp>
    <dsp:sp modelId="{E0B1F3FD-4A7B-4EB9-ABDB-620B0659A216}">
      <dsp:nvSpPr>
        <dsp:cNvPr id="0" name=""/>
        <dsp:cNvSpPr/>
      </dsp:nvSpPr>
      <dsp:spPr>
        <a:xfrm rot="5400000">
          <a:off x="5297384" y="-1501240"/>
          <a:ext cx="982045" cy="9461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Gill Sans" panose="020B0604020202020204" charset="0"/>
            </a:rPr>
            <a:t>Train classifier by learning relation between input features and output classes</a:t>
          </a:r>
          <a:endParaRPr lang="en-US" sz="2400" kern="1200" dirty="0">
            <a:latin typeface="Gill Sans" panose="020B0604020202020204" charset="0"/>
          </a:endParaRPr>
        </a:p>
      </dsp:txBody>
      <dsp:txXfrm rot="-5400000">
        <a:off x="1057587" y="2786496"/>
        <a:ext cx="9413701" cy="886167"/>
      </dsp:txXfrm>
    </dsp:sp>
    <dsp:sp modelId="{77BE4FA9-3A8B-41B5-99FB-79C09630D259}">
      <dsp:nvSpPr>
        <dsp:cNvPr id="0" name=""/>
        <dsp:cNvSpPr/>
      </dsp:nvSpPr>
      <dsp:spPr>
        <a:xfrm rot="5400000">
          <a:off x="-226625" y="4332041"/>
          <a:ext cx="1510838" cy="1057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Test Classifier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4634210"/>
        <a:ext cx="1057587" cy="453251"/>
      </dsp:txXfrm>
    </dsp:sp>
    <dsp:sp modelId="{B2CF5441-CAE3-4F01-9D6B-6A83BC70BFEF}">
      <dsp:nvSpPr>
        <dsp:cNvPr id="0" name=""/>
        <dsp:cNvSpPr/>
      </dsp:nvSpPr>
      <dsp:spPr>
        <a:xfrm rot="5400000">
          <a:off x="5297384" y="-134382"/>
          <a:ext cx="982045" cy="9461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Gill Sans" panose="020B0604020202020204" charset="0"/>
            </a:rPr>
            <a:t>Assess the classifier performance</a:t>
          </a:r>
          <a:endParaRPr lang="en-US" sz="2400" kern="1200" dirty="0">
            <a:latin typeface="Gill Sans" panose="020B0604020202020204" charset="0"/>
          </a:endParaRPr>
        </a:p>
      </dsp:txBody>
      <dsp:txXfrm rot="-5400000">
        <a:off x="1057587" y="4153354"/>
        <a:ext cx="9413701" cy="8861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:notes"/>
          <p:cNvSpPr txBox="1">
            <a:spLocks noGrp="1"/>
          </p:cNvSpPr>
          <p:nvPr>
            <p:ph type="sldNum" idx="12"/>
          </p:nvPr>
        </p:nvSpPr>
        <p:spPr>
          <a:xfrm>
            <a:off x="4023992" y="9721106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5513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:notes"/>
          <p:cNvSpPr txBox="1">
            <a:spLocks noGrp="1"/>
          </p:cNvSpPr>
          <p:nvPr>
            <p:ph type="sldNum" idx="12"/>
          </p:nvPr>
        </p:nvSpPr>
        <p:spPr>
          <a:xfrm>
            <a:off x="4023992" y="9721106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6516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3135507d2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3135507d24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23135507d24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3135507d2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3135507d24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23135507d24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3403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3135507d2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3135507d24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23135507d24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3996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4618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4556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38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0166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73145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580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4433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186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76861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0508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89966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38933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57359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e4c91af68a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e4c91af68a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1e4c91af68a_1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06126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86542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7431128cdc_0_6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7431128cdc_0_6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27431128cdc_0_6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2450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e4c91af68a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e4c91af68a_1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1e4c91af68a_1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38232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e4c91af68a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e4c91af68a_1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1e4c91af68a_1_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54221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31333674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313336749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g2313336749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62348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e4c91af68a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e4c91af68a_1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1e4c91af68a_1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67500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e4c91af68a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1e4c91af68a_1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g1e4c91af68a_1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83395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3135507d2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3135507d24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23135507d24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28667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e4c91af68a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e4c91af68a_1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g1e4c91af68a_1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45391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3135507d2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3135507d24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23135507d24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83045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3135507d2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3135507d24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23135507d24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36286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5faac2453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5faac2453a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25faac2453a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94258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a7509579c8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a7509579c8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9" name="Google Shape;529;ga7509579c8_0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34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96961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9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448" name="Google Shape;4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1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subTitle" idx="1"/>
          </p:nvPr>
        </p:nvSpPr>
        <p:spPr>
          <a:xfrm>
            <a:off x="1910080" y="1850064"/>
            <a:ext cx="9875200" cy="17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"/>
              <a:buNone/>
              <a:defRPr sz="2667" b="0" i="0" u="none" strike="noStrike" cap="none">
                <a:solidFill>
                  <a:srgbClr val="2A310F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Verdana"/>
              <a:buNone/>
              <a:defRPr sz="2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"/>
              <a:buNone/>
              <a:defRPr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32D2E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AA33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ftr" idx="11"/>
          </p:nvPr>
        </p:nvSpPr>
        <p:spPr>
          <a:xfrm>
            <a:off x="7518400" y="6400999"/>
            <a:ext cx="38608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sldNum" idx="12"/>
          </p:nvPr>
        </p:nvSpPr>
        <p:spPr>
          <a:xfrm>
            <a:off x="13309600" y="6305551"/>
            <a:ext cx="609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5"/>
          <p:cNvSpPr txBox="1">
            <a:spLocks noGrp="1"/>
          </p:cNvSpPr>
          <p:nvPr>
            <p:ph type="title"/>
          </p:nvPr>
        </p:nvSpPr>
        <p:spPr>
          <a:xfrm>
            <a:off x="1913467" y="838200"/>
            <a:ext cx="9999200" cy="5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344D6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6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body" idx="1"/>
          </p:nvPr>
        </p:nvSpPr>
        <p:spPr>
          <a:xfrm>
            <a:off x="838200" y="158636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60"/>
              <a:buChar char="⚫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27563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88570" y="2313986"/>
            <a:ext cx="8857808" cy="167993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7"/>
          <p:cNvSpPr txBox="1">
            <a:spLocks noGrp="1"/>
          </p:cNvSpPr>
          <p:nvPr>
            <p:ph type="ctrTitle"/>
          </p:nvPr>
        </p:nvSpPr>
        <p:spPr>
          <a:xfrm>
            <a:off x="2304999" y="2705259"/>
            <a:ext cx="8024949" cy="89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000"/>
              <a:buFont typeface="Gill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8326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6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body" idx="1"/>
          </p:nvPr>
        </p:nvSpPr>
        <p:spPr>
          <a:xfrm>
            <a:off x="838200" y="158636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60"/>
              <a:buChar char="⚫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8019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>
            <a:spLocks noGrp="1"/>
          </p:cNvSpPr>
          <p:nvPr>
            <p:ph type="title"/>
          </p:nvPr>
        </p:nvSpPr>
        <p:spPr>
          <a:xfrm>
            <a:off x="301611" y="136525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31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  <a:defRPr/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8726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8" r:id="rId13"/>
    <p:sldLayoutId id="214748367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5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  <a:defRPr sz="4300" b="0" i="0" u="none" strike="noStrike" cap="none">
                <a:solidFill>
                  <a:srgbClr val="0B53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body" idx="1"/>
          </p:nvPr>
        </p:nvSpPr>
        <p:spPr>
          <a:xfrm>
            <a:off x="261260" y="142961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08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45"/>
          <p:cNvSpPr txBox="1"/>
          <p:nvPr/>
        </p:nvSpPr>
        <p:spPr>
          <a:xfrm>
            <a:off x="1384663" y="6444476"/>
            <a:ext cx="24021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47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232D47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</a:p>
        </p:txBody>
      </p:sp>
      <p:sp>
        <p:nvSpPr>
          <p:cNvPr id="69" name="Google Shape;69;p45"/>
          <p:cNvSpPr txBox="1"/>
          <p:nvPr/>
        </p:nvSpPr>
        <p:spPr>
          <a:xfrm>
            <a:off x="11279285" y="6413698"/>
            <a:ext cx="6139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232D47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rgbClr val="232D4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5883589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1.png"/><Relationship Id="rId4" Type="http://schemas.openxmlformats.org/officeDocument/2006/relationships/image" Target="../media/image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1;p1">
            <a:extLst>
              <a:ext uri="{FF2B5EF4-FFF2-40B4-BE49-F238E27FC236}">
                <a16:creationId xmlns:a16="http://schemas.microsoft.com/office/drawing/2014/main" id="{135F844F-4D6E-02A7-B1BB-AB021D2F8429}"/>
              </a:ext>
            </a:extLst>
          </p:cNvPr>
          <p:cNvSpPr txBox="1">
            <a:spLocks/>
          </p:cNvSpPr>
          <p:nvPr/>
        </p:nvSpPr>
        <p:spPr>
          <a:xfrm>
            <a:off x="921914" y="1666650"/>
            <a:ext cx="10348171" cy="3524700"/>
          </a:xfrm>
          <a:prstGeom prst="rect">
            <a:avLst/>
          </a:prstGeom>
          <a:noFill/>
          <a:ln>
            <a:noFill/>
          </a:ln>
          <a:effectLst>
            <a:outerShdw dist="2540000" dir="21540000" sx="1000" sy="1000" algn="ctr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  <a:buSzPts val="1100"/>
            </a:pPr>
            <a:r>
              <a:rPr lang="en-US" sz="4800" b="1" dirty="0">
                <a:solidFill>
                  <a:srgbClr val="0070C0"/>
                </a:solidFill>
                <a:latin typeface="Avenir"/>
                <a:ea typeface="Avenir"/>
                <a:cs typeface="Avenir"/>
                <a:sym typeface="Avenir"/>
              </a:rPr>
              <a:t>Case Study in Image Analytics</a:t>
            </a:r>
          </a:p>
          <a:p>
            <a:pPr algn="ctr">
              <a:buClr>
                <a:srgbClr val="000000"/>
              </a:buClr>
              <a:buSzPts val="1100"/>
            </a:pPr>
            <a:r>
              <a:rPr lang="en-US" sz="4800" b="1" dirty="0">
                <a:solidFill>
                  <a:srgbClr val="002060"/>
                </a:solidFill>
                <a:latin typeface="Avenir"/>
                <a:ea typeface="Montserrat"/>
                <a:cs typeface="Montserrat"/>
                <a:sym typeface="Avenir"/>
              </a:rPr>
              <a:t>Cricket Shot Prediction</a:t>
            </a:r>
            <a:endParaRPr lang="en-US" sz="6000" b="1" dirty="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124DDD-9F76-D646-86D5-9993D91E63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69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124DDD-9F76-D646-86D5-9993D91E63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FEBFDDB0-E094-C26E-1A37-7586852CD5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sz="4000" dirty="0">
                <a:solidFill>
                  <a:srgbClr val="002060"/>
                </a:solidFill>
                <a:latin typeface="Gill Sans" panose="020B0604020202020204" charset="0"/>
              </a:rPr>
              <a:t>Contents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5" name="Google Shape;117;p2">
            <a:extLst>
              <a:ext uri="{FF2B5EF4-FFF2-40B4-BE49-F238E27FC236}">
                <a16:creationId xmlns:a16="http://schemas.microsoft.com/office/drawing/2014/main" id="{E4ABDF2C-CBFD-968D-02E1-3F5AF60E6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6550"/>
            <a:ext cx="10515600" cy="452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36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Cricket Shot Prediction – Objective and Motivation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36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Cricket Shot Prediction – Model Training and Testing</a:t>
            </a:r>
            <a:endParaRPr lang="en-IN" sz="24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36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Cricket Shot Prediction - Model Deployment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36"/>
              <a:buNone/>
            </a:pPr>
            <a:endParaRPr lang="en-IN" sz="28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41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3135507d24_2_0"/>
          <p:cNvSpPr txBox="1">
            <a:spLocks noGrp="1"/>
          </p:cNvSpPr>
          <p:nvPr>
            <p:ph type="body" idx="1"/>
          </p:nvPr>
        </p:nvSpPr>
        <p:spPr>
          <a:xfrm>
            <a:off x="415600" y="1190202"/>
            <a:ext cx="6101261" cy="51525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</a:pP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In cricket, various types of shots played by a batsman are identified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Drive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Leg Glance or Flick shot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Sweep Shot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Pull Shot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Hook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Cut Shot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endParaRPr lang="en-US" sz="22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indent="-457200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Gill Sans" panose="020B0604020202020204" charset="0"/>
              </a:rPr>
              <a:t>Objective</a:t>
            </a:r>
            <a:r>
              <a:rPr lang="en-US" sz="2400" dirty="0">
                <a:solidFill>
                  <a:srgbClr val="000000"/>
                </a:solidFill>
                <a:latin typeface="Gill Sans" panose="020B0604020202020204" charset="0"/>
              </a:rPr>
              <a:t>: Developing a cricket shot prediction model using image analysis</a:t>
            </a:r>
          </a:p>
          <a:p>
            <a:pPr indent="-457200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Gill Sans" panose="020B0604020202020204" charset="0"/>
              </a:rPr>
              <a:t>Images of the batsmen playing a shot are used as input</a:t>
            </a:r>
            <a:endParaRPr lang="en-US" sz="22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285750" indent="-285750">
              <a:lnSpc>
                <a:spcPct val="100000"/>
              </a:lnSpc>
            </a:pPr>
            <a:endParaRPr lang="en-US" sz="26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sp>
        <p:nvSpPr>
          <p:cNvPr id="149" name="Google Shape;149;g23135507d24_2_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7" name="Google Shape;140;g276234fa0a8_0_0">
            <a:extLst>
              <a:ext uri="{FF2B5EF4-FFF2-40B4-BE49-F238E27FC236}">
                <a16:creationId xmlns:a16="http://schemas.microsoft.com/office/drawing/2014/main" id="{03157286-0D58-047B-0BE0-AAFD17F7C97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0550" y="1190202"/>
            <a:ext cx="5511450" cy="529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2E15AD-06EE-BFC5-EFCE-09D9EB134B76}"/>
              </a:ext>
            </a:extLst>
          </p:cNvPr>
          <p:cNvSpPr txBox="1"/>
          <p:nvPr/>
        </p:nvSpPr>
        <p:spPr>
          <a:xfrm>
            <a:off x="1964821" y="99725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Cricket Shot Prediction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3135507d24_2_0"/>
          <p:cNvSpPr txBox="1">
            <a:spLocks noGrp="1"/>
          </p:cNvSpPr>
          <p:nvPr>
            <p:ph type="body" idx="1"/>
          </p:nvPr>
        </p:nvSpPr>
        <p:spPr>
          <a:xfrm>
            <a:off x="415601" y="1069076"/>
            <a:ext cx="5680400" cy="52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>
              <a:lnSpc>
                <a:spcPct val="100000"/>
              </a:lnSpc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Motivation:</a:t>
            </a:r>
            <a:r>
              <a:rPr lang="en-US" sz="2600" dirty="0">
                <a:solidFill>
                  <a:srgbClr val="FF0000"/>
                </a:solidFill>
                <a:latin typeface="Gill Sans" panose="020B0604020202020204" charset="0"/>
              </a:rPr>
              <a:t> </a:t>
            </a:r>
            <a:r>
              <a:rPr lang="en-US" sz="2600" dirty="0">
                <a:solidFill>
                  <a:srgbClr val="000000"/>
                </a:solidFill>
                <a:latin typeface="Gill Sans" panose="020B0604020202020204" charset="0"/>
              </a:rPr>
              <a:t>Benefiting commentators, viewers and leaners of the game with insights into the shots played</a:t>
            </a:r>
          </a:p>
          <a:p>
            <a:pPr indent="-457200">
              <a:lnSpc>
                <a:spcPct val="100000"/>
              </a:lnSpc>
            </a:pPr>
            <a:r>
              <a:rPr lang="en-US" sz="2600" dirty="0">
                <a:solidFill>
                  <a:srgbClr val="000000"/>
                </a:solidFill>
                <a:latin typeface="Gill Sans" panose="020B0604020202020204" charset="0"/>
              </a:rPr>
              <a:t>Can be used to develop an AI system which automatically generates commentary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600" dirty="0">
              <a:solidFill>
                <a:srgbClr val="000000"/>
              </a:solidFill>
              <a:latin typeface="Gill Sans" panose="020B0604020202020204" charset="0"/>
            </a:endParaRPr>
          </a:p>
          <a:p>
            <a:pPr indent="-457200">
              <a:lnSpc>
                <a:spcPct val="100000"/>
              </a:lnSpc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Formulation: </a:t>
            </a:r>
            <a:r>
              <a:rPr lang="en-US" sz="2600" dirty="0">
                <a:solidFill>
                  <a:srgbClr val="000000"/>
                </a:solidFill>
                <a:latin typeface="Gill Sans" panose="020B0604020202020204" charset="0"/>
              </a:rPr>
              <a:t>Classification problem with each type of shot considered as a class </a:t>
            </a:r>
          </a:p>
          <a:p>
            <a:pPr indent="-457200">
              <a:lnSpc>
                <a:spcPct val="100000"/>
              </a:lnSpc>
            </a:pPr>
            <a:r>
              <a:rPr lang="en-US" sz="2600" dirty="0">
                <a:solidFill>
                  <a:srgbClr val="000000"/>
                </a:solidFill>
                <a:latin typeface="Gill Sans" panose="020B0604020202020204" charset="0"/>
              </a:rPr>
              <a:t>Relation between image and class of shot to be learnt from data</a:t>
            </a:r>
            <a:endParaRPr sz="2600" dirty="0">
              <a:solidFill>
                <a:srgbClr val="000000"/>
              </a:solidFill>
              <a:latin typeface="Gill Sans" panose="020B060402020202020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rgbClr val="000000"/>
              </a:solidFill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</p:txBody>
      </p:sp>
      <p:sp>
        <p:nvSpPr>
          <p:cNvPr id="149" name="Google Shape;149;g23135507d24_2_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50" name="Google Shape;150;g23135507d24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651" y="1969720"/>
            <a:ext cx="6140349" cy="41095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9721E5-24DB-1B1E-BDBD-3F4033EC747B}"/>
              </a:ext>
            </a:extLst>
          </p:cNvPr>
          <p:cNvSpPr txBox="1"/>
          <p:nvPr/>
        </p:nvSpPr>
        <p:spPr>
          <a:xfrm>
            <a:off x="1964821" y="99725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Motivation and Formulation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60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3135507d24_2_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721E5-24DB-1B1E-BDBD-3F4033EC747B}"/>
              </a:ext>
            </a:extLst>
          </p:cNvPr>
          <p:cNvSpPr txBox="1"/>
          <p:nvPr/>
        </p:nvSpPr>
        <p:spPr>
          <a:xfrm>
            <a:off x="1964821" y="99725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Formulation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894EBB-213B-E8FD-4F6D-E02E2A640A94}"/>
              </a:ext>
            </a:extLst>
          </p:cNvPr>
          <p:cNvSpPr txBox="1"/>
          <p:nvPr/>
        </p:nvSpPr>
        <p:spPr>
          <a:xfrm>
            <a:off x="1368701" y="3075121"/>
            <a:ext cx="28658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</a:p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(Image of batsman playing cricket shot)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7B5A-C7E7-BE8A-0587-946070CB71C1}"/>
              </a:ext>
            </a:extLst>
          </p:cNvPr>
          <p:cNvSpPr txBox="1"/>
          <p:nvPr/>
        </p:nvSpPr>
        <p:spPr>
          <a:xfrm>
            <a:off x="7999004" y="3013501"/>
            <a:ext cx="2820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 class</a:t>
            </a:r>
          </a:p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(Type of cricket shot)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40A0D6-EC6B-95A8-8094-97AE183EFD90}"/>
              </a:ext>
            </a:extLst>
          </p:cNvPr>
          <p:cNvSpPr txBox="1"/>
          <p:nvPr/>
        </p:nvSpPr>
        <p:spPr>
          <a:xfrm>
            <a:off x="4598708" y="1712491"/>
            <a:ext cx="1677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Classifier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4DA11-ACC6-86DB-876F-4B95BDE9562A}"/>
              </a:ext>
            </a:extLst>
          </p:cNvPr>
          <p:cNvSpPr/>
          <p:nvPr/>
        </p:nvSpPr>
        <p:spPr>
          <a:xfrm>
            <a:off x="4598708" y="2917026"/>
            <a:ext cx="1899920" cy="12395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Input-Output Relation</a:t>
            </a:r>
          </a:p>
          <a:p>
            <a:pPr algn="ctr"/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D41E11-1A06-E328-400A-66C7740E458C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526971" y="3532416"/>
            <a:ext cx="1071737" cy="43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065FF9-77B3-304A-46F4-1E0E9B2F5D26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498628" y="3536786"/>
            <a:ext cx="14941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B586A8-9B2B-F65A-F2D6-B0C41102D6F9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5548668" y="4156546"/>
            <a:ext cx="18871" cy="1068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4C53A1-1198-FA2E-F345-8BCDF3093E3E}"/>
              </a:ext>
            </a:extLst>
          </p:cNvPr>
          <p:cNvSpPr txBox="1"/>
          <p:nvPr/>
        </p:nvSpPr>
        <p:spPr>
          <a:xfrm>
            <a:off x="5567539" y="4774753"/>
            <a:ext cx="2381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Feedback: Input-Output data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A847E15-AC22-8256-7877-727D8ACB1FB5}"/>
              </a:ext>
            </a:extLst>
          </p:cNvPr>
          <p:cNvSpPr/>
          <p:nvPr/>
        </p:nvSpPr>
        <p:spPr>
          <a:xfrm>
            <a:off x="1368701" y="2612573"/>
            <a:ext cx="9495241" cy="183968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16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Step 1: Data Collection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9314CF7-88D1-AF80-94E0-39D2B58F56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9460508"/>
              </p:ext>
            </p:extLst>
          </p:nvPr>
        </p:nvGraphicFramePr>
        <p:xfrm>
          <a:off x="649515" y="1121230"/>
          <a:ext cx="10519228" cy="140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Dataset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2" name="Google Shape;175;g276234fa0a8_0_7">
            <a:extLst>
              <a:ext uri="{FF2B5EF4-FFF2-40B4-BE49-F238E27FC236}">
                <a16:creationId xmlns:a16="http://schemas.microsoft.com/office/drawing/2014/main" id="{807D9BB0-ACC8-9875-9DB1-75A04257653B}"/>
              </a:ext>
            </a:extLst>
          </p:cNvPr>
          <p:cNvSpPr txBox="1"/>
          <p:nvPr/>
        </p:nvSpPr>
        <p:spPr>
          <a:xfrm>
            <a:off x="968830" y="1079603"/>
            <a:ext cx="10461172" cy="5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K</a:t>
            </a:r>
            <a:r>
              <a:rPr lang="en-US" sz="2400" dirty="0" err="1">
                <a:solidFill>
                  <a:schemeClr val="tx1"/>
                </a:solidFill>
                <a:latin typeface="Gill Sans" panose="020B0604020202020204" charset="0"/>
              </a:rPr>
              <a:t>aggle</a:t>
            </a:r>
            <a:r>
              <a:rPr lang="en-US" sz="2400" dirty="0">
                <a:solidFill>
                  <a:schemeClr val="tx1"/>
                </a:solidFill>
                <a:latin typeface="Gill Sans" panose="020B0604020202020204" charset="0"/>
              </a:rPr>
              <a:t> dataset with images of 4 different cricket shots (4 classes) is taken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ill Sans" panose="020B0604020202020204" charset="0"/>
              </a:rPr>
              <a:t>Total number of images are 4734</a:t>
            </a:r>
          </a:p>
        </p:txBody>
      </p:sp>
      <p:pic>
        <p:nvPicPr>
          <p:cNvPr id="3" name="Google Shape;214;p3">
            <a:extLst>
              <a:ext uri="{FF2B5EF4-FFF2-40B4-BE49-F238E27FC236}">
                <a16:creationId xmlns:a16="http://schemas.microsoft.com/office/drawing/2014/main" id="{B29B5C1E-9FBF-22EB-D419-288A9494DB5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875" y="2373086"/>
            <a:ext cx="5200650" cy="36734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Google Shape;216;p3">
            <a:extLst>
              <a:ext uri="{FF2B5EF4-FFF2-40B4-BE49-F238E27FC236}">
                <a16:creationId xmlns:a16="http://schemas.microsoft.com/office/drawing/2014/main" id="{E28BC72F-900C-F252-4B8D-ED3FAD4F3C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782920"/>
              </p:ext>
            </p:extLst>
          </p:nvPr>
        </p:nvGraphicFramePr>
        <p:xfrm>
          <a:off x="6679800" y="1970313"/>
          <a:ext cx="4031744" cy="3865810"/>
        </p:xfrm>
        <a:graphic>
          <a:graphicData uri="http://schemas.openxmlformats.org/drawingml/2006/table">
            <a:tbl>
              <a:tblPr>
                <a:noFill/>
                <a:tableStyleId>{59E48A7B-9E87-4D62-B251-134843940CCE}</a:tableStyleId>
              </a:tblPr>
              <a:tblGrid>
                <a:gridCol w="2015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31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Gill Sans" panose="020B0604020202020204" charset="0"/>
                        </a:rPr>
                        <a:t>     </a:t>
                      </a:r>
                      <a:r>
                        <a:rPr lang="en-US" sz="1800" b="1" dirty="0">
                          <a:latin typeface="Gill Sans" panose="020B0604020202020204" charset="0"/>
                        </a:rPr>
                        <a:t>Shots (Class)</a:t>
                      </a:r>
                      <a:endParaRPr sz="1800" b="1" dirty="0">
                        <a:latin typeface="Gill Sans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Gill Sans" panose="020B0604020202020204" charset="0"/>
                        </a:rPr>
                        <a:t>          </a:t>
                      </a:r>
                      <a:r>
                        <a:rPr lang="en-US" sz="1800" b="1" dirty="0">
                          <a:latin typeface="Gill Sans" panose="020B0604020202020204" charset="0"/>
                        </a:rPr>
                        <a:t>Count</a:t>
                      </a:r>
                      <a:endParaRPr sz="1800" b="1" dirty="0">
                        <a:latin typeface="Gill Sans" panose="020B060402020202020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1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Gill Sans" panose="020B0604020202020204" charset="0"/>
                        </a:rPr>
                        <a:t>     </a:t>
                      </a:r>
                      <a:endParaRPr sz="1800" dirty="0">
                        <a:latin typeface="Gill Sans" panose="020B060402020202020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Gill Sans" panose="020B0604020202020204" charset="0"/>
                        </a:rPr>
                        <a:t>     Pull shot</a:t>
                      </a:r>
                      <a:endParaRPr sz="1800" dirty="0">
                        <a:latin typeface="Gill Sans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Gill Sans" panose="020B0604020202020204" charset="0"/>
                        </a:rPr>
                        <a:t> </a:t>
                      </a:r>
                      <a:endParaRPr sz="1800" dirty="0">
                        <a:latin typeface="Gill Sans" panose="020B060402020202020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Gill Sans" panose="020B0604020202020204" charset="0"/>
                        </a:rPr>
                        <a:t>         1260</a:t>
                      </a:r>
                      <a:endParaRPr sz="1800" dirty="0">
                        <a:latin typeface="Gill Sans" panose="020B060402020202020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1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Gill Sans" panose="020B0604020202020204" charset="0"/>
                        </a:rPr>
                        <a:t>       </a:t>
                      </a:r>
                      <a:endParaRPr sz="1800" dirty="0">
                        <a:latin typeface="Gill Sans" panose="020B060402020202020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Gill Sans" panose="020B0604020202020204" charset="0"/>
                        </a:rPr>
                        <a:t>     Drive shot</a:t>
                      </a:r>
                      <a:endParaRPr sz="1800" dirty="0">
                        <a:latin typeface="Gill Sans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Gill Sans" panose="020B060402020202020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Gill Sans" panose="020B0604020202020204" charset="0"/>
                        </a:rPr>
                        <a:t>         1227</a:t>
                      </a:r>
                      <a:endParaRPr sz="1800" dirty="0">
                        <a:latin typeface="Gill Sans" panose="020B060402020202020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1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Gill Sans" panose="020B0604020202020204" charset="0"/>
                        </a:rPr>
                        <a:t>         </a:t>
                      </a:r>
                      <a:endParaRPr sz="1800" dirty="0">
                        <a:latin typeface="Gill Sans" panose="020B060402020202020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Gill Sans" panose="020B0604020202020204" charset="0"/>
                        </a:rPr>
                        <a:t>     Sweep shot</a:t>
                      </a:r>
                      <a:endParaRPr sz="1800" dirty="0">
                        <a:latin typeface="Gill Sans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Gill Sans" panose="020B060402020202020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Gill Sans" panose="020B0604020202020204" charset="0"/>
                        </a:rPr>
                        <a:t>         1126</a:t>
                      </a:r>
                      <a:endParaRPr sz="1800" dirty="0">
                        <a:latin typeface="Gill Sans" panose="020B060402020202020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31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Gill Sans" panose="020B0604020202020204" charset="0"/>
                        </a:rPr>
                        <a:t>         </a:t>
                      </a:r>
                      <a:endParaRPr sz="1800" dirty="0">
                        <a:latin typeface="Gill Sans" panose="020B060402020202020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Gill Sans" panose="020B0604020202020204" charset="0"/>
                        </a:rPr>
                        <a:t>     Flick shot</a:t>
                      </a:r>
                      <a:endParaRPr sz="1800" dirty="0">
                        <a:latin typeface="Gill Sans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Gill Sans" panose="020B060402020202020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Gill Sans" panose="020B0604020202020204" charset="0"/>
                        </a:rPr>
                        <a:t>         1121</a:t>
                      </a:r>
                      <a:endParaRPr sz="1800" dirty="0">
                        <a:latin typeface="Gill Sans" panose="020B060402020202020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72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Sample Images from Dataset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pic>
        <p:nvPicPr>
          <p:cNvPr id="6" name="Google Shape;205;p5">
            <a:extLst>
              <a:ext uri="{FF2B5EF4-FFF2-40B4-BE49-F238E27FC236}">
                <a16:creationId xmlns:a16="http://schemas.microsoft.com/office/drawing/2014/main" id="{59892641-60DD-830B-EC93-84BC8D44044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7850" y="899398"/>
            <a:ext cx="4067500" cy="278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06;p5">
            <a:extLst>
              <a:ext uri="{FF2B5EF4-FFF2-40B4-BE49-F238E27FC236}">
                <a16:creationId xmlns:a16="http://schemas.microsoft.com/office/drawing/2014/main" id="{42E97731-A8A4-8710-BEBB-F8F27330F4F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3725" y="899400"/>
            <a:ext cx="3653125" cy="278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07;p5">
            <a:extLst>
              <a:ext uri="{FF2B5EF4-FFF2-40B4-BE49-F238E27FC236}">
                <a16:creationId xmlns:a16="http://schemas.microsoft.com/office/drawing/2014/main" id="{3E66B3A7-691F-9CD2-5AAE-D4A8DAE631B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2450" y="3680837"/>
            <a:ext cx="4067500" cy="290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08;p5">
            <a:extLst>
              <a:ext uri="{FF2B5EF4-FFF2-40B4-BE49-F238E27FC236}">
                <a16:creationId xmlns:a16="http://schemas.microsoft.com/office/drawing/2014/main" id="{64E5F8BD-A82D-7E76-1673-7C8A9082F884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64600" y="3689225"/>
            <a:ext cx="3771375" cy="261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3732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Step 2: Data Preparation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84AD6F5-93E8-D68A-0561-DEAB098CFE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1542382"/>
              </p:ext>
            </p:extLst>
          </p:nvPr>
        </p:nvGraphicFramePr>
        <p:xfrm>
          <a:off x="649515" y="1121230"/>
          <a:ext cx="10519228" cy="3026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22983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Data Processing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2" name="Google Shape;175;g276234fa0a8_0_7">
            <a:extLst>
              <a:ext uri="{FF2B5EF4-FFF2-40B4-BE49-F238E27FC236}">
                <a16:creationId xmlns:a16="http://schemas.microsoft.com/office/drawing/2014/main" id="{807D9BB0-ACC8-9875-9DB1-75A04257653B}"/>
              </a:ext>
            </a:extLst>
          </p:cNvPr>
          <p:cNvSpPr txBox="1"/>
          <p:nvPr/>
        </p:nvSpPr>
        <p:spPr>
          <a:xfrm>
            <a:off x="968830" y="1079603"/>
            <a:ext cx="10461172" cy="5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2600" dirty="0">
                <a:latin typeface="Gill Sans" panose="020B0604020202020204" charset="0"/>
                <a:sym typeface="Arial"/>
              </a:rPr>
              <a:t>Split the dataset in the ratio of 80:20 for training and testing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2600" dirty="0">
                <a:latin typeface="Gill Sans" panose="020B0604020202020204" charset="0"/>
                <a:sym typeface="Arial"/>
              </a:rPr>
              <a:t>Training set contains 3786 images.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2600" dirty="0">
                <a:latin typeface="Gill Sans" panose="020B0604020202020204" charset="0"/>
                <a:sym typeface="Arial"/>
              </a:rPr>
              <a:t>Test set contain 946 images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Stratification</a:t>
            </a:r>
            <a:r>
              <a:rPr lang="en-US" sz="2600" dirty="0">
                <a:latin typeface="Gill Sans" panose="020B0604020202020204" charset="0"/>
              </a:rPr>
              <a:t>: Ensure proportions of each class of samples remain the same in train and test set </a:t>
            </a:r>
            <a:endParaRPr lang="en-US" sz="2600" dirty="0">
              <a:latin typeface="Gill Sans" panose="020B0604020202020204" charset="0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endParaRPr lang="en-US" sz="2600" dirty="0">
              <a:latin typeface="Gill Sans" panose="020B0604020202020204" charset="0"/>
            </a:endParaRP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</a:pPr>
            <a:r>
              <a:rPr lang="en-US" sz="2800" dirty="0">
                <a:solidFill>
                  <a:srgbClr val="0070C0"/>
                </a:solidFill>
                <a:latin typeface="Gill Sans" panose="020B0604020202020204" charset="0"/>
              </a:rPr>
              <a:t>Issue with Training Set:</a:t>
            </a:r>
            <a:endParaRPr lang="en-US" sz="2600" dirty="0">
              <a:solidFill>
                <a:srgbClr val="0070C0"/>
              </a:solidFill>
              <a:latin typeface="Gill Sans" panose="020B0604020202020204" charset="0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2600" dirty="0">
                <a:latin typeface="Gill Sans" panose="020B0604020202020204" charset="0"/>
                <a:sym typeface="Arial"/>
              </a:rPr>
              <a:t>Size of training set not sufficient for training a good classifier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2600" dirty="0">
                <a:latin typeface="Gill Sans" panose="020B0604020202020204" charset="0"/>
              </a:rPr>
              <a:t>Hence data augmentation of the training set is performed</a:t>
            </a:r>
          </a:p>
          <a:p>
            <a:pPr marL="342900" indent="-342900"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2600" dirty="0">
                <a:latin typeface="Gill Sans" panose="020B0604020202020204" charset="0"/>
              </a:rPr>
              <a:t>In data augmentation, new samples are added by transforming the existing samples in different ways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endParaRPr lang="en-US" sz="2600" dirty="0">
              <a:latin typeface="Gill Sans" panose="020B0604020202020204" charset="0"/>
              <a:sym typeface="Arial"/>
            </a:endParaRPr>
          </a:p>
          <a:p>
            <a:pPr marL="102870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600" dirty="0"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38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190620" y="248606"/>
            <a:ext cx="9810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Data Augmentation Approaches Used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" name="Google Shape;262;g23135507d24_2_10">
            <a:extLst>
              <a:ext uri="{FF2B5EF4-FFF2-40B4-BE49-F238E27FC236}">
                <a16:creationId xmlns:a16="http://schemas.microsoft.com/office/drawing/2014/main" id="{8B20BC53-83E5-9C90-E500-065C43F6B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134275"/>
            <a:ext cx="10820400" cy="518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978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Horizontal flipped: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 Mirrored horizontally.</a:t>
            </a:r>
          </a:p>
          <a:p>
            <a:pPr marL="457200" lvl="0" indent="-355978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Vertical flipped: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 Mirrored vertically</a:t>
            </a:r>
          </a:p>
          <a:p>
            <a:pPr marL="457200" lvl="0" indent="-355978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Rotation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: Rotate image by a certain angle</a:t>
            </a:r>
          </a:p>
          <a:p>
            <a:pPr marL="457200" lvl="0" indent="-355978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Cropped Image: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 From all the four sizes, we remove 200 pixels.</a:t>
            </a:r>
          </a:p>
          <a:p>
            <a:pPr marL="457200" lvl="0" indent="-355978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Brightened Image: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 For every pixels we increase the value by 5 percentage.</a:t>
            </a:r>
          </a:p>
          <a:p>
            <a:pPr marL="457200" lvl="0" indent="-355978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Darkened Image: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 For every pixels we decrease the value by 5 percentage.</a:t>
            </a:r>
          </a:p>
          <a:p>
            <a:pPr marL="457200" lvl="0" indent="-355978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Resize: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 Change the resolution or size of the image</a:t>
            </a:r>
          </a:p>
          <a:p>
            <a:pPr marL="457200" lvl="0" indent="-355978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Noise: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 For each image, we generate a random number between -10 and 10, and then change the pixel values by that percentage.</a:t>
            </a:r>
            <a:endParaRPr sz="26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92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066801" y="135407"/>
            <a:ext cx="86813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Augmentation on a Sample Image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pic>
        <p:nvPicPr>
          <p:cNvPr id="3" name="Google Shape;250;g258dc61268e_0_18">
            <a:extLst>
              <a:ext uri="{FF2B5EF4-FFF2-40B4-BE49-F238E27FC236}">
                <a16:creationId xmlns:a16="http://schemas.microsoft.com/office/drawing/2014/main" id="{0503F2AC-020E-2DB0-4813-7EDA295167D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00" y="950750"/>
            <a:ext cx="4357250" cy="248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1;g258dc61268e_0_18">
            <a:extLst>
              <a:ext uri="{FF2B5EF4-FFF2-40B4-BE49-F238E27FC236}">
                <a16:creationId xmlns:a16="http://schemas.microsoft.com/office/drawing/2014/main" id="{93D7837E-19E2-156C-6454-2E62CE49097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7000" y="898800"/>
            <a:ext cx="3874500" cy="259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52;g258dc61268e_0_18">
            <a:extLst>
              <a:ext uri="{FF2B5EF4-FFF2-40B4-BE49-F238E27FC236}">
                <a16:creationId xmlns:a16="http://schemas.microsoft.com/office/drawing/2014/main" id="{576005CC-027C-A334-9B88-6EE94FE92F2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650" y="3595250"/>
            <a:ext cx="4505351" cy="306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53;g258dc61268e_0_18">
            <a:extLst>
              <a:ext uri="{FF2B5EF4-FFF2-40B4-BE49-F238E27FC236}">
                <a16:creationId xmlns:a16="http://schemas.microsoft.com/office/drawing/2014/main" id="{5E555BC4-53AC-562B-C527-B3BE664ED0D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62950" y="3543300"/>
            <a:ext cx="3780924" cy="306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54;g258dc61268e_0_18">
            <a:extLst>
              <a:ext uri="{FF2B5EF4-FFF2-40B4-BE49-F238E27FC236}">
                <a16:creationId xmlns:a16="http://schemas.microsoft.com/office/drawing/2014/main" id="{667657A4-EBC9-0585-B4BC-4C56E192BBBB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07975" y="898800"/>
            <a:ext cx="3231625" cy="259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55;g258dc61268e_0_18">
            <a:extLst>
              <a:ext uri="{FF2B5EF4-FFF2-40B4-BE49-F238E27FC236}">
                <a16:creationId xmlns:a16="http://schemas.microsoft.com/office/drawing/2014/main" id="{52C2BDA2-CC3B-84F8-20FE-A880E744EED4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07975" y="3643750"/>
            <a:ext cx="3231625" cy="2860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9688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Step 3: Build Classifier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85498FD-6864-F496-2060-0E71ACC7E4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1284300"/>
              </p:ext>
            </p:extLst>
          </p:nvPr>
        </p:nvGraphicFramePr>
        <p:xfrm>
          <a:off x="649515" y="1121230"/>
          <a:ext cx="10519228" cy="440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60007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Convolution Neural Network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44E0BC-BD75-84E6-A164-6528EC9A79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961"/>
          <a:stretch/>
        </p:blipFill>
        <p:spPr>
          <a:xfrm>
            <a:off x="1069777" y="1387005"/>
            <a:ext cx="9384863" cy="34956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1A23DE-A504-B9F0-9C07-6255CC6BECB6}"/>
              </a:ext>
            </a:extLst>
          </p:cNvPr>
          <p:cNvSpPr txBox="1"/>
          <p:nvPr/>
        </p:nvSpPr>
        <p:spPr>
          <a:xfrm>
            <a:off x="205198" y="4813137"/>
            <a:ext cx="3025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layer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5E513-AE89-6B41-7576-504FECA34E22}"/>
              </a:ext>
            </a:extLst>
          </p:cNvPr>
          <p:cNvSpPr txBox="1"/>
          <p:nvPr/>
        </p:nvSpPr>
        <p:spPr>
          <a:xfrm>
            <a:off x="2457269" y="4158677"/>
            <a:ext cx="2171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Convolution Layer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7960AD-5D5E-AB4D-700C-996A0C02F885}"/>
              </a:ext>
            </a:extLst>
          </p:cNvPr>
          <p:cNvSpPr txBox="1"/>
          <p:nvPr/>
        </p:nvSpPr>
        <p:spPr>
          <a:xfrm>
            <a:off x="3763797" y="4165721"/>
            <a:ext cx="3025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Pooling</a:t>
            </a:r>
          </a:p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02575A-4B20-82EA-8540-FDD55AB38C6B}"/>
              </a:ext>
            </a:extLst>
          </p:cNvPr>
          <p:cNvSpPr txBox="1"/>
          <p:nvPr/>
        </p:nvSpPr>
        <p:spPr>
          <a:xfrm>
            <a:off x="6054755" y="4112511"/>
            <a:ext cx="14695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</a:p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8339A-065B-0B43-31AD-90256FB03E97}"/>
              </a:ext>
            </a:extLst>
          </p:cNvPr>
          <p:cNvSpPr txBox="1"/>
          <p:nvPr/>
        </p:nvSpPr>
        <p:spPr>
          <a:xfrm>
            <a:off x="7596172" y="4125407"/>
            <a:ext cx="1109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Pooling</a:t>
            </a:r>
          </a:p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764DC-D776-B6B5-3408-65CB361B35C1}"/>
              </a:ext>
            </a:extLst>
          </p:cNvPr>
          <p:cNvSpPr txBox="1"/>
          <p:nvPr/>
        </p:nvSpPr>
        <p:spPr>
          <a:xfrm>
            <a:off x="9613756" y="4266398"/>
            <a:ext cx="1373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Flattening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F8120-FE3D-C894-3A70-81F3EE00373F}"/>
              </a:ext>
            </a:extLst>
          </p:cNvPr>
          <p:cNvSpPr txBox="1"/>
          <p:nvPr/>
        </p:nvSpPr>
        <p:spPr>
          <a:xfrm>
            <a:off x="1251858" y="5467597"/>
            <a:ext cx="94115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Gill Sans" panose="020B0604020202020204" charset="0"/>
              </a:rPr>
              <a:t>Relevant features can be extracted from an image using a CNN</a:t>
            </a:r>
            <a:endParaRPr lang="en-US" sz="2800" dirty="0"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60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205198" y="301658"/>
            <a:ext cx="9748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Power of CNNs: Image Net Challenge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14" name="Google Shape;467;p24">
            <a:extLst>
              <a:ext uri="{FF2B5EF4-FFF2-40B4-BE49-F238E27FC236}">
                <a16:creationId xmlns:a16="http://schemas.microsoft.com/office/drawing/2014/main" id="{0278EAD6-9915-85FB-569C-8715A9BC06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0229" y="1208314"/>
            <a:ext cx="10515600" cy="4811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2"/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Image classification task with 1000 classes</a:t>
            </a:r>
            <a:endParaRPr sz="26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72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Training data of 1.2 million images</a:t>
            </a:r>
          </a:p>
          <a:p>
            <a:pPr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72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Humans had an error rate of around 5%</a:t>
            </a:r>
            <a:endParaRPr sz="26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pic>
        <p:nvPicPr>
          <p:cNvPr id="15" name="Google Shape;474;p25" descr="Image result for imagenet challenge">
            <a:extLst>
              <a:ext uri="{FF2B5EF4-FFF2-40B4-BE49-F238E27FC236}">
                <a16:creationId xmlns:a16="http://schemas.microsoft.com/office/drawing/2014/main" id="{2A2B6B8E-74E4-E562-7509-BECB0D4669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0954" y="2971799"/>
            <a:ext cx="8524875" cy="34616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3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800" dirty="0">
                <a:solidFill>
                  <a:srgbClr val="002060"/>
                </a:solidFill>
                <a:latin typeface="Gill Sans" panose="020B0604020202020204" charset="0"/>
              </a:rPr>
              <a:t>Training a CNN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816431" y="1600200"/>
            <a:ext cx="6607628" cy="4460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Training a CNN involves learning the convolution filter weights</a:t>
            </a:r>
          </a:p>
          <a:p>
            <a:pPr marL="4191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Referred to as parameters of a CNN</a:t>
            </a:r>
          </a:p>
          <a:p>
            <a:pPr marL="4191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Number of parameters in a CNN depends on filter size and number of filters</a:t>
            </a:r>
          </a:p>
          <a:p>
            <a:pPr marL="4191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endParaRPr lang="en-IN" sz="26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4191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rgbClr val="0070C0"/>
                </a:solidFill>
                <a:latin typeface="Gill Sans" panose="020B0604020202020204" charset="0"/>
              </a:rPr>
              <a:t>Issue:</a:t>
            </a:r>
          </a:p>
          <a:p>
            <a:pPr marL="762000" lvl="1"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CNNs require lot of data for training</a:t>
            </a:r>
          </a:p>
          <a:p>
            <a:pPr marL="800100" lvl="1">
              <a:lnSpc>
                <a:spcPct val="100000"/>
              </a:lnSpc>
              <a:buSzPts val="140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CNNs are computationally expensive to train</a:t>
            </a:r>
          </a:p>
          <a:p>
            <a:pPr marL="800100" lvl="1">
              <a:lnSpc>
                <a:spcPct val="100000"/>
              </a:lnSpc>
              <a:buSzPts val="140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Not everyone can afford multiple GPUs</a:t>
            </a:r>
          </a:p>
          <a:p>
            <a:pPr marL="457200" lvl="1" indent="0">
              <a:lnSpc>
                <a:spcPct val="100000"/>
              </a:lnSpc>
              <a:buSzPts val="1400"/>
              <a:buNone/>
            </a:pPr>
            <a:endParaRPr lang="en-IN" sz="24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800100" lvl="1">
              <a:lnSpc>
                <a:spcPct val="100000"/>
              </a:lnSpc>
              <a:buSzPts val="1400"/>
              <a:buFont typeface="Wingdings" panose="05000000000000000000" pitchFamily="2" charset="2"/>
              <a:buChar char="Ø"/>
            </a:pPr>
            <a:endParaRPr lang="en-IN" sz="22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AACBD3-ADAC-9036-8CBE-427DFDFD0BE2}"/>
              </a:ext>
            </a:extLst>
          </p:cNvPr>
          <p:cNvGrpSpPr/>
          <p:nvPr/>
        </p:nvGrpSpPr>
        <p:grpSpPr>
          <a:xfrm>
            <a:off x="7793690" y="1547138"/>
            <a:ext cx="1706816" cy="1325563"/>
            <a:chOff x="9698690" y="2092720"/>
            <a:chExt cx="1706816" cy="132556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5E14ACD-FB46-B15D-FF45-1F104140915A}"/>
                </a:ext>
              </a:extLst>
            </p:cNvPr>
            <p:cNvSpPr/>
            <p:nvPr/>
          </p:nvSpPr>
          <p:spPr>
            <a:xfrm>
              <a:off x="9698690" y="2092720"/>
              <a:ext cx="1706816" cy="13255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F3B1D6E-2ECA-5831-5180-1E06EAEC4A4A}"/>
                    </a:ext>
                  </a:extLst>
                </p:cNvPr>
                <p:cNvSpPr txBox="1"/>
                <p:nvPr/>
              </p:nvSpPr>
              <p:spPr>
                <a:xfrm>
                  <a:off x="9875584" y="2357238"/>
                  <a:ext cx="1476302" cy="7203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AB8C57-5050-49CC-84A8-68B24F5FC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5584" y="2357238"/>
                  <a:ext cx="1476302" cy="72039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7A0864C-3EE4-B2F0-54D1-9A3A8542080C}"/>
              </a:ext>
            </a:extLst>
          </p:cNvPr>
          <p:cNvSpPr txBox="1"/>
          <p:nvPr/>
        </p:nvSpPr>
        <p:spPr>
          <a:xfrm>
            <a:off x="9574891" y="1811656"/>
            <a:ext cx="17027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</a:p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267;p10">
            <a:extLst>
              <a:ext uri="{FF2B5EF4-FFF2-40B4-BE49-F238E27FC236}">
                <a16:creationId xmlns:a16="http://schemas.microsoft.com/office/drawing/2014/main" id="{B70DD28C-E3FB-507F-63A4-31257D4A5E45}"/>
              </a:ext>
            </a:extLst>
          </p:cNvPr>
          <p:cNvSpPr txBox="1">
            <a:spLocks/>
          </p:cNvSpPr>
          <p:nvPr/>
        </p:nvSpPr>
        <p:spPr>
          <a:xfrm>
            <a:off x="7282543" y="3303655"/>
            <a:ext cx="4909457" cy="3021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86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12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1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 err="1"/>
              <a:t>AlexNet</a:t>
            </a:r>
            <a:r>
              <a:rPr lang="en-IN" sz="2400" dirty="0"/>
              <a:t> – 62 mil params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 err="1"/>
              <a:t>VGGNet</a:t>
            </a:r>
            <a:r>
              <a:rPr lang="en-IN" sz="2400" dirty="0"/>
              <a:t> – 138 mil params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 err="1"/>
              <a:t>GoogleNet</a:t>
            </a:r>
            <a:r>
              <a:rPr lang="en-IN" sz="2400" dirty="0"/>
              <a:t> – 4 mil params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/>
              <a:t>ResNet18 – 11 mil params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/>
              <a:t>ResNet50 – 23 mil params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/>
              <a:t>Inception v3 - 25 million params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 err="1"/>
              <a:t>Xception</a:t>
            </a:r>
            <a:r>
              <a:rPr lang="en-IN" sz="2400" dirty="0"/>
              <a:t> – 22.8 million params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/>
              <a:t>ResNET152 – 60 mil params</a:t>
            </a:r>
          </a:p>
        </p:txBody>
      </p:sp>
    </p:spTree>
    <p:extLst>
      <p:ext uri="{BB962C8B-B14F-4D97-AF65-F5344CB8AC3E}">
        <p14:creationId xmlns:p14="http://schemas.microsoft.com/office/powerpoint/2010/main" val="1640411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800" dirty="0">
                <a:solidFill>
                  <a:srgbClr val="002060"/>
                </a:solidFill>
                <a:latin typeface="Gill Sans" panose="020B0604020202020204" charset="0"/>
              </a:rPr>
              <a:t>Training a CNN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555174" y="1416550"/>
            <a:ext cx="6150426" cy="4460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rgbClr val="0070C0"/>
                </a:solidFill>
                <a:latin typeface="Gill Sans" panose="020B0604020202020204" charset="0"/>
              </a:rPr>
              <a:t>Issue:</a:t>
            </a:r>
          </a:p>
          <a:p>
            <a:pPr marL="762000" lvl="1"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CNNs require lot of data for training</a:t>
            </a:r>
          </a:p>
          <a:p>
            <a:pPr marL="800100" lvl="1">
              <a:lnSpc>
                <a:spcPct val="100000"/>
              </a:lnSpc>
              <a:buSzPts val="140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CNNs are computationally expensive to train</a:t>
            </a:r>
          </a:p>
          <a:p>
            <a:pPr marL="800100" lvl="1">
              <a:lnSpc>
                <a:spcPct val="100000"/>
              </a:lnSpc>
              <a:buSzPts val="140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Not everyone can afford multiple GPUs</a:t>
            </a:r>
          </a:p>
          <a:p>
            <a:pPr marL="342900">
              <a:lnSpc>
                <a:spcPct val="100000"/>
              </a:lnSpc>
              <a:buSzPts val="1400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rgbClr val="0070C0"/>
                </a:solidFill>
                <a:latin typeface="Gill Sans" panose="020B0604020202020204" charset="0"/>
              </a:rPr>
              <a:t>Question: </a:t>
            </a: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How to overcome this challenge?</a:t>
            </a:r>
          </a:p>
          <a:p>
            <a:pPr marL="342900">
              <a:lnSpc>
                <a:spcPct val="100000"/>
              </a:lnSpc>
              <a:buSzPts val="1400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Can we re-use already trained CNN models and customise them to our task?</a:t>
            </a:r>
          </a:p>
          <a:p>
            <a:pPr marL="34290" indent="0">
              <a:lnSpc>
                <a:spcPct val="100000"/>
              </a:lnSpc>
              <a:buSzPts val="1400"/>
              <a:buNone/>
            </a:pPr>
            <a:endParaRPr lang="en-IN" sz="26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457200" lvl="1" indent="0">
              <a:lnSpc>
                <a:spcPct val="100000"/>
              </a:lnSpc>
              <a:buSzPts val="1400"/>
              <a:buNone/>
            </a:pPr>
            <a:endParaRPr lang="en-IN" sz="24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800100" lvl="1">
              <a:lnSpc>
                <a:spcPct val="100000"/>
              </a:lnSpc>
              <a:buSzPts val="1400"/>
              <a:buFont typeface="Wingdings" panose="05000000000000000000" pitchFamily="2" charset="2"/>
              <a:buChar char="Ø"/>
            </a:pPr>
            <a:endParaRPr lang="en-IN" sz="22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sp>
        <p:nvSpPr>
          <p:cNvPr id="6" name="Google Shape;267;p10">
            <a:extLst>
              <a:ext uri="{FF2B5EF4-FFF2-40B4-BE49-F238E27FC236}">
                <a16:creationId xmlns:a16="http://schemas.microsoft.com/office/drawing/2014/main" id="{B70DD28C-E3FB-507F-63A4-31257D4A5E45}"/>
              </a:ext>
            </a:extLst>
          </p:cNvPr>
          <p:cNvSpPr txBox="1">
            <a:spLocks/>
          </p:cNvSpPr>
          <p:nvPr/>
        </p:nvSpPr>
        <p:spPr>
          <a:xfrm>
            <a:off x="6890657" y="1210662"/>
            <a:ext cx="4909457" cy="3021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86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12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1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 err="1"/>
              <a:t>AlexNet</a:t>
            </a:r>
            <a:r>
              <a:rPr lang="en-IN" sz="2400" dirty="0"/>
              <a:t> – 62 mil params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 err="1"/>
              <a:t>VGGNet</a:t>
            </a:r>
            <a:r>
              <a:rPr lang="en-IN" sz="2400" dirty="0"/>
              <a:t> – 138 mil params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 err="1"/>
              <a:t>GoogleNet</a:t>
            </a:r>
            <a:r>
              <a:rPr lang="en-IN" sz="2400" dirty="0"/>
              <a:t> – 4 mil params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/>
              <a:t>ResNet18 – 11 mil params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/>
              <a:t>ResNet50 – 23 mil params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/>
              <a:t>Inception v3 - 25 million params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 err="1"/>
              <a:t>Xception</a:t>
            </a:r>
            <a:r>
              <a:rPr lang="en-IN" sz="2400" dirty="0"/>
              <a:t> – 22.8 million params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400" dirty="0"/>
              <a:t>ResNET152 – 60 mil params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7423B5-FCC5-D951-E11A-9C84D274E158}"/>
              </a:ext>
            </a:extLst>
          </p:cNvPr>
          <p:cNvSpPr/>
          <p:nvPr/>
        </p:nvSpPr>
        <p:spPr>
          <a:xfrm>
            <a:off x="7217232" y="4582096"/>
            <a:ext cx="3559628" cy="16951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Gill Sans" panose="020B0604020202020204" charset="0"/>
              </a:rPr>
              <a:t>Yes! Transfer learning to the rescue. </a:t>
            </a:r>
            <a:endParaRPr lang="en-US" sz="2800" dirty="0"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619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1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800" dirty="0">
                <a:solidFill>
                  <a:srgbClr val="002060"/>
                </a:solidFill>
                <a:latin typeface="Gill Sans" panose="020B0604020202020204" charset="0"/>
              </a:rPr>
              <a:t>Transfer Learning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526" name="Google Shape;526;p31"/>
          <p:cNvSpPr txBox="1">
            <a:spLocks noGrp="1"/>
          </p:cNvSpPr>
          <p:nvPr>
            <p:ph type="body" idx="1"/>
          </p:nvPr>
        </p:nvSpPr>
        <p:spPr>
          <a:xfrm>
            <a:off x="424542" y="1449207"/>
            <a:ext cx="5823858" cy="4446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115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CNNs are basically </a:t>
            </a:r>
            <a:r>
              <a:rPr lang="en-US" sz="2600" b="1" dirty="0">
                <a:solidFill>
                  <a:schemeClr val="tx1"/>
                </a:solidFill>
                <a:latin typeface="Gill Sans" panose="020B0604020202020204" charset="0"/>
              </a:rPr>
              <a:t>feature-extractors</a:t>
            </a:r>
          </a:p>
          <a:p>
            <a:pPr marL="31115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Trained models have many layers capable to </a:t>
            </a: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extract relevant features from any image</a:t>
            </a:r>
          </a:p>
          <a:p>
            <a:pPr marL="31115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So there is no need to learn models from scratch</a:t>
            </a:r>
          </a:p>
          <a:p>
            <a:pPr marL="31115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ourier New" panose="02070309020205020404" pitchFamily="49" charset="0"/>
              <a:buChar char="o"/>
            </a:pPr>
            <a:r>
              <a:rPr lang="en-US" sz="2600" b="1" dirty="0">
                <a:solidFill>
                  <a:schemeClr val="tx1"/>
                </a:solidFill>
                <a:latin typeface="Gill Sans" panose="020B0604020202020204" charset="0"/>
              </a:rPr>
              <a:t>Transfer learning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 </a:t>
            </a: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involves re-using a trained model </a:t>
            </a:r>
          </a:p>
          <a:p>
            <a:pPr marL="31115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Model is then tuned to the task at hand</a:t>
            </a:r>
          </a:p>
        </p:txBody>
      </p:sp>
      <p:pic>
        <p:nvPicPr>
          <p:cNvPr id="527" name="Google Shape;527;p31" descr="Image result for transfer learning CN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8400" y="1915886"/>
            <a:ext cx="5823858" cy="37664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4397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951134" y="205064"/>
            <a:ext cx="9810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Approaches to Building Classifier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" name="Google Shape;262;g23135507d24_2_10">
            <a:extLst>
              <a:ext uri="{FF2B5EF4-FFF2-40B4-BE49-F238E27FC236}">
                <a16:creationId xmlns:a16="http://schemas.microsoft.com/office/drawing/2014/main" id="{8B20BC53-83E5-9C90-E500-065C43F6B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134275"/>
            <a:ext cx="10820400" cy="518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SzPts val="3100"/>
              <a:buFont typeface="Gill Sans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Develop a Convolutional Neural Network (CNN) based classifier from scratch</a:t>
            </a:r>
          </a:p>
          <a:p>
            <a:pPr lvl="1" indent="-425450">
              <a:spcBef>
                <a:spcPts val="0"/>
              </a:spcBef>
              <a:buSzPts val="3100"/>
            </a:pPr>
            <a:r>
              <a:rPr lang="en-US" sz="2400" dirty="0">
                <a:solidFill>
                  <a:schemeClr val="tx1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Requires lot of data and computation power to train CNN models from scratch</a:t>
            </a:r>
            <a:endParaRPr lang="en-US" sz="2600" dirty="0">
              <a:solidFill>
                <a:schemeClr val="tx1"/>
              </a:solidFill>
              <a:latin typeface="Gill Sans" panose="020B0604020202020204" charset="0"/>
              <a:ea typeface="Gill Sans"/>
              <a:cs typeface="Gill Sans"/>
              <a:sym typeface="Gill Sans"/>
            </a:endParaRPr>
          </a:p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SzPts val="3100"/>
              <a:buFont typeface="Gill Sans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Leverage pre-trained CNN models, such as Inception v3, ResNet-50, </a:t>
            </a:r>
            <a:r>
              <a:rPr lang="en-US" sz="2600" dirty="0" err="1">
                <a:solidFill>
                  <a:schemeClr val="tx1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Xception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, etc. to build a classifier</a:t>
            </a:r>
          </a:p>
          <a:p>
            <a:pPr lvl="1" indent="-425450">
              <a:spcBef>
                <a:spcPts val="0"/>
              </a:spcBef>
              <a:buSzPts val="3100"/>
            </a:pPr>
            <a:r>
              <a:rPr lang="en-US" sz="2400" dirty="0">
                <a:solidFill>
                  <a:schemeClr val="tx1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Most suitable because of the possibility of transferring the past learnings of the models </a:t>
            </a:r>
          </a:p>
        </p:txBody>
      </p:sp>
    </p:spTree>
    <p:extLst>
      <p:ext uri="{BB962C8B-B14F-4D97-AF65-F5344CB8AC3E}">
        <p14:creationId xmlns:p14="http://schemas.microsoft.com/office/powerpoint/2010/main" val="389982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e4c91af68a_1_25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Approach Used to Building Classifier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49" name="Google Shape;349;g1e4c91af68a_1_25"/>
          <p:cNvSpPr txBox="1">
            <a:spLocks noGrp="1"/>
          </p:cNvSpPr>
          <p:nvPr>
            <p:ph type="body" idx="1"/>
          </p:nvPr>
        </p:nvSpPr>
        <p:spPr>
          <a:xfrm>
            <a:off x="838200" y="1416675"/>
            <a:ext cx="10515600" cy="47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Gill Sans" panose="020B0604020202020204" charset="0"/>
              </a:rPr>
              <a:t>Following pre-trained models were considered:</a:t>
            </a:r>
          </a:p>
          <a:p>
            <a:pPr lvl="1"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Gill Sans" panose="020B0604020202020204" charset="0"/>
              </a:rPr>
              <a:t>Inception V3.</a:t>
            </a:r>
          </a:p>
          <a:p>
            <a:pPr lvl="1"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Gill Sans" panose="020B0604020202020204" charset="0"/>
              </a:rPr>
              <a:t>Xception</a:t>
            </a:r>
            <a:endParaRPr lang="en-US" sz="24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457200" lvl="1" indent="0">
              <a:lnSpc>
                <a:spcPct val="80000"/>
              </a:lnSpc>
              <a:buNone/>
            </a:pPr>
            <a:endParaRPr lang="en-US" sz="24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Gill Sans" panose="020B0604020202020204" charset="0"/>
              </a:rPr>
              <a:t>Transfer learning is performed on each of the models </a:t>
            </a:r>
          </a:p>
          <a:p>
            <a:pPr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Gill Sans" panose="020B0604020202020204" charset="0"/>
              </a:rPr>
              <a:t>Some of the layers of the pre-trained models were tuned using the augmented training set of images</a:t>
            </a:r>
          </a:p>
        </p:txBody>
      </p:sp>
    </p:spTree>
    <p:extLst>
      <p:ext uri="{BB962C8B-B14F-4D97-AF65-F5344CB8AC3E}">
        <p14:creationId xmlns:p14="http://schemas.microsoft.com/office/powerpoint/2010/main" val="1237117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Step 4: Test Classifier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132A350-D924-7420-F3AF-D5907E4070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2875656"/>
              </p:ext>
            </p:extLst>
          </p:nvPr>
        </p:nvGraphicFramePr>
        <p:xfrm>
          <a:off x="649515" y="1121230"/>
          <a:ext cx="10519228" cy="5621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8618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2857188-87C7-4B13-A9A0-6B4FC476C6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A2857188-87C7-4B13-A9A0-6B4FC476C6B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091D8E4-0696-4FA0-B591-806E15E2CA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graphicEl>
                                              <a:dgm id="{E091D8E4-0696-4FA0-B591-806E15E2CA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54B0165-B1F8-4114-9A68-6D50E0844D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graphicEl>
                                              <a:dgm id="{454B0165-B1F8-4114-9A68-6D50E0844D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9112E16-E603-4827-B531-8F3DF793E5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graphicEl>
                                              <a:dgm id="{59112E16-E603-4827-B531-8F3DF793E5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AC569D5-D34C-476D-9FCE-DC406E3764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graphicEl>
                                              <a:dgm id="{9AC569D5-D34C-476D-9FCE-DC406E3764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0B1F3FD-4A7B-4EB9-ABDB-620B0659A2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graphicEl>
                                              <a:dgm id="{E0B1F3FD-4A7B-4EB9-ABDB-620B0659A2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7BE4FA9-3A8B-41B5-99FB-79C09630D2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graphicEl>
                                              <a:dgm id="{77BE4FA9-3A8B-41B5-99FB-79C09630D2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2CF5441-CAE3-4F01-9D6B-6A83BC70BF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graphicEl>
                                              <a:dgm id="{B2CF5441-CAE3-4F01-9D6B-6A83BC70BF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7431128cdc_0_643"/>
          <p:cNvSpPr txBox="1">
            <a:spLocks noGrp="1"/>
          </p:cNvSpPr>
          <p:nvPr>
            <p:ph type="title"/>
          </p:nvPr>
        </p:nvSpPr>
        <p:spPr>
          <a:xfrm>
            <a:off x="261250" y="90978"/>
            <a:ext cx="10515600" cy="97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800" dirty="0">
                <a:solidFill>
                  <a:srgbClr val="002060"/>
                </a:solidFill>
                <a:latin typeface="Gill Sans" panose="020B0604020202020204" charset="0"/>
              </a:rPr>
              <a:t>      Confusion matrix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288" name="Google Shape;288;g27431128cdc_0_643"/>
          <p:cNvSpPr txBox="1">
            <a:spLocks noGrp="1"/>
          </p:cNvSpPr>
          <p:nvPr>
            <p:ph type="body" idx="1"/>
          </p:nvPr>
        </p:nvSpPr>
        <p:spPr>
          <a:xfrm>
            <a:off x="838200" y="1187326"/>
            <a:ext cx="10515600" cy="130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A table or a matrix with different combinations of predicted and actual values for different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U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sed to track the number of correctly and wrongly predicted samples by the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sz="26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graphicFrame>
        <p:nvGraphicFramePr>
          <p:cNvPr id="289" name="Google Shape;289;g27431128cdc_0_643"/>
          <p:cNvGraphicFramePr/>
          <p:nvPr>
            <p:extLst>
              <p:ext uri="{D42A27DB-BD31-4B8C-83A1-F6EECF244321}">
                <p14:modId xmlns:p14="http://schemas.microsoft.com/office/powerpoint/2010/main" val="3532432147"/>
              </p:ext>
            </p:extLst>
          </p:nvPr>
        </p:nvGraphicFramePr>
        <p:xfrm>
          <a:off x="1480457" y="3015343"/>
          <a:ext cx="9987220" cy="3297840"/>
        </p:xfrm>
        <a:graphic>
          <a:graphicData uri="http://schemas.openxmlformats.org/drawingml/2006/table">
            <a:tbl>
              <a:tblPr>
                <a:noFill/>
                <a:tableStyleId>{A2412D91-092D-44FF-A22B-1379C6198B58}</a:tableStyleId>
              </a:tblPr>
              <a:tblGrid>
                <a:gridCol w="1997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7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7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74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956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Gill Sans" panose="020B0604020202020204" charset="0"/>
                        </a:rPr>
                        <a:t>Predicted(sweep)</a:t>
                      </a:r>
                      <a:endParaRPr sz="1600" b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Predicted(drive)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Predicted(pull shot)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Predicted(flick)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568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Actual(sweep)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Gill Sans" panose="020B0604020202020204" charset="0"/>
                        </a:rPr>
                        <a:t>Correctly classified</a:t>
                      </a:r>
                      <a:endParaRPr sz="1600" b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Incorrectly classified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Incorrectly classified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Gill Sans" panose="020B0604020202020204" charset="0"/>
                        </a:rPr>
                        <a:t>Incorrectly classified</a:t>
                      </a:r>
                      <a:endParaRPr sz="1600" b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568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Actual(drive)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Gill Sans" panose="020B0604020202020204" charset="0"/>
                        </a:rPr>
                        <a:t>Incorrectly classified</a:t>
                      </a:r>
                      <a:endParaRPr sz="1600" b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Gill Sans" panose="020B0604020202020204" charset="0"/>
                        </a:rPr>
                        <a:t>Correctly classified</a:t>
                      </a:r>
                      <a:endParaRPr sz="1600" b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Incorrectly classified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Gill Sans" panose="020B0604020202020204" charset="0"/>
                        </a:rPr>
                        <a:t>Incorrectly classified</a:t>
                      </a:r>
                      <a:endParaRPr sz="1600" b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568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Actual(pull shot)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Gill Sans" panose="020B0604020202020204" charset="0"/>
                        </a:rPr>
                        <a:t>Incorrectly classified</a:t>
                      </a:r>
                      <a:endParaRPr sz="1600" b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Gill Sans" panose="020B0604020202020204" charset="0"/>
                        </a:rPr>
                        <a:t>Incorrectly classified</a:t>
                      </a:r>
                      <a:endParaRPr sz="1600" b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Gill Sans" panose="020B0604020202020204" charset="0"/>
                        </a:rPr>
                        <a:t>Correctly classified</a:t>
                      </a:r>
                      <a:endParaRPr sz="1600" b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Gill Sans" panose="020B0604020202020204" charset="0"/>
                        </a:rPr>
                        <a:t>Incorrectly classified</a:t>
                      </a:r>
                      <a:endParaRPr sz="1600" b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568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Actual(flick)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Incorrectly classified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Gill Sans" panose="020B0604020202020204" charset="0"/>
                        </a:rPr>
                        <a:t>Incorrectly classified</a:t>
                      </a:r>
                      <a:endParaRPr sz="1600" b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Incorrectly classified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latin typeface="Gill Sans" panose="020B0604020202020204" charset="0"/>
                        </a:rPr>
                        <a:t>Correctly classified</a:t>
                      </a:r>
                      <a:endParaRPr sz="1600" b="0" dirty="0">
                        <a:latin typeface="Gill Sans" panose="020B0604020202020204" charset="0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377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e4c91af68a_1_49"/>
          <p:cNvSpPr txBox="1">
            <a:spLocks noGrp="1"/>
          </p:cNvSpPr>
          <p:nvPr>
            <p:ph type="title"/>
          </p:nvPr>
        </p:nvSpPr>
        <p:spPr>
          <a:xfrm>
            <a:off x="261250" y="222249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800" dirty="0">
                <a:solidFill>
                  <a:srgbClr val="002060"/>
                </a:solidFill>
                <a:latin typeface="Gill Sans" panose="020B0604020202020204" charset="0"/>
              </a:rPr>
              <a:t>   Confusion Matrix for Inception v3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pic>
        <p:nvPicPr>
          <p:cNvPr id="356" name="Google Shape;356;g1e4c91af68a_1_49"/>
          <p:cNvPicPr preferRelativeResize="0"/>
          <p:nvPr/>
        </p:nvPicPr>
        <p:blipFill rotWithShape="1">
          <a:blip r:embed="rId3">
            <a:alphaModFix/>
          </a:blip>
          <a:srcRect t="5354"/>
          <a:stretch/>
        </p:blipFill>
        <p:spPr>
          <a:xfrm>
            <a:off x="1469571" y="1404256"/>
            <a:ext cx="7881257" cy="507274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F4E587-5D93-63AC-C5C8-4C9D72489ABB}"/>
              </a:ext>
            </a:extLst>
          </p:cNvPr>
          <p:cNvSpPr txBox="1"/>
          <p:nvPr/>
        </p:nvSpPr>
        <p:spPr>
          <a:xfrm>
            <a:off x="9710058" y="3156857"/>
            <a:ext cx="1981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Gill Sans" panose="020B0604020202020204" charset="0"/>
              </a:rPr>
              <a:t>On test set of 946 images</a:t>
            </a:r>
            <a:endParaRPr lang="en-US" sz="2200" dirty="0"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617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e4c91af68a_1_63"/>
          <p:cNvSpPr txBox="1">
            <a:spLocks noGrp="1"/>
          </p:cNvSpPr>
          <p:nvPr>
            <p:ph type="title"/>
          </p:nvPr>
        </p:nvSpPr>
        <p:spPr>
          <a:xfrm>
            <a:off x="261250" y="90979"/>
            <a:ext cx="10515600" cy="9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800" dirty="0">
                <a:solidFill>
                  <a:srgbClr val="002060"/>
                </a:solidFill>
                <a:latin typeface="Gill Sans" panose="020B0604020202020204" charset="0"/>
              </a:rPr>
              <a:t>         Images Correctly Classified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63" name="Google Shape;363;g1e4c91af68a_1_63"/>
          <p:cNvSpPr txBox="1">
            <a:spLocks noGrp="1"/>
          </p:cNvSpPr>
          <p:nvPr>
            <p:ph type="body" idx="1"/>
          </p:nvPr>
        </p:nvSpPr>
        <p:spPr>
          <a:xfrm>
            <a:off x="838200" y="1586367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4" name="Google Shape;364;g1e4c91af68a_1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929500"/>
            <a:ext cx="11242950" cy="54505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9466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313336749c_0_0"/>
          <p:cNvSpPr txBox="1">
            <a:spLocks noGrp="1"/>
          </p:cNvSpPr>
          <p:nvPr>
            <p:ph type="title"/>
          </p:nvPr>
        </p:nvSpPr>
        <p:spPr>
          <a:xfrm>
            <a:off x="261250" y="90977"/>
            <a:ext cx="10515600" cy="11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800" dirty="0">
                <a:solidFill>
                  <a:srgbClr val="002060"/>
                </a:solidFill>
                <a:latin typeface="Gill Sans" panose="020B0604020202020204" charset="0"/>
              </a:rPr>
              <a:t>      Images Incorrectly Classified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71" name="Google Shape;371;g2313336749c_0_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2" name="Google Shape;372;g2313336749c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050" y="1239075"/>
            <a:ext cx="11168251" cy="5043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546411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e4c91af68a_1_49"/>
          <p:cNvSpPr txBox="1">
            <a:spLocks noGrp="1"/>
          </p:cNvSpPr>
          <p:nvPr>
            <p:ph type="title"/>
          </p:nvPr>
        </p:nvSpPr>
        <p:spPr>
          <a:xfrm>
            <a:off x="261250" y="222249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800" dirty="0">
                <a:solidFill>
                  <a:srgbClr val="002060"/>
                </a:solidFill>
                <a:latin typeface="Gill Sans" panose="020B0604020202020204" charset="0"/>
              </a:rPr>
              <a:t>   Confusion Matrix for </a:t>
            </a:r>
            <a:r>
              <a:rPr lang="en-US" sz="4800" dirty="0" err="1">
                <a:solidFill>
                  <a:srgbClr val="002060"/>
                </a:solidFill>
                <a:latin typeface="Gill Sans" panose="020B0604020202020204" charset="0"/>
              </a:rPr>
              <a:t>Xception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F4E587-5D93-63AC-C5C8-4C9D72489ABB}"/>
              </a:ext>
            </a:extLst>
          </p:cNvPr>
          <p:cNvSpPr txBox="1"/>
          <p:nvPr/>
        </p:nvSpPr>
        <p:spPr>
          <a:xfrm>
            <a:off x="9710058" y="3156857"/>
            <a:ext cx="1981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Gill Sans" panose="020B0604020202020204" charset="0"/>
              </a:rPr>
              <a:t>On test set of 946 images</a:t>
            </a:r>
            <a:endParaRPr lang="en-US" sz="2200" dirty="0">
              <a:latin typeface="Gill Sans" panose="020B0604020202020204" charset="0"/>
            </a:endParaRPr>
          </a:p>
        </p:txBody>
      </p:sp>
      <p:pic>
        <p:nvPicPr>
          <p:cNvPr id="3" name="Google Shape;386;g23135507d24_0_53">
            <a:extLst>
              <a:ext uri="{FF2B5EF4-FFF2-40B4-BE49-F238E27FC236}">
                <a16:creationId xmlns:a16="http://schemas.microsoft.com/office/drawing/2014/main" id="{218EE164-545D-5C90-733D-620CB61039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24"/>
          <a:stretch/>
        </p:blipFill>
        <p:spPr>
          <a:xfrm>
            <a:off x="1476660" y="1600200"/>
            <a:ext cx="7709350" cy="5035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2900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e4c91af68a_1_82"/>
          <p:cNvSpPr txBox="1">
            <a:spLocks noGrp="1"/>
          </p:cNvSpPr>
          <p:nvPr>
            <p:ph type="title"/>
          </p:nvPr>
        </p:nvSpPr>
        <p:spPr>
          <a:xfrm>
            <a:off x="261250" y="90975"/>
            <a:ext cx="10515600" cy="88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rgbClr val="002060"/>
                </a:solidFill>
                <a:latin typeface="Gill Sans" panose="020B0604020202020204" charset="0"/>
              </a:rPr>
              <a:t> Images Correctly Classified</a:t>
            </a:r>
            <a:endParaRPr dirty="0"/>
          </a:p>
        </p:txBody>
      </p:sp>
      <p:sp>
        <p:nvSpPr>
          <p:cNvPr id="393" name="Google Shape;393;g1e4c91af68a_1_82"/>
          <p:cNvSpPr txBox="1">
            <a:spLocks noGrp="1"/>
          </p:cNvSpPr>
          <p:nvPr>
            <p:ph type="body" idx="1"/>
          </p:nvPr>
        </p:nvSpPr>
        <p:spPr>
          <a:xfrm>
            <a:off x="838200" y="1586367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4" name="Google Shape;394;g1e4c91af68a_1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700" y="1065650"/>
            <a:ext cx="11366925" cy="51958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7225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3135507d24_0_4"/>
          <p:cNvSpPr txBox="1">
            <a:spLocks noGrp="1"/>
          </p:cNvSpPr>
          <p:nvPr>
            <p:ph type="title"/>
          </p:nvPr>
        </p:nvSpPr>
        <p:spPr>
          <a:xfrm>
            <a:off x="261250" y="90976"/>
            <a:ext cx="10515600" cy="119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rgbClr val="002060"/>
                </a:solidFill>
                <a:latin typeface="Gill Sans" panose="020B0604020202020204" charset="0"/>
              </a:rPr>
              <a:t> Images Incorrectly Classified</a:t>
            </a:r>
            <a:endParaRPr sz="4300" dirty="0"/>
          </a:p>
        </p:txBody>
      </p:sp>
      <p:sp>
        <p:nvSpPr>
          <p:cNvPr id="401" name="Google Shape;401;g23135507d24_0_4"/>
          <p:cNvSpPr txBox="1">
            <a:spLocks noGrp="1"/>
          </p:cNvSpPr>
          <p:nvPr>
            <p:ph type="body" idx="1"/>
          </p:nvPr>
        </p:nvSpPr>
        <p:spPr>
          <a:xfrm>
            <a:off x="838200" y="1586367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2" name="Google Shape;402;g23135507d24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13" y="1215763"/>
            <a:ext cx="11429976" cy="50924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27870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e4c91af68a_1_37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4400" dirty="0">
                <a:solidFill>
                  <a:srgbClr val="002060"/>
                </a:solidFill>
                <a:latin typeface="Gill Sans" panose="020B0604020202020204" charset="0"/>
              </a:rPr>
              <a:t>Comparison of Accuracy</a:t>
            </a:r>
            <a:endParaRPr sz="44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graphicFrame>
        <p:nvGraphicFramePr>
          <p:cNvPr id="409" name="Google Shape;409;g1e4c91af68a_1_37"/>
          <p:cNvGraphicFramePr/>
          <p:nvPr/>
        </p:nvGraphicFramePr>
        <p:xfrm>
          <a:off x="952500" y="1586425"/>
          <a:ext cx="9598775" cy="3095700"/>
        </p:xfrm>
        <a:graphic>
          <a:graphicData uri="http://schemas.openxmlformats.org/drawingml/2006/table">
            <a:tbl>
              <a:tblPr>
                <a:noFill/>
                <a:tableStyleId>{59E48A7B-9E87-4D62-B251-134843940CCE}</a:tableStyleId>
              </a:tblPr>
              <a:tblGrid>
                <a:gridCol w="492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8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Gill Sans" panose="020B0604020202020204" charset="0"/>
                        </a:rPr>
                        <a:t>Model</a:t>
                      </a:r>
                      <a:endParaRPr sz="2400" b="1">
                        <a:latin typeface="Gill Sans" panose="020B0604020202020204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Gill Sans" panose="020B0604020202020204" charset="0"/>
                        </a:rPr>
                        <a:t>Test Accuracy</a:t>
                      </a:r>
                      <a:endParaRPr sz="2400" b="1" dirty="0">
                        <a:latin typeface="Gill Sans" panose="020B0604020202020204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Gill Sans" panose="020B0604020202020204" charset="0"/>
                        </a:rPr>
                        <a:t>Inception V3</a:t>
                      </a:r>
                      <a:endParaRPr sz="2400">
                        <a:latin typeface="Gill Sans" panose="020B0604020202020204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Gill Sans" panose="020B0604020202020204" charset="0"/>
                        </a:rPr>
                        <a:t>       98.59 %</a:t>
                      </a:r>
                      <a:endParaRPr sz="2400">
                        <a:latin typeface="Gill Sans" panose="020B0604020202020204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Gill Sans" panose="020B0604020202020204" charset="0"/>
                        </a:rPr>
                        <a:t>Xception</a:t>
                      </a:r>
                      <a:endParaRPr sz="2400">
                        <a:latin typeface="Gill Sans" panose="020B0604020202020204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Gill Sans" panose="020B0604020202020204" charset="0"/>
                        </a:rPr>
                        <a:t>        94.79 %</a:t>
                      </a:r>
                      <a:endParaRPr sz="2400" dirty="0">
                        <a:latin typeface="Gill Sans" panose="020B0604020202020204" charset="0"/>
                      </a:endParaRPr>
                    </a:p>
                  </a:txBody>
                  <a:tcPr marL="91425" marR="91425" marT="91425" marB="91425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806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ctrTitle"/>
          </p:nvPr>
        </p:nvSpPr>
        <p:spPr>
          <a:xfrm>
            <a:off x="2304999" y="2827179"/>
            <a:ext cx="8024949" cy="89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chemeClr val="dk1"/>
              </a:buClr>
              <a:buSzPts val="1100"/>
              <a:buFont typeface="Arial"/>
            </a:pPr>
            <a:r>
              <a:rPr lang="en-US" sz="4400" dirty="0">
                <a:solidFill>
                  <a:srgbClr val="002060"/>
                </a:solidFill>
                <a:latin typeface="Gill Sans" panose="020B0604020202020204" charset="0"/>
              </a:rPr>
              <a:t>Model Deployment</a:t>
            </a:r>
            <a:endParaRPr sz="44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3135507d24_0_18"/>
          <p:cNvSpPr txBox="1">
            <a:spLocks noGrp="1"/>
          </p:cNvSpPr>
          <p:nvPr>
            <p:ph type="title"/>
          </p:nvPr>
        </p:nvSpPr>
        <p:spPr>
          <a:xfrm>
            <a:off x="729336" y="0"/>
            <a:ext cx="10515600" cy="11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4400" dirty="0">
                <a:solidFill>
                  <a:srgbClr val="002060"/>
                </a:solidFill>
                <a:latin typeface="Gill Sans" panose="020B0604020202020204" charset="0"/>
              </a:rPr>
              <a:t>Model Deployment</a:t>
            </a:r>
            <a:endParaRPr sz="44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pic>
        <p:nvPicPr>
          <p:cNvPr id="424" name="Google Shape;424;g23135507d24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571" y="2569028"/>
            <a:ext cx="8211492" cy="385091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88;g27431128cdc_0_643">
            <a:extLst>
              <a:ext uri="{FF2B5EF4-FFF2-40B4-BE49-F238E27FC236}">
                <a16:creationId xmlns:a16="http://schemas.microsoft.com/office/drawing/2014/main" id="{9796D61D-0CFA-0738-2856-1E1F5260DC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187326"/>
            <a:ext cx="10515600" cy="550617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lnSpc>
                <a:spcPct val="11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Simple UI is created to deploy the model</a:t>
            </a:r>
          </a:p>
          <a:p>
            <a:pPr indent="-457200">
              <a:lnSpc>
                <a:spcPct val="11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Images of cricket shots can be uploaded to generate predictions</a:t>
            </a:r>
            <a:endParaRPr lang="en-US" sz="26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8644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3135507d24_0_24"/>
          <p:cNvSpPr txBox="1">
            <a:spLocks noGrp="1"/>
          </p:cNvSpPr>
          <p:nvPr>
            <p:ph type="title"/>
          </p:nvPr>
        </p:nvSpPr>
        <p:spPr>
          <a:xfrm>
            <a:off x="240475" y="212152"/>
            <a:ext cx="10515600" cy="11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4400" dirty="0">
                <a:solidFill>
                  <a:srgbClr val="002060"/>
                </a:solidFill>
                <a:latin typeface="Gill Sans" panose="020B0604020202020204" charset="0"/>
              </a:rPr>
              <a:t>Sample Prediction</a:t>
            </a:r>
            <a:endParaRPr sz="44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pic>
        <p:nvPicPr>
          <p:cNvPr id="431" name="Google Shape;431;g23135507d24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725" y="1172302"/>
            <a:ext cx="11153901" cy="52022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86945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5faac2453a_0_3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4400" dirty="0">
                <a:solidFill>
                  <a:srgbClr val="002060"/>
                </a:solidFill>
                <a:latin typeface="Gill Sans" panose="020B0604020202020204" charset="0"/>
              </a:rPr>
              <a:t>Sample Prediction</a:t>
            </a:r>
            <a:endParaRPr sz="44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pic>
        <p:nvPicPr>
          <p:cNvPr id="438" name="Google Shape;438;g25faac2453a_0_3"/>
          <p:cNvPicPr preferRelativeResize="0"/>
          <p:nvPr/>
        </p:nvPicPr>
        <p:blipFill rotWithShape="1">
          <a:blip r:embed="rId3">
            <a:alphaModFix/>
          </a:blip>
          <a:srcRect r="24711"/>
          <a:stretch/>
        </p:blipFill>
        <p:spPr>
          <a:xfrm>
            <a:off x="4049486" y="1272650"/>
            <a:ext cx="7685314" cy="53355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88;g27431128cdc_0_643">
            <a:extLst>
              <a:ext uri="{FF2B5EF4-FFF2-40B4-BE49-F238E27FC236}">
                <a16:creationId xmlns:a16="http://schemas.microsoft.com/office/drawing/2014/main" id="{DACE70A8-0F00-5483-637C-9EE71728A7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199" y="1187326"/>
            <a:ext cx="3287487" cy="550617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lnSpc>
                <a:spcPct val="110000"/>
              </a:lnSpc>
              <a:spcBef>
                <a:spcPts val="0"/>
              </a:spcBef>
              <a:buSzPts val="224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Images not containing cricket shots are flagged </a:t>
            </a:r>
            <a:endParaRPr lang="en-US" sz="26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4135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a7509579c8_0_158"/>
          <p:cNvSpPr txBox="1">
            <a:spLocks noGrp="1"/>
          </p:cNvSpPr>
          <p:nvPr>
            <p:ph type="title"/>
          </p:nvPr>
        </p:nvSpPr>
        <p:spPr>
          <a:xfrm>
            <a:off x="301611" y="177165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392938" y="2011362"/>
            <a:ext cx="55388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Google Shape;128;p4">
            <a:extLst>
              <a:ext uri="{FF2B5EF4-FFF2-40B4-BE49-F238E27FC236}">
                <a16:creationId xmlns:a16="http://schemas.microsoft.com/office/drawing/2014/main" id="{F7297FCA-73EE-4884-83FD-766905B7A3F8}"/>
              </a:ext>
            </a:extLst>
          </p:cNvPr>
          <p:cNvSpPr txBox="1">
            <a:spLocks/>
          </p:cNvSpPr>
          <p:nvPr/>
        </p:nvSpPr>
        <p:spPr>
          <a:xfrm>
            <a:off x="558800" y="1352550"/>
            <a:ext cx="10926553" cy="4621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891A7"/>
              </a:buClr>
              <a:buSzPts val="1400"/>
              <a:buFont typeface="Verdana"/>
              <a:buChar char="○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■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○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Predicting type</a:t>
            </a:r>
            <a:r>
              <a:rPr kumimoji="0" lang="en-IN" sz="2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 of cricket based on Image of a batman playing a cricket shot can be formulated as an Image Classification problem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Data</a:t>
            </a:r>
            <a:r>
              <a:rPr kumimoji="0" lang="en-IN" sz="2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 collection involves collecting images of different types of cricket shots played by different batsmen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r>
              <a:rPr lang="en-IN" sz="2600" baseline="0" dirty="0">
                <a:solidFill>
                  <a:srgbClr val="000000"/>
                </a:solidFill>
              </a:rPr>
              <a:t>Data</a:t>
            </a:r>
            <a:r>
              <a:rPr lang="en-IN" sz="2600" dirty="0">
                <a:solidFill>
                  <a:srgbClr val="000000"/>
                </a:solidFill>
              </a:rPr>
              <a:t> augmentation is to be performed since the number of images available for building classifier are limited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Classifiers which use CNNs are most effective for this use case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r>
              <a:rPr lang="en-IN" sz="2600" dirty="0">
                <a:solidFill>
                  <a:srgbClr val="000000"/>
                </a:solidFill>
              </a:rPr>
              <a:t>Transfer learning is preferred because learning a CNN based classifier from scratch requires lot of computation power and training data</a:t>
            </a:r>
            <a:endParaRPr kumimoji="0" lang="en-IN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"/>
              <a:sym typeface="Gill San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r>
              <a:rPr lang="en-IN" sz="2600" dirty="0">
                <a:solidFill>
                  <a:srgbClr val="000000"/>
                </a:solidFill>
              </a:rPr>
              <a:t>Accuracy is a suitable metric for evaluating the performance of a classifier</a:t>
            </a:r>
            <a:endParaRPr kumimoji="0" lang="en-IN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17425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9"/>
          <p:cNvSpPr txBox="1">
            <a:spLocks noGrp="1"/>
          </p:cNvSpPr>
          <p:nvPr>
            <p:ph type="title"/>
          </p:nvPr>
        </p:nvSpPr>
        <p:spPr>
          <a:xfrm>
            <a:off x="197933" y="558993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866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3866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6D4A87-6180-9A7C-F283-D9B3E453DF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FFAB40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1463</TotalTime>
  <Words>1275</Words>
  <Application>Microsoft Office PowerPoint</Application>
  <PresentationFormat>Widescreen</PresentationFormat>
  <Paragraphs>282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9" baseType="lpstr">
      <vt:lpstr>Calibri</vt:lpstr>
      <vt:lpstr>Verdana</vt:lpstr>
      <vt:lpstr>Arial</vt:lpstr>
      <vt:lpstr>Avenir</vt:lpstr>
      <vt:lpstr>Cambria Math</vt:lpstr>
      <vt:lpstr>Noto Sans</vt:lpstr>
      <vt:lpstr>Wingdings</vt:lpstr>
      <vt:lpstr>Cabin</vt:lpstr>
      <vt:lpstr>Courier New</vt:lpstr>
      <vt:lpstr>Noto Sans Symbols</vt:lpstr>
      <vt:lpstr>Montserrat</vt:lpstr>
      <vt:lpstr>Gill Sans</vt:lpstr>
      <vt:lpstr>Simple Light</vt:lpstr>
      <vt:lpstr>Office Theme</vt:lpstr>
      <vt:lpstr>PowerPoint Presentation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Training a CNN</vt:lpstr>
      <vt:lpstr>Training a CNN</vt:lpstr>
      <vt:lpstr>Transfer Learning</vt:lpstr>
      <vt:lpstr>PowerPoint Presentation</vt:lpstr>
      <vt:lpstr>Approach Used to Building Classifier</vt:lpstr>
      <vt:lpstr>PowerPoint Presentation</vt:lpstr>
      <vt:lpstr>      Confusion matrix</vt:lpstr>
      <vt:lpstr>   Confusion Matrix for Inception v3</vt:lpstr>
      <vt:lpstr>         Images Correctly Classified</vt:lpstr>
      <vt:lpstr>      Images Incorrectly Classified</vt:lpstr>
      <vt:lpstr>   Confusion Matrix for Xception</vt:lpstr>
      <vt:lpstr> Images Correctly Classified</vt:lpstr>
      <vt:lpstr> Images Incorrectly Classified</vt:lpstr>
      <vt:lpstr>Comparison of Accuracy</vt:lpstr>
      <vt:lpstr>Model Deployment</vt:lpstr>
      <vt:lpstr>Model Deployment</vt:lpstr>
      <vt:lpstr>Sample Prediction</vt:lpstr>
      <vt:lpstr>Sample Prediction</vt:lpstr>
      <vt:lpstr>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Shweta Sridhar</dc:creator>
  <cp:lastModifiedBy>Satya J</cp:lastModifiedBy>
  <cp:revision>14</cp:revision>
  <dcterms:created xsi:type="dcterms:W3CDTF">2019-05-02T04:32:46Z</dcterms:created>
  <dcterms:modified xsi:type="dcterms:W3CDTF">2024-02-10T07:33:22Z</dcterms:modified>
</cp:coreProperties>
</file>