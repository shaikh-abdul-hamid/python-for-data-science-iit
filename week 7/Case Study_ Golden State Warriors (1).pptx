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  <p:sldMasterId id="2147483685" r:id="rId6"/>
    <p:sldMasterId id="214748368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y="5143500" cx="9144000"/>
  <p:notesSz cx="6858000" cy="9144000"/>
  <p:embeddedFontLst>
    <p:embeddedFont>
      <p:font typeface="Cabin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Gill San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97EAE2-669E-4E98-B361-180DBFAB3A12}">
  <a:tblStyle styleId="{7997EAE2-669E-4E98-B361-180DBFAB3A1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fill>
          <a:solidFill>
            <a:srgbClr val="FFE2CD"/>
          </a:solidFill>
        </a:fill>
      </a:tcStyle>
    </a:band1H>
    <a:band2H>
      <a:tcTxStyle/>
    </a:band2H>
    <a:band1V>
      <a:tcTxStyle/>
      <a:tcStyle>
        <a:fill>
          <a:solidFill>
            <a:srgbClr val="FFE2C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C004C11-6995-4E5B-B678-89A80F0C310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GillSans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5" Type="http://schemas.openxmlformats.org/officeDocument/2006/relationships/font" Target="fonts/Gill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font" Target="fonts/Cabin-bold.fntdata"/><Relationship Id="rId16" Type="http://schemas.openxmlformats.org/officeDocument/2006/relationships/font" Target="fonts/Cabin-regular.fntdata"/><Relationship Id="rId19" Type="http://schemas.openxmlformats.org/officeDocument/2006/relationships/font" Target="fonts/Cabin-boldItalic.fntdata"/><Relationship Id="rId18" Type="http://schemas.openxmlformats.org/officeDocument/2006/relationships/font" Target="fonts/Cab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631696e3a_5_51:notes"/>
          <p:cNvSpPr/>
          <p:nvPr>
            <p:ph idx="2" type="sldImg"/>
          </p:nvPr>
        </p:nvSpPr>
        <p:spPr>
          <a:xfrm>
            <a:off x="452438" y="1218595"/>
            <a:ext cx="5755184" cy="32899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3631696e3a_5_51:notes"/>
          <p:cNvSpPr txBox="1"/>
          <p:nvPr>
            <p:ph idx="1" type="body"/>
          </p:nvPr>
        </p:nvSpPr>
        <p:spPr>
          <a:xfrm>
            <a:off x="666007" y="4690865"/>
            <a:ext cx="5328047" cy="3837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3631696e3a_5_51:notes"/>
          <p:cNvSpPr txBox="1"/>
          <p:nvPr>
            <p:ph idx="12" type="sldNum"/>
          </p:nvPr>
        </p:nvSpPr>
        <p:spPr>
          <a:xfrm>
            <a:off x="3772493" y="9258196"/>
            <a:ext cx="2886025" cy="489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631696e3a_5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3631696e3a_5_106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631696e3a_5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3631696e3a_5_111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631696e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3631696e3a_0_28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631696e3a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3631696e3a_5_118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631696e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3631696e3a_0_4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631696e3a_5_123:notes"/>
          <p:cNvSpPr txBox="1"/>
          <p:nvPr>
            <p:ph idx="1" type="body"/>
          </p:nvPr>
        </p:nvSpPr>
        <p:spPr>
          <a:xfrm>
            <a:off x="666007" y="4690865"/>
            <a:ext cx="5328047" cy="3837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/>
          </a:p>
        </p:txBody>
      </p:sp>
      <p:sp>
        <p:nvSpPr>
          <p:cNvPr id="201" name="Google Shape;201;g33631696e3a_5_123:notes"/>
          <p:cNvSpPr/>
          <p:nvPr>
            <p:ph idx="2" type="sldImg"/>
          </p:nvPr>
        </p:nvSpPr>
        <p:spPr>
          <a:xfrm>
            <a:off x="452438" y="1218595"/>
            <a:ext cx="5755184" cy="32899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00"/>
            </a:lvl9pPr>
          </a:lstStyle>
          <a:p/>
        </p:txBody>
      </p:sp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/>
        </p:txBody>
      </p:sp>
      <p:sp>
        <p:nvSpPr>
          <p:cNvPr id="80" name="Google Shape;80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idx="1" type="subTitle"/>
          </p:nvPr>
        </p:nvSpPr>
        <p:spPr>
          <a:xfrm>
            <a:off x="1432560" y="1387548"/>
            <a:ext cx="7406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2000" u="none" cap="none" strike="noStrike">
                <a:solidFill>
                  <a:srgbClr val="2A310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None/>
              <a:defRPr b="0" i="0" sz="2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32D2E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4AA33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5638800" y="4800749"/>
            <a:ext cx="2895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9982200" y="4729163"/>
            <a:ext cx="457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4"/>
          <p:cNvSpPr txBox="1"/>
          <p:nvPr>
            <p:ph type="title"/>
          </p:nvPr>
        </p:nvSpPr>
        <p:spPr>
          <a:xfrm>
            <a:off x="1435100" y="628650"/>
            <a:ext cx="7499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0" y="228600"/>
            <a:ext cx="74676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3200" u="none" cap="none" strike="noStrik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685800" y="800100"/>
            <a:ext cx="81534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◦"/>
              <a:defRPr b="0" i="0" sz="2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32D2E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4AA33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5638800" y="4800749"/>
            <a:ext cx="2895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100" name="Google Shape;100;p25"/>
          <p:cNvSpPr/>
          <p:nvPr/>
        </p:nvSpPr>
        <p:spPr>
          <a:xfrm>
            <a:off x="0" y="228600"/>
            <a:ext cx="9144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628650" y="1189775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16428" y="1735490"/>
            <a:ext cx="6643356" cy="1259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8"/>
          <p:cNvSpPr txBox="1"/>
          <p:nvPr>
            <p:ph type="ctrTitle"/>
          </p:nvPr>
        </p:nvSpPr>
        <p:spPr>
          <a:xfrm>
            <a:off x="1728749" y="2028944"/>
            <a:ext cx="6018712" cy="6730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Gill Sans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500"/>
              <a:buFont typeface="Gill Sans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2" name="Google Shape;122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4" name="Google Shape;124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31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⚫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34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 rot="5400000">
            <a:off x="2507543" y="-123938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Char char="⚫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 txBox="1"/>
          <p:nvPr>
            <p:ph type="title"/>
          </p:nvPr>
        </p:nvSpPr>
        <p:spPr>
          <a:xfrm>
            <a:off x="226208" y="10239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1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3775" y="4729163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39"/>
          <p:cNvSpPr txBox="1"/>
          <p:nvPr>
            <p:ph idx="11" type="ftr"/>
          </p:nvPr>
        </p:nvSpPr>
        <p:spPr>
          <a:xfrm>
            <a:off x="5638800" y="4912667"/>
            <a:ext cx="2895600" cy="2452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  <a:defRPr b="0" i="0" sz="3300" u="none" cap="none" strike="noStrik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195945" y="1072210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891A7"/>
              </a:buClr>
              <a:buSzPts val="170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891A7"/>
              </a:buClr>
              <a:buSzPts val="2100"/>
              <a:buFont typeface="Verdana"/>
              <a:buChar char="◦"/>
              <a:def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4" name="Google Shape;10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40850" y="-1"/>
            <a:ext cx="1237228" cy="775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6"/>
          <p:cNvSpPr txBox="1"/>
          <p:nvPr/>
        </p:nvSpPr>
        <p:spPr>
          <a:xfrm>
            <a:off x="953598" y="4729011"/>
            <a:ext cx="1836204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US Health Insurance</a:t>
            </a:r>
            <a:endParaRPr sz="1100"/>
          </a:p>
        </p:txBody>
      </p:sp>
      <p:sp>
        <p:nvSpPr>
          <p:cNvPr id="106" name="Google Shape;106;p26"/>
          <p:cNvSpPr txBox="1"/>
          <p:nvPr/>
        </p:nvSpPr>
        <p:spPr>
          <a:xfrm>
            <a:off x="8459464" y="4810274"/>
            <a:ext cx="460466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9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idx="4294967295" type="ctrTitle"/>
          </p:nvPr>
        </p:nvSpPr>
        <p:spPr>
          <a:xfrm>
            <a:off x="0" y="1249950"/>
            <a:ext cx="9144000" cy="2643600"/>
          </a:xfrm>
          <a:prstGeom prst="rect">
            <a:avLst/>
          </a:prstGeom>
          <a:noFill/>
          <a:ln>
            <a:noFill/>
          </a:ln>
          <a:effectLst>
            <a:outerShdw sx="1000" rotWithShape="0" algn="ctr" dir="21540000" dist="2540000" sy="1000">
              <a:srgbClr val="000000"/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4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 	</a:t>
            </a:r>
            <a:r>
              <a:rPr b="1" i="0" lang="en" sz="3400" u="none" cap="none" strike="noStrik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Case Study: </a:t>
            </a:r>
            <a:r>
              <a:rPr b="1" lang="en" sz="34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Golden State Warriors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About Data</a:t>
            </a:r>
            <a:endParaRPr/>
          </a:p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628650" y="1189775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dataset contains </a:t>
            </a:r>
            <a:r>
              <a:rPr lang="en"/>
              <a:t>1,977</a:t>
            </a:r>
            <a:r>
              <a:rPr lang="en"/>
              <a:t> </a:t>
            </a:r>
            <a:r>
              <a:rPr lang="en"/>
              <a:t>game records for the Golden State Warriors (GSW) across multiple seasons. Each row represents one game and includes both performance statistics and contextual information.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</a:pPr>
            <a:r>
              <a:rPr lang="en"/>
              <a:t>Objective: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</a:pPr>
            <a:r>
              <a:rPr lang="en" sz="2000"/>
              <a:t>To explore how game performance metrics influence outcomes for the Golden State Warriors.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42"/>
          <p:cNvGraphicFramePr/>
          <p:nvPr/>
        </p:nvGraphicFramePr>
        <p:xfrm>
          <a:off x="683568" y="1593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{7997EAE2-669E-4E98-B361-180DBFAB3A12}</a:tableStyleId>
              </a:tblPr>
              <a:tblGrid>
                <a:gridCol w="3163525"/>
                <a:gridCol w="4787200"/>
              </a:tblGrid>
              <a:tr h="33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Variables 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Description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35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SEASON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NBA season year (e.g., 1996)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25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GAME_ID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Unique identifier for each game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WL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Game result: W for Win, L for Loss (7 nulls present)</a:t>
                      </a:r>
                      <a:endParaRPr sz="1100"/>
                    </a:p>
                  </a:txBody>
                  <a:tcPr marT="4300" marB="0" marR="4300" marL="4300" anchor="b"/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FG_PCT(3p,2p)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Overall Field Goal Percentage</a:t>
                      </a: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</a:t>
                      </a:r>
                      <a:endParaRPr sz="1100"/>
                    </a:p>
                  </a:txBody>
                  <a:tcPr marT="4300" marB="0" marR="4300" marL="4300" anchor="b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FG2P_PCT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2-point Field Goal Percentage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46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FG3P_PCT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3-point Field Goal Percentage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FREETHROW_PCT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Free Throw Percentage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</a:tbl>
          </a:graphicData>
        </a:graphic>
      </p:graphicFrame>
      <p:sp>
        <p:nvSpPr>
          <p:cNvPr id="167" name="Google Shape;167;p42"/>
          <p:cNvSpPr/>
          <p:nvPr/>
        </p:nvSpPr>
        <p:spPr>
          <a:xfrm>
            <a:off x="5882306" y="965726"/>
            <a:ext cx="22134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File :  insurance.csv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3300125" y="411500"/>
            <a:ext cx="2021700" cy="276900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Description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575556" y="965726"/>
            <a:ext cx="216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Size : </a:t>
            </a:r>
            <a:r>
              <a:rPr b="1" i="1" lang="en"/>
              <a:t>1,977</a:t>
            </a: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17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795300" y="4727275"/>
            <a:ext cx="1501500" cy="1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71" name="Google Shape;171;p4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2" name="Google Shape;172;p42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3" name="Google Shape;173;p42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4" name="Google Shape;174;p42"/>
          <p:cNvGraphicFramePr/>
          <p:nvPr/>
        </p:nvGraphicFramePr>
        <p:xfrm>
          <a:off x="609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43"/>
          <p:cNvGraphicFramePr/>
          <p:nvPr/>
        </p:nvGraphicFramePr>
        <p:xfrm>
          <a:off x="743018" y="972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{7997EAE2-669E-4E98-B361-180DBFAB3A12}</a:tableStyleId>
              </a:tblPr>
              <a:tblGrid>
                <a:gridCol w="3163525"/>
                <a:gridCol w="4787200"/>
              </a:tblGrid>
              <a:tr h="33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Variables 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Description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35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OFF_REBOUNDS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Offensive Rebounds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25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DEF_REBOUNDS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Defensive Rebounds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TOTAL_REBOUNDS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Combined Rebounds</a:t>
                      </a:r>
                      <a:endParaRPr sz="1100"/>
                    </a:p>
                  </a:txBody>
                  <a:tcPr marT="4300" marB="0" marR="4300" marL="4300" anchor="b"/>
                </a:tc>
              </a:tr>
              <a:tr h="41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ASSISTS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	Total assists in the game</a:t>
                      </a:r>
                      <a:endParaRPr sz="1100"/>
                    </a:p>
                  </a:txBody>
                  <a:tcPr marT="4300" marB="0" marR="4300" marL="4300" anchor="b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STEALS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Steals by the team</a:t>
                      </a:r>
                      <a:endParaRPr sz="1100"/>
                    </a:p>
                  </a:txBody>
                  <a:tcPr marT="25725" marB="25725" marR="51425" marL="51425"/>
                </a:tc>
              </a:tr>
              <a:tr h="46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BLOCKS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Blocks by the team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TURNOVERS</a:t>
                      </a:r>
                      <a:endParaRPr sz="1100"/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Turnovers committed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PERSONAL_FOULS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Total personal fouls committed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TOT_POINTS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Total points scored in the game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  <a:tr h="3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HOME_AWAY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300" marB="0" marR="4300" marL="43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Whether the game was played Home or Away</a:t>
                      </a:r>
                      <a:endParaRPr b="1" sz="15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25725" marB="25725" marR="51425" marL="51425"/>
                </a:tc>
              </a:tr>
            </a:tbl>
          </a:graphicData>
        </a:graphic>
      </p:graphicFrame>
      <p:sp>
        <p:nvSpPr>
          <p:cNvPr id="180" name="Google Shape;180;p43"/>
          <p:cNvSpPr/>
          <p:nvPr/>
        </p:nvSpPr>
        <p:spPr>
          <a:xfrm>
            <a:off x="3300125" y="411500"/>
            <a:ext cx="2021700" cy="276900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Description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476256" y="346676"/>
            <a:ext cx="216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Size : </a:t>
            </a:r>
            <a:r>
              <a:rPr b="1" i="1" lang="en"/>
              <a:t>1,977</a:t>
            </a:r>
            <a:r>
              <a:rPr b="1"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17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3"/>
          <p:cNvSpPr/>
          <p:nvPr/>
        </p:nvSpPr>
        <p:spPr>
          <a:xfrm>
            <a:off x="904950" y="4791450"/>
            <a:ext cx="1501500" cy="1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83" name="Google Shape;183;p4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4" name="Google Shape;184;p4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5" name="Google Shape;185;p43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6" name="Google Shape;186;p43"/>
          <p:cNvGraphicFramePr/>
          <p:nvPr/>
        </p:nvGraphicFramePr>
        <p:xfrm>
          <a:off x="609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{6C004C11-6995-4E5B-B678-89A80F0C3105}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4"/>
          <p:cNvSpPr txBox="1"/>
          <p:nvPr>
            <p:ph type="title"/>
          </p:nvPr>
        </p:nvSpPr>
        <p:spPr>
          <a:xfrm>
            <a:off x="195945" y="6824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Proposed Task</a:t>
            </a:r>
            <a:endParaRPr/>
          </a:p>
        </p:txBody>
      </p:sp>
      <p:sp>
        <p:nvSpPr>
          <p:cNvPr id="192" name="Google Shape;192;p44"/>
          <p:cNvSpPr txBox="1"/>
          <p:nvPr>
            <p:ph idx="1" type="body"/>
          </p:nvPr>
        </p:nvSpPr>
        <p:spPr>
          <a:xfrm>
            <a:off x="628650" y="1189775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5131"/>
              <a:t>Data Exploration</a:t>
            </a:r>
            <a:endParaRPr sz="5131"/>
          </a:p>
          <a:p>
            <a:pPr indent="-364331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What is the trend of wins and losses for GSW over the years?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Does GSW play better at home or away?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How does GSW's 3-point shooting differ in wins vs losses?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What is the relationship between turnovers and game outcomes for GSW?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How do rebounds differ between wins and losses?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How have shooting metrics evolved for GSW over time?</a:t>
            </a:r>
            <a:endParaRPr sz="4500"/>
          </a:p>
          <a:p>
            <a:pPr indent="-36433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500"/>
              <a:t>What is the relationship between assists and total points?</a:t>
            </a:r>
            <a:endParaRPr sz="4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5"/>
          <p:cNvSpPr txBox="1"/>
          <p:nvPr>
            <p:ph type="title"/>
          </p:nvPr>
        </p:nvSpPr>
        <p:spPr>
          <a:xfrm>
            <a:off x="195945" y="68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300"/>
              <a:buFont typeface="Gill Sans"/>
              <a:buNone/>
            </a:pPr>
            <a:r>
              <a:rPr lang="en"/>
              <a:t>Proposed Task</a:t>
            </a:r>
            <a:endParaRPr/>
          </a:p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628650" y="11897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050"/>
              <a:t>Bonus Critical Thinking Prompts</a:t>
            </a:r>
            <a:endParaRPr sz="3050"/>
          </a:p>
          <a:p>
            <a: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/>
              <a:t>What three stats best predict a GSW win?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/>
              <a:t>How did GSW's play style evolve over the years?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/>
              <a:t>If you were a coach, which stat would you prioritize improving?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/>
              <a:t>Can we predict win/loss outcomes based on pre-game stats?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6"/>
          <p:cNvSpPr txBox="1"/>
          <p:nvPr>
            <p:ph type="title"/>
          </p:nvPr>
        </p:nvSpPr>
        <p:spPr>
          <a:xfrm>
            <a:off x="148450" y="419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sz="2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